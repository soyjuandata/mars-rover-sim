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con el dato duro: la señal viaja a la velocidad de la luz y aun así tarda minutos. Perseverance conduce solo con AutoNav porque esperar órdenes es físicamente inviable. Conclusión: el cómputo viaja con el vehículo.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Referencia: demo de NVIDIA (Mythbusters). Un robot pinta una carita con un brazo, pincelada por pincelada — eso es una CPU: pocas unidades, ejecución secuencial. Luego 1100 tubos disparan pintura a la vez y la Mona Lisa aparece en un instante — eso es una GPU: la misma instrucción sobre miles de datos. Una imagen de cámara es exactamente eso: millones de píxeles con la misma operación.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Contraste concreto: la CPU de Perseverance (RAD750) corre a 200 MHz — un celular es ~15x más rápido — porque el presupuesto es de vatios, no de gigahercios. Sin ventiladores en el vacío, cada vatio se convierte en calor que hay que radiar. Edge computing = diseñar dentro de ese presupuesto.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Bajar de Marte al laboratorio: nuestro robot será el servidor de telemetría y el laptop el cliente. HTTP para comandos puntuales (petición-respuesta), WebSocket para el flujo continuo de telemetría. Es la misma arquitectura de un centro de control, en versión de red local.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 aeroespacial real: Ingenuity se diseñó como demo tecnológica de 5 vuelos — un MVP — y terminó volando 72. SpaceX itera con prototipos que explotan a propósito. Nosotros: cada sesión entrega algo que funciona, y sobre eso se construye la siguiente.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 el plan: cinco sesiones, cada una entrega un componente funcional que se integra al siguiente. Hoy montamos el enlace de red; al final el robot percibe, decide y actúa solo.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svg"/><Relationship Id="rId10" Type="http://schemas.openxmlformats.org/officeDocument/2006/relationships/image" Target="../media/image-4-10.png"/><Relationship Id="rId11" Type="http://schemas.openxmlformats.org/officeDocument/2006/relationships/image" Target="../media/image-4-11.svg"/><Relationship Id="rId12" Type="http://schemas.openxmlformats.org/officeDocument/2006/relationships/image" Target="../media/image-4-12.png"/><Relationship Id="rId13" Type="http://schemas.openxmlformats.org/officeDocument/2006/relationships/image" Target="../media/image-4-13.sv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image" Target="../media/image-5-13.png"/><Relationship Id="rId14" Type="http://schemas.openxmlformats.org/officeDocument/2006/relationships/image" Target="../media/image-5-14.svg"/><Relationship Id="rId15" Type="http://schemas.openxmlformats.org/officeDocument/2006/relationships/image" Target="../media/image-5-15.png"/><Relationship Id="rId16" Type="http://schemas.openxmlformats.org/officeDocument/2006/relationships/image" Target="../media/image-5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4BF63">
                  <a:alpha val="15000"/>
                </a:srgbClr>
              </a:gs>
              <a:gs pos="65000">
                <a:srgbClr val="04BF63">
                  <a:alpha val="0"/>
                </a:srgbClr>
              </a:gs>
            </a:gsLst>
            <a:path path="circle">
              <a:fillToRect l="75000" t="25000" r="25000" b="75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047750" y="85725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04B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 1 · Robótica e IA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314450"/>
            <a:ext cx="11772900" cy="13958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371"/>
              </a:lnSpc>
              <a:buNone/>
            </a:pPr>
            <a:r>
              <a:rPr lang="en-US" sz="4950" b="1" spc="-148" kern="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un rover en Marte no puede esperar órdenes</a:t>
            </a:r>
            <a:endParaRPr lang="en-US" sz="4950" dirty="0"/>
          </a:p>
        </p:txBody>
      </p:sp>
      <p:sp>
        <p:nvSpPr>
          <p:cNvPr id="5" name="Text 3"/>
          <p:cNvSpPr/>
          <p:nvPr/>
        </p:nvSpPr>
        <p:spPr>
          <a:xfrm>
            <a:off x="1047750" y="2900760"/>
            <a:ext cx="12263438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ideas clave: la </a:t>
            </a:r>
            <a:pPr algn="l" indent="0" marL="0">
              <a:lnSpc>
                <a:spcPct val="126875"/>
              </a:lnSpc>
              <a:buNone/>
            </a:pPr>
            <a:r>
              <a:rPr lang="en-US" sz="210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latencia </a:t>
            </a:r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cuánto tarda un mensaje en llegar, y el </a:t>
            </a:r>
            <a:pPr algn="l" indent="0" marL="0">
              <a:lnSpc>
                <a:spcPct val="126875"/>
              </a:lnSpc>
              <a:buNone/>
            </a:pPr>
            <a:r>
              <a:rPr lang="en-US" sz="210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 de banda </a:t>
            </a:r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cuántos datos caben por segundo. En Marte, ambas juegan en contra.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047750" y="4169371"/>
            <a:ext cx="5219700" cy="2596654"/>
          </a:xfrm>
          <a:prstGeom prst="roundRect">
            <a:avLst>
              <a:gd name="adj" fmla="val 5869"/>
            </a:avLst>
          </a:prstGeom>
          <a:solidFill>
            <a:srgbClr val="0A0A0A">
              <a:alpha val="75000"/>
            </a:srgbClr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73200" y="4556720"/>
            <a:ext cx="480568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1250"/>
              </a:lnSpc>
              <a:buNone/>
            </a:pPr>
            <a:r>
              <a:rPr lang="en-US" sz="5700" b="1" spc="-171" kern="0" dirty="0">
                <a:solidFill>
                  <a:srgbClr val="04B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4–24 min</a:t>
            </a:r>
            <a:endParaRPr lang="en-US" sz="5700" dirty="0"/>
          </a:p>
        </p:txBody>
      </p:sp>
      <p:sp>
        <p:nvSpPr>
          <p:cNvPr id="8" name="Text 6"/>
          <p:cNvSpPr/>
          <p:nvPr/>
        </p:nvSpPr>
        <p:spPr>
          <a:xfrm>
            <a:off x="1473200" y="5375871"/>
            <a:ext cx="4499864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659"/>
              </a:lnSpc>
              <a:buNone/>
            </a:pPr>
            <a:r>
              <a:rPr lang="en-US" sz="19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tarda la señal de radio Tierra → Marte, a la velocidad de la luz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6534150" y="4169371"/>
            <a:ext cx="5219700" cy="2596654"/>
          </a:xfrm>
          <a:prstGeom prst="roundRect">
            <a:avLst>
              <a:gd name="adj" fmla="val 5869"/>
            </a:avLst>
          </a:prstGeom>
          <a:solidFill>
            <a:srgbClr val="0A0A0A">
              <a:alpha val="75000"/>
            </a:srgbClr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59600" y="4556720"/>
            <a:ext cx="480568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1250"/>
              </a:lnSpc>
              <a:buNone/>
            </a:pPr>
            <a:r>
              <a:rPr lang="en-US" sz="5700" b="1" spc="-171" kern="0" dirty="0">
                <a:solidFill>
                  <a:srgbClr val="04B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 Mbps</a:t>
            </a:r>
            <a:endParaRPr lang="en-US" sz="5700" dirty="0"/>
          </a:p>
        </p:txBody>
      </p:sp>
      <p:sp>
        <p:nvSpPr>
          <p:cNvPr id="11" name="Text 9"/>
          <p:cNvSpPr/>
          <p:nvPr/>
        </p:nvSpPr>
        <p:spPr>
          <a:xfrm>
            <a:off x="6959600" y="5375871"/>
            <a:ext cx="4499864" cy="1040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659"/>
              </a:lnSpc>
              <a:buNone/>
            </a:pPr>
            <a:r>
              <a:rPr lang="en-US" sz="19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ancho de banda en el mejor momento: bastante menos que el wifi de tu casa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2020550" y="4169371"/>
            <a:ext cx="5219700" cy="2596654"/>
          </a:xfrm>
          <a:prstGeom prst="roundRect">
            <a:avLst>
              <a:gd name="adj" fmla="val 5869"/>
            </a:avLst>
          </a:prstGeom>
          <a:solidFill>
            <a:srgbClr val="0A0A0A">
              <a:alpha val="75000"/>
            </a:srgbClr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446001" y="4556720"/>
            <a:ext cx="480568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1250"/>
              </a:lnSpc>
              <a:buNone/>
            </a:pPr>
            <a:r>
              <a:rPr lang="en-US" sz="5700" b="1" spc="-171" kern="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5700" dirty="0"/>
          </a:p>
        </p:txBody>
      </p:sp>
      <p:sp>
        <p:nvSpPr>
          <p:cNvPr id="14" name="Text 12"/>
          <p:cNvSpPr/>
          <p:nvPr/>
        </p:nvSpPr>
        <p:spPr>
          <a:xfrm>
            <a:off x="12446001" y="5375871"/>
            <a:ext cx="4499864" cy="1040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659"/>
              </a:lnSpc>
              <a:buNone/>
            </a:pPr>
            <a:r>
              <a:rPr lang="en-US" sz="19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controles remotos: el rover analiza el terreno y elige su ruta él solo, a bordo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047750" y="8903395"/>
            <a:ext cx="1619250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7750" y="9274473"/>
            <a:ext cx="304800" cy="3048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543050" y="9233595"/>
            <a:ext cx="16519635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2175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pensar: si la señal ya viaja a la máxima velocidad posible, ¿qué nos queda por mejorar como ingenieros?</a:t>
            </a:r>
            <a:endParaRPr lang="en-US" sz="21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5334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04B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de hardware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933450"/>
            <a:ext cx="17811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953"/>
              </a:lnSpc>
              <a:buNone/>
            </a:pPr>
            <a:r>
              <a:rPr lang="en-US" sz="4500" b="1" spc="-135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vs GPU: el experimento de la Mona Lisa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47750" y="1695450"/>
            <a:ext cx="13244513" cy="11306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38"/>
              </a:lnSpc>
              <a:buNone/>
            </a:pPr>
            <a:r>
              <a:rPr lang="en-US" sz="202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</a:t>
            </a:r>
            <a:pPr algn="l" indent="0" marL="0">
              <a:lnSpc>
                <a:spcPct val="120638"/>
              </a:lnSpc>
              <a:buNone/>
            </a:pPr>
            <a:r>
              <a:rPr lang="en-US" sz="2025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</a:t>
            </a:r>
            <a:pPr algn="l" indent="0" marL="0">
              <a:lnSpc>
                <a:spcPct val="120638"/>
              </a:lnSpc>
              <a:buNone/>
            </a:pPr>
            <a:r>
              <a:rPr lang="en-US" sz="202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la parte física: los chips donde terminan ejecutándose todas tus instrucciones. Cuando le envías la señal "muévete" al rover, un chip la recibe y la convierte en acción. Un </a:t>
            </a:r>
            <a:pPr algn="l" indent="0" marL="0">
              <a:lnSpc>
                <a:spcPct val="120638"/>
              </a:lnSpc>
              <a:buNone/>
            </a:pPr>
            <a:r>
              <a:rPr lang="en-US" sz="2025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núcleo </a:t>
            </a:r>
            <a:pPr algn="l" indent="0" marL="0">
              <a:lnSpc>
                <a:spcPct val="120638"/>
              </a:lnSpc>
              <a:buNone/>
            </a:pPr>
            <a:r>
              <a:rPr lang="en-US" sz="202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un pequeño "trabajador" dentro de ese chip.</a:t>
            </a:r>
            <a:endParaRPr lang="en-US" sz="2025" dirty="0"/>
          </a:p>
        </p:txBody>
      </p:sp>
      <p:sp>
        <p:nvSpPr>
          <p:cNvPr id="5" name="Shape 3"/>
          <p:cNvSpPr/>
          <p:nvPr/>
        </p:nvSpPr>
        <p:spPr>
          <a:xfrm>
            <a:off x="1047750" y="3035697"/>
            <a:ext cx="7943850" cy="5458222"/>
          </a:xfrm>
          <a:prstGeom prst="roundRect">
            <a:avLst>
              <a:gd name="adj" fmla="val 2792"/>
            </a:avLst>
          </a:prstGeom>
          <a:ln w="6350">
            <a:solidFill>
              <a:srgbClr val="D1D5DB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38100" dir="54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35100" y="3426222"/>
            <a:ext cx="533400" cy="533400"/>
          </a:xfrm>
          <a:prstGeom prst="roundRect">
            <a:avLst>
              <a:gd name="adj" fmla="val 21429"/>
            </a:avLst>
          </a:prstGeom>
          <a:solidFill>
            <a:srgbClr val="11182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68450" y="3559572"/>
            <a:ext cx="266700" cy="2667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120900" y="3384947"/>
            <a:ext cx="5805299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· pincelada a pincelada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2120900" y="3715147"/>
            <a:ext cx="580529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Pocos trabajadores muy hábiles, uno tras otro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435100" y="4210447"/>
            <a:ext cx="7169150" cy="3127772"/>
          </a:xfrm>
          <a:prstGeom prst="roundRect">
            <a:avLst>
              <a:gd name="adj" fmla="val 3654"/>
            </a:avLst>
          </a:prstGeom>
          <a:solidFill>
            <a:srgbClr val="F9FAFB"/>
          </a:solidFill>
          <a:ln w="6350">
            <a:solidFill>
              <a:srgbClr val="D1D5DB">
                <a:alpha val="5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38525" y="5002808"/>
            <a:ext cx="247650" cy="247650"/>
          </a:xfrm>
          <a:prstGeom prst="ellipse">
            <a:avLst/>
          </a:prstGeom>
          <a:solidFill>
            <a:srgbClr val="111827"/>
          </a:solidFill>
          <a:ln/>
        </p:spPr>
      </p:sp>
      <p:sp>
        <p:nvSpPr>
          <p:cNvPr id="12" name="Shape 9"/>
          <p:cNvSpPr/>
          <p:nvPr/>
        </p:nvSpPr>
        <p:spPr>
          <a:xfrm>
            <a:off x="3762375" y="5002808"/>
            <a:ext cx="247650" cy="247650"/>
          </a:xfrm>
          <a:prstGeom prst="ellipse">
            <a:avLst/>
          </a:prstGeom>
          <a:solidFill>
            <a:srgbClr val="111827"/>
          </a:solidFill>
          <a:ln/>
        </p:spPr>
      </p:sp>
      <p:sp>
        <p:nvSpPr>
          <p:cNvPr id="13" name="Shape 10"/>
          <p:cNvSpPr/>
          <p:nvPr/>
        </p:nvSpPr>
        <p:spPr>
          <a:xfrm>
            <a:off x="4086225" y="5002808"/>
            <a:ext cx="247650" cy="247650"/>
          </a:xfrm>
          <a:prstGeom prst="ellipse">
            <a:avLst/>
          </a:prstGeom>
          <a:solidFill>
            <a:srgbClr val="111827"/>
          </a:solidFill>
          <a:ln/>
        </p:spPr>
      </p:sp>
      <p:sp>
        <p:nvSpPr>
          <p:cNvPr id="14" name="Shape 11"/>
          <p:cNvSpPr/>
          <p:nvPr/>
        </p:nvSpPr>
        <p:spPr>
          <a:xfrm>
            <a:off x="4410075" y="5002808"/>
            <a:ext cx="247650" cy="247650"/>
          </a:xfrm>
          <a:prstGeom prst="ellipse">
            <a:avLst/>
          </a:prstGeom>
          <a:solidFill>
            <a:srgbClr val="374151"/>
          </a:solidFill>
          <a:ln/>
        </p:spPr>
      </p:sp>
      <p:sp>
        <p:nvSpPr>
          <p:cNvPr id="15" name="Shape 12"/>
          <p:cNvSpPr/>
          <p:nvPr/>
        </p:nvSpPr>
        <p:spPr>
          <a:xfrm>
            <a:off x="4733925" y="5002808"/>
            <a:ext cx="247650" cy="247650"/>
          </a:xfrm>
          <a:prstGeom prst="ellipse">
            <a:avLst/>
          </a:prstGeom>
          <a:ln w="19050">
            <a:solidFill>
              <a:srgbClr val="D1D5DB"/>
            </a:solidFill>
            <a:prstDash val="dash"/>
          </a:ln>
        </p:spPr>
      </p:sp>
      <p:sp>
        <p:nvSpPr>
          <p:cNvPr id="16" name="Shape 13"/>
          <p:cNvSpPr/>
          <p:nvPr/>
        </p:nvSpPr>
        <p:spPr>
          <a:xfrm>
            <a:off x="5057775" y="5002808"/>
            <a:ext cx="247650" cy="247650"/>
          </a:xfrm>
          <a:prstGeom prst="ellipse">
            <a:avLst/>
          </a:prstGeom>
          <a:ln w="19050">
            <a:solidFill>
              <a:srgbClr val="D1D5DB"/>
            </a:solidFill>
            <a:prstDash val="dash"/>
          </a:ln>
        </p:spPr>
      </p:sp>
      <p:sp>
        <p:nvSpPr>
          <p:cNvPr id="17" name="Shape 14"/>
          <p:cNvSpPr/>
          <p:nvPr/>
        </p:nvSpPr>
        <p:spPr>
          <a:xfrm>
            <a:off x="5381625" y="5002808"/>
            <a:ext cx="247650" cy="247650"/>
          </a:xfrm>
          <a:prstGeom prst="ellipse">
            <a:avLst/>
          </a:prstGeom>
          <a:ln w="19050">
            <a:solidFill>
              <a:srgbClr val="D1D5DB"/>
            </a:solidFill>
            <a:prstDash val="dash"/>
          </a:ln>
        </p:spPr>
      </p:sp>
      <p:sp>
        <p:nvSpPr>
          <p:cNvPr id="18" name="Shape 15"/>
          <p:cNvSpPr/>
          <p:nvPr/>
        </p:nvSpPr>
        <p:spPr>
          <a:xfrm>
            <a:off x="5705475" y="5002808"/>
            <a:ext cx="247650" cy="247650"/>
          </a:xfrm>
          <a:prstGeom prst="ellipse">
            <a:avLst/>
          </a:prstGeom>
          <a:ln w="19050">
            <a:solidFill>
              <a:srgbClr val="D1D5DB"/>
            </a:solidFill>
            <a:prstDash val="dash"/>
          </a:ln>
        </p:spPr>
      </p:sp>
      <p:sp>
        <p:nvSpPr>
          <p:cNvPr id="19" name="Shape 16"/>
          <p:cNvSpPr/>
          <p:nvPr/>
        </p:nvSpPr>
        <p:spPr>
          <a:xfrm>
            <a:off x="6029325" y="5002808"/>
            <a:ext cx="247650" cy="247650"/>
          </a:xfrm>
          <a:prstGeom prst="ellipse">
            <a:avLst/>
          </a:prstGeom>
          <a:ln w="19050">
            <a:solidFill>
              <a:srgbClr val="D1D5DB"/>
            </a:solidFill>
            <a:prstDash val="dash"/>
          </a:ln>
        </p:spPr>
      </p:sp>
      <p:sp>
        <p:nvSpPr>
          <p:cNvPr id="20" name="Shape 17"/>
          <p:cNvSpPr/>
          <p:nvPr/>
        </p:nvSpPr>
        <p:spPr>
          <a:xfrm>
            <a:off x="6353175" y="5002808"/>
            <a:ext cx="247650" cy="247650"/>
          </a:xfrm>
          <a:prstGeom prst="ellipse">
            <a:avLst/>
          </a:prstGeom>
          <a:ln w="19050">
            <a:solidFill>
              <a:srgbClr val="D1D5DB"/>
            </a:solidFill>
            <a:prstDash val="dash"/>
          </a:ln>
        </p:spPr>
      </p:sp>
      <p:sp>
        <p:nvSpPr>
          <p:cNvPr id="21" name="Shape 18"/>
          <p:cNvSpPr/>
          <p:nvPr/>
        </p:nvSpPr>
        <p:spPr>
          <a:xfrm>
            <a:off x="3438525" y="5326658"/>
            <a:ext cx="247650" cy="247650"/>
          </a:xfrm>
          <a:prstGeom prst="ellipse">
            <a:avLst/>
          </a:prstGeom>
          <a:ln w="19050">
            <a:solidFill>
              <a:srgbClr val="D1D5DB"/>
            </a:solidFill>
            <a:prstDash val="dash"/>
          </a:ln>
        </p:spPr>
      </p:sp>
      <p:sp>
        <p:nvSpPr>
          <p:cNvPr id="22" name="Shape 19"/>
          <p:cNvSpPr/>
          <p:nvPr/>
        </p:nvSpPr>
        <p:spPr>
          <a:xfrm>
            <a:off x="3762375" y="5326658"/>
            <a:ext cx="247650" cy="247650"/>
          </a:xfrm>
          <a:prstGeom prst="ellipse">
            <a:avLst/>
          </a:prstGeom>
          <a:ln w="19050">
            <a:solidFill>
              <a:srgbClr val="D1D5DB"/>
            </a:solidFill>
            <a:prstDash val="dash"/>
          </a:ln>
        </p:spPr>
      </p:sp>
      <p:sp>
        <p:nvSpPr>
          <p:cNvPr id="23" name="Shape 20"/>
          <p:cNvSpPr/>
          <p:nvPr/>
        </p:nvSpPr>
        <p:spPr>
          <a:xfrm>
            <a:off x="4086225" y="5326658"/>
            <a:ext cx="247650" cy="247650"/>
          </a:xfrm>
          <a:prstGeom prst="ellipse">
            <a:avLst/>
          </a:prstGeom>
          <a:ln w="19050">
            <a:solidFill>
              <a:srgbClr val="D1D5DB"/>
            </a:solidFill>
            <a:prstDash val="dash"/>
          </a:ln>
        </p:spPr>
      </p:sp>
      <p:sp>
        <p:nvSpPr>
          <p:cNvPr id="24" name="Shape 21"/>
          <p:cNvSpPr/>
          <p:nvPr/>
        </p:nvSpPr>
        <p:spPr>
          <a:xfrm>
            <a:off x="4410075" y="5326658"/>
            <a:ext cx="247650" cy="247650"/>
          </a:xfrm>
          <a:prstGeom prst="ellipse">
            <a:avLst/>
          </a:prstGeom>
          <a:ln w="19050">
            <a:solidFill>
              <a:srgbClr val="D1D5DB"/>
            </a:solidFill>
            <a:prstDash val="dash"/>
          </a:ln>
        </p:spPr>
      </p:sp>
      <p:sp>
        <p:nvSpPr>
          <p:cNvPr id="25" name="Shape 22"/>
          <p:cNvSpPr/>
          <p:nvPr/>
        </p:nvSpPr>
        <p:spPr>
          <a:xfrm>
            <a:off x="4733925" y="5326658"/>
            <a:ext cx="247650" cy="247650"/>
          </a:xfrm>
          <a:prstGeom prst="ellipse">
            <a:avLst/>
          </a:prstGeom>
          <a:ln w="19050">
            <a:solidFill>
              <a:srgbClr val="D1D5DB"/>
            </a:solidFill>
            <a:prstDash val="dash"/>
          </a:ln>
        </p:spPr>
      </p:sp>
      <p:sp>
        <p:nvSpPr>
          <p:cNvPr id="26" name="Shape 23"/>
          <p:cNvSpPr/>
          <p:nvPr/>
        </p:nvSpPr>
        <p:spPr>
          <a:xfrm>
            <a:off x="5057775" y="5326658"/>
            <a:ext cx="247650" cy="247650"/>
          </a:xfrm>
          <a:prstGeom prst="ellipse">
            <a:avLst/>
          </a:prstGeom>
          <a:ln w="19050">
            <a:solidFill>
              <a:srgbClr val="D1D5DB"/>
            </a:solidFill>
            <a:prstDash val="dash"/>
          </a:ln>
        </p:spPr>
      </p:sp>
      <p:sp>
        <p:nvSpPr>
          <p:cNvPr id="27" name="Shape 24"/>
          <p:cNvSpPr/>
          <p:nvPr/>
        </p:nvSpPr>
        <p:spPr>
          <a:xfrm>
            <a:off x="5381625" y="5326658"/>
            <a:ext cx="247650" cy="247650"/>
          </a:xfrm>
          <a:prstGeom prst="ellipse">
            <a:avLst/>
          </a:prstGeom>
          <a:ln w="19050">
            <a:solidFill>
              <a:srgbClr val="D1D5DB"/>
            </a:solidFill>
            <a:prstDash val="dash"/>
          </a:ln>
        </p:spPr>
      </p:sp>
      <p:sp>
        <p:nvSpPr>
          <p:cNvPr id="28" name="Shape 25"/>
          <p:cNvSpPr/>
          <p:nvPr/>
        </p:nvSpPr>
        <p:spPr>
          <a:xfrm>
            <a:off x="5705475" y="5326658"/>
            <a:ext cx="247650" cy="247650"/>
          </a:xfrm>
          <a:prstGeom prst="ellipse">
            <a:avLst/>
          </a:prstGeom>
          <a:ln w="19050">
            <a:solidFill>
              <a:srgbClr val="D1D5DB"/>
            </a:solidFill>
            <a:prstDash val="dash"/>
          </a:ln>
        </p:spPr>
      </p:sp>
      <p:sp>
        <p:nvSpPr>
          <p:cNvPr id="29" name="Shape 26"/>
          <p:cNvSpPr/>
          <p:nvPr/>
        </p:nvSpPr>
        <p:spPr>
          <a:xfrm>
            <a:off x="6029325" y="5326658"/>
            <a:ext cx="247650" cy="247650"/>
          </a:xfrm>
          <a:prstGeom prst="ellipse">
            <a:avLst/>
          </a:prstGeom>
          <a:ln w="19050">
            <a:solidFill>
              <a:srgbClr val="D1D5DB"/>
            </a:solidFill>
            <a:prstDash val="dash"/>
          </a:ln>
        </p:spPr>
      </p:sp>
      <p:sp>
        <p:nvSpPr>
          <p:cNvPr id="30" name="Shape 27"/>
          <p:cNvSpPr/>
          <p:nvPr/>
        </p:nvSpPr>
        <p:spPr>
          <a:xfrm>
            <a:off x="6353175" y="5326658"/>
            <a:ext cx="247650" cy="247650"/>
          </a:xfrm>
          <a:prstGeom prst="ellipse">
            <a:avLst/>
          </a:prstGeom>
          <a:ln w="19050">
            <a:solidFill>
              <a:srgbClr val="D1D5DB"/>
            </a:solidFill>
            <a:prstDash val="dash"/>
          </a:ln>
        </p:spPr>
      </p:sp>
      <p:sp>
        <p:nvSpPr>
          <p:cNvPr id="31" name="Shape 28"/>
          <p:cNvSpPr/>
          <p:nvPr/>
        </p:nvSpPr>
        <p:spPr>
          <a:xfrm>
            <a:off x="3438525" y="5650508"/>
            <a:ext cx="247650" cy="247650"/>
          </a:xfrm>
          <a:prstGeom prst="ellipse">
            <a:avLst/>
          </a:prstGeom>
          <a:ln w="19050">
            <a:solidFill>
              <a:srgbClr val="D1D5DB"/>
            </a:solidFill>
            <a:prstDash val="dash"/>
          </a:ln>
        </p:spPr>
      </p:sp>
      <p:sp>
        <p:nvSpPr>
          <p:cNvPr id="32" name="Shape 29"/>
          <p:cNvSpPr/>
          <p:nvPr/>
        </p:nvSpPr>
        <p:spPr>
          <a:xfrm>
            <a:off x="3762375" y="5650508"/>
            <a:ext cx="247650" cy="247650"/>
          </a:xfrm>
          <a:prstGeom prst="ellipse">
            <a:avLst/>
          </a:prstGeom>
          <a:ln w="19050">
            <a:solidFill>
              <a:srgbClr val="D1D5DB"/>
            </a:solidFill>
            <a:prstDash val="dash"/>
          </a:ln>
        </p:spPr>
      </p:sp>
      <p:sp>
        <p:nvSpPr>
          <p:cNvPr id="33" name="Shape 30"/>
          <p:cNvSpPr/>
          <p:nvPr/>
        </p:nvSpPr>
        <p:spPr>
          <a:xfrm>
            <a:off x="4086225" y="5650508"/>
            <a:ext cx="247650" cy="247650"/>
          </a:xfrm>
          <a:prstGeom prst="ellipse">
            <a:avLst/>
          </a:prstGeom>
          <a:ln w="19050">
            <a:solidFill>
              <a:srgbClr val="D1D5DB"/>
            </a:solidFill>
            <a:prstDash val="dash"/>
          </a:ln>
        </p:spPr>
      </p:sp>
      <p:sp>
        <p:nvSpPr>
          <p:cNvPr id="34" name="Shape 31"/>
          <p:cNvSpPr/>
          <p:nvPr/>
        </p:nvSpPr>
        <p:spPr>
          <a:xfrm>
            <a:off x="4410075" y="5650508"/>
            <a:ext cx="247650" cy="247650"/>
          </a:xfrm>
          <a:prstGeom prst="ellipse">
            <a:avLst/>
          </a:prstGeom>
          <a:ln w="19050">
            <a:solidFill>
              <a:srgbClr val="D1D5DB"/>
            </a:solidFill>
            <a:prstDash val="dash"/>
          </a:ln>
        </p:spPr>
      </p:sp>
      <p:sp>
        <p:nvSpPr>
          <p:cNvPr id="35" name="Shape 32"/>
          <p:cNvSpPr/>
          <p:nvPr/>
        </p:nvSpPr>
        <p:spPr>
          <a:xfrm>
            <a:off x="4733925" y="5650508"/>
            <a:ext cx="247650" cy="247650"/>
          </a:xfrm>
          <a:prstGeom prst="ellipse">
            <a:avLst/>
          </a:prstGeom>
          <a:ln w="19050">
            <a:solidFill>
              <a:srgbClr val="D1D5DB"/>
            </a:solidFill>
            <a:prstDash val="dash"/>
          </a:ln>
        </p:spPr>
      </p:sp>
      <p:sp>
        <p:nvSpPr>
          <p:cNvPr id="36" name="Shape 33"/>
          <p:cNvSpPr/>
          <p:nvPr/>
        </p:nvSpPr>
        <p:spPr>
          <a:xfrm>
            <a:off x="5057775" y="5650508"/>
            <a:ext cx="247650" cy="247650"/>
          </a:xfrm>
          <a:prstGeom prst="ellipse">
            <a:avLst/>
          </a:prstGeom>
          <a:ln w="19050">
            <a:solidFill>
              <a:srgbClr val="D1D5DB"/>
            </a:solidFill>
            <a:prstDash val="dash"/>
          </a:ln>
        </p:spPr>
      </p:sp>
      <p:sp>
        <p:nvSpPr>
          <p:cNvPr id="37" name="Shape 34"/>
          <p:cNvSpPr/>
          <p:nvPr/>
        </p:nvSpPr>
        <p:spPr>
          <a:xfrm>
            <a:off x="5381625" y="5650508"/>
            <a:ext cx="247650" cy="247650"/>
          </a:xfrm>
          <a:prstGeom prst="ellipse">
            <a:avLst/>
          </a:prstGeom>
          <a:ln w="19050">
            <a:solidFill>
              <a:srgbClr val="D1D5DB"/>
            </a:solidFill>
            <a:prstDash val="dash"/>
          </a:ln>
        </p:spPr>
      </p:sp>
      <p:sp>
        <p:nvSpPr>
          <p:cNvPr id="38" name="Shape 35"/>
          <p:cNvSpPr/>
          <p:nvPr/>
        </p:nvSpPr>
        <p:spPr>
          <a:xfrm>
            <a:off x="5705475" y="5650508"/>
            <a:ext cx="247650" cy="247650"/>
          </a:xfrm>
          <a:prstGeom prst="ellipse">
            <a:avLst/>
          </a:prstGeom>
          <a:ln w="19050">
            <a:solidFill>
              <a:srgbClr val="D1D5DB"/>
            </a:solidFill>
            <a:prstDash val="dash"/>
          </a:ln>
        </p:spPr>
      </p:sp>
      <p:sp>
        <p:nvSpPr>
          <p:cNvPr id="39" name="Shape 36"/>
          <p:cNvSpPr/>
          <p:nvPr/>
        </p:nvSpPr>
        <p:spPr>
          <a:xfrm>
            <a:off x="6029325" y="5650508"/>
            <a:ext cx="247650" cy="247650"/>
          </a:xfrm>
          <a:prstGeom prst="ellipse">
            <a:avLst/>
          </a:prstGeom>
          <a:ln w="19050">
            <a:solidFill>
              <a:srgbClr val="D1D5DB"/>
            </a:solidFill>
            <a:prstDash val="dash"/>
          </a:ln>
        </p:spPr>
      </p:sp>
      <p:sp>
        <p:nvSpPr>
          <p:cNvPr id="40" name="Shape 37"/>
          <p:cNvSpPr/>
          <p:nvPr/>
        </p:nvSpPr>
        <p:spPr>
          <a:xfrm>
            <a:off x="6353175" y="5650508"/>
            <a:ext cx="247650" cy="247650"/>
          </a:xfrm>
          <a:prstGeom prst="ellipse">
            <a:avLst/>
          </a:prstGeom>
          <a:ln w="19050">
            <a:solidFill>
              <a:srgbClr val="D1D5DB"/>
            </a:solidFill>
            <a:prstDash val="dash"/>
          </a:ln>
        </p:spPr>
      </p:sp>
      <p:sp>
        <p:nvSpPr>
          <p:cNvPr id="41" name="Shape 38"/>
          <p:cNvSpPr/>
          <p:nvPr/>
        </p:nvSpPr>
        <p:spPr>
          <a:xfrm>
            <a:off x="3438525" y="5974358"/>
            <a:ext cx="247650" cy="247650"/>
          </a:xfrm>
          <a:prstGeom prst="ellipse">
            <a:avLst/>
          </a:prstGeom>
          <a:ln w="19050">
            <a:solidFill>
              <a:srgbClr val="D1D5DB"/>
            </a:solidFill>
            <a:prstDash val="dash"/>
          </a:ln>
        </p:spPr>
      </p:sp>
      <p:sp>
        <p:nvSpPr>
          <p:cNvPr id="42" name="Shape 39"/>
          <p:cNvSpPr/>
          <p:nvPr/>
        </p:nvSpPr>
        <p:spPr>
          <a:xfrm>
            <a:off x="3762375" y="5974358"/>
            <a:ext cx="247650" cy="247650"/>
          </a:xfrm>
          <a:prstGeom prst="ellipse">
            <a:avLst/>
          </a:prstGeom>
          <a:ln w="19050">
            <a:solidFill>
              <a:srgbClr val="D1D5DB"/>
            </a:solidFill>
            <a:prstDash val="dash"/>
          </a:ln>
        </p:spPr>
      </p:sp>
      <p:sp>
        <p:nvSpPr>
          <p:cNvPr id="43" name="Shape 40"/>
          <p:cNvSpPr/>
          <p:nvPr/>
        </p:nvSpPr>
        <p:spPr>
          <a:xfrm>
            <a:off x="4086225" y="5974358"/>
            <a:ext cx="247650" cy="247650"/>
          </a:xfrm>
          <a:prstGeom prst="ellipse">
            <a:avLst/>
          </a:prstGeom>
          <a:ln w="19050">
            <a:solidFill>
              <a:srgbClr val="D1D5DB"/>
            </a:solidFill>
            <a:prstDash val="dash"/>
          </a:ln>
        </p:spPr>
      </p:sp>
      <p:sp>
        <p:nvSpPr>
          <p:cNvPr id="44" name="Shape 41"/>
          <p:cNvSpPr/>
          <p:nvPr/>
        </p:nvSpPr>
        <p:spPr>
          <a:xfrm>
            <a:off x="4410075" y="5974358"/>
            <a:ext cx="247650" cy="247650"/>
          </a:xfrm>
          <a:prstGeom prst="ellipse">
            <a:avLst/>
          </a:prstGeom>
          <a:ln w="19050">
            <a:solidFill>
              <a:srgbClr val="D1D5DB"/>
            </a:solidFill>
            <a:prstDash val="dash"/>
          </a:ln>
        </p:spPr>
      </p:sp>
      <p:sp>
        <p:nvSpPr>
          <p:cNvPr id="45" name="Shape 42"/>
          <p:cNvSpPr/>
          <p:nvPr/>
        </p:nvSpPr>
        <p:spPr>
          <a:xfrm>
            <a:off x="4733925" y="5974358"/>
            <a:ext cx="247650" cy="247650"/>
          </a:xfrm>
          <a:prstGeom prst="ellipse">
            <a:avLst/>
          </a:prstGeom>
          <a:ln w="19050">
            <a:solidFill>
              <a:srgbClr val="D1D5DB"/>
            </a:solidFill>
            <a:prstDash val="dash"/>
          </a:ln>
        </p:spPr>
      </p:sp>
      <p:sp>
        <p:nvSpPr>
          <p:cNvPr id="46" name="Shape 43"/>
          <p:cNvSpPr/>
          <p:nvPr/>
        </p:nvSpPr>
        <p:spPr>
          <a:xfrm>
            <a:off x="5057775" y="5974358"/>
            <a:ext cx="247650" cy="247650"/>
          </a:xfrm>
          <a:prstGeom prst="ellipse">
            <a:avLst/>
          </a:prstGeom>
          <a:ln w="19050">
            <a:solidFill>
              <a:srgbClr val="D1D5DB"/>
            </a:solidFill>
            <a:prstDash val="dash"/>
          </a:ln>
        </p:spPr>
      </p:sp>
      <p:sp>
        <p:nvSpPr>
          <p:cNvPr id="47" name="Shape 44"/>
          <p:cNvSpPr/>
          <p:nvPr/>
        </p:nvSpPr>
        <p:spPr>
          <a:xfrm>
            <a:off x="5381625" y="5974358"/>
            <a:ext cx="247650" cy="247650"/>
          </a:xfrm>
          <a:prstGeom prst="ellipse">
            <a:avLst/>
          </a:prstGeom>
          <a:ln w="19050">
            <a:solidFill>
              <a:srgbClr val="D1D5DB"/>
            </a:solidFill>
            <a:prstDash val="dash"/>
          </a:ln>
        </p:spPr>
      </p:sp>
      <p:sp>
        <p:nvSpPr>
          <p:cNvPr id="48" name="Shape 45"/>
          <p:cNvSpPr/>
          <p:nvPr/>
        </p:nvSpPr>
        <p:spPr>
          <a:xfrm>
            <a:off x="5705475" y="5974358"/>
            <a:ext cx="247650" cy="247650"/>
          </a:xfrm>
          <a:prstGeom prst="ellipse">
            <a:avLst/>
          </a:prstGeom>
          <a:ln w="19050">
            <a:solidFill>
              <a:srgbClr val="D1D5DB"/>
            </a:solidFill>
            <a:prstDash val="dash"/>
          </a:ln>
        </p:spPr>
      </p:sp>
      <p:sp>
        <p:nvSpPr>
          <p:cNvPr id="49" name="Shape 46"/>
          <p:cNvSpPr/>
          <p:nvPr/>
        </p:nvSpPr>
        <p:spPr>
          <a:xfrm>
            <a:off x="6029325" y="5974358"/>
            <a:ext cx="247650" cy="247650"/>
          </a:xfrm>
          <a:prstGeom prst="ellipse">
            <a:avLst/>
          </a:prstGeom>
          <a:ln w="19050">
            <a:solidFill>
              <a:srgbClr val="D1D5DB"/>
            </a:solidFill>
            <a:prstDash val="dash"/>
          </a:ln>
        </p:spPr>
      </p:sp>
      <p:sp>
        <p:nvSpPr>
          <p:cNvPr id="50" name="Shape 47"/>
          <p:cNvSpPr/>
          <p:nvPr/>
        </p:nvSpPr>
        <p:spPr>
          <a:xfrm>
            <a:off x="6353175" y="5974358"/>
            <a:ext cx="247650" cy="247650"/>
          </a:xfrm>
          <a:prstGeom prst="ellipse">
            <a:avLst/>
          </a:prstGeom>
          <a:ln w="19050">
            <a:solidFill>
              <a:srgbClr val="D1D5DB"/>
            </a:solidFill>
            <a:prstDash val="dash"/>
          </a:ln>
        </p:spPr>
      </p:sp>
      <p:sp>
        <p:nvSpPr>
          <p:cNvPr id="51" name="Shape 48"/>
          <p:cNvSpPr/>
          <p:nvPr/>
        </p:nvSpPr>
        <p:spPr>
          <a:xfrm>
            <a:off x="3438525" y="6298208"/>
            <a:ext cx="247650" cy="247650"/>
          </a:xfrm>
          <a:prstGeom prst="ellipse">
            <a:avLst/>
          </a:prstGeom>
          <a:ln w="19050">
            <a:solidFill>
              <a:srgbClr val="D1D5DB"/>
            </a:solidFill>
            <a:prstDash val="dash"/>
          </a:ln>
        </p:spPr>
      </p:sp>
      <p:sp>
        <p:nvSpPr>
          <p:cNvPr id="52" name="Shape 49"/>
          <p:cNvSpPr/>
          <p:nvPr/>
        </p:nvSpPr>
        <p:spPr>
          <a:xfrm>
            <a:off x="3762375" y="6298208"/>
            <a:ext cx="247650" cy="247650"/>
          </a:xfrm>
          <a:prstGeom prst="ellipse">
            <a:avLst/>
          </a:prstGeom>
          <a:ln w="19050">
            <a:solidFill>
              <a:srgbClr val="D1D5DB"/>
            </a:solidFill>
            <a:prstDash val="dash"/>
          </a:ln>
        </p:spPr>
      </p:sp>
      <p:sp>
        <p:nvSpPr>
          <p:cNvPr id="53" name="Shape 50"/>
          <p:cNvSpPr/>
          <p:nvPr/>
        </p:nvSpPr>
        <p:spPr>
          <a:xfrm>
            <a:off x="4086225" y="6298208"/>
            <a:ext cx="247650" cy="247650"/>
          </a:xfrm>
          <a:prstGeom prst="ellipse">
            <a:avLst/>
          </a:prstGeom>
          <a:ln w="19050">
            <a:solidFill>
              <a:srgbClr val="D1D5DB"/>
            </a:solidFill>
            <a:prstDash val="dash"/>
          </a:ln>
        </p:spPr>
      </p:sp>
      <p:sp>
        <p:nvSpPr>
          <p:cNvPr id="54" name="Shape 51"/>
          <p:cNvSpPr/>
          <p:nvPr/>
        </p:nvSpPr>
        <p:spPr>
          <a:xfrm>
            <a:off x="4410075" y="6298208"/>
            <a:ext cx="247650" cy="247650"/>
          </a:xfrm>
          <a:prstGeom prst="ellipse">
            <a:avLst/>
          </a:prstGeom>
          <a:ln w="19050">
            <a:solidFill>
              <a:srgbClr val="D1D5DB"/>
            </a:solidFill>
            <a:prstDash val="dash"/>
          </a:ln>
        </p:spPr>
      </p:sp>
      <p:sp>
        <p:nvSpPr>
          <p:cNvPr id="55" name="Shape 52"/>
          <p:cNvSpPr/>
          <p:nvPr/>
        </p:nvSpPr>
        <p:spPr>
          <a:xfrm>
            <a:off x="4733925" y="6298208"/>
            <a:ext cx="247650" cy="247650"/>
          </a:xfrm>
          <a:prstGeom prst="ellipse">
            <a:avLst/>
          </a:prstGeom>
          <a:ln w="19050">
            <a:solidFill>
              <a:srgbClr val="D1D5DB"/>
            </a:solidFill>
            <a:prstDash val="dash"/>
          </a:ln>
        </p:spPr>
      </p:sp>
      <p:sp>
        <p:nvSpPr>
          <p:cNvPr id="56" name="Shape 53"/>
          <p:cNvSpPr/>
          <p:nvPr/>
        </p:nvSpPr>
        <p:spPr>
          <a:xfrm>
            <a:off x="5057775" y="6298208"/>
            <a:ext cx="247650" cy="247650"/>
          </a:xfrm>
          <a:prstGeom prst="ellipse">
            <a:avLst/>
          </a:prstGeom>
          <a:ln w="19050">
            <a:solidFill>
              <a:srgbClr val="D1D5DB"/>
            </a:solidFill>
            <a:prstDash val="dash"/>
          </a:ln>
        </p:spPr>
      </p:sp>
      <p:sp>
        <p:nvSpPr>
          <p:cNvPr id="57" name="Shape 54"/>
          <p:cNvSpPr/>
          <p:nvPr/>
        </p:nvSpPr>
        <p:spPr>
          <a:xfrm>
            <a:off x="5381625" y="6298208"/>
            <a:ext cx="247650" cy="247650"/>
          </a:xfrm>
          <a:prstGeom prst="ellipse">
            <a:avLst/>
          </a:prstGeom>
          <a:ln w="19050">
            <a:solidFill>
              <a:srgbClr val="D1D5DB"/>
            </a:solidFill>
            <a:prstDash val="dash"/>
          </a:ln>
        </p:spPr>
      </p:sp>
      <p:sp>
        <p:nvSpPr>
          <p:cNvPr id="58" name="Shape 55"/>
          <p:cNvSpPr/>
          <p:nvPr/>
        </p:nvSpPr>
        <p:spPr>
          <a:xfrm>
            <a:off x="5705475" y="6298208"/>
            <a:ext cx="247650" cy="247650"/>
          </a:xfrm>
          <a:prstGeom prst="ellipse">
            <a:avLst/>
          </a:prstGeom>
          <a:ln w="19050">
            <a:solidFill>
              <a:srgbClr val="D1D5DB"/>
            </a:solidFill>
            <a:prstDash val="dash"/>
          </a:ln>
        </p:spPr>
      </p:sp>
      <p:sp>
        <p:nvSpPr>
          <p:cNvPr id="59" name="Shape 56"/>
          <p:cNvSpPr/>
          <p:nvPr/>
        </p:nvSpPr>
        <p:spPr>
          <a:xfrm>
            <a:off x="6029325" y="6298208"/>
            <a:ext cx="247650" cy="247650"/>
          </a:xfrm>
          <a:prstGeom prst="ellipse">
            <a:avLst/>
          </a:prstGeom>
          <a:ln w="19050">
            <a:solidFill>
              <a:srgbClr val="D1D5DB"/>
            </a:solidFill>
            <a:prstDash val="dash"/>
          </a:ln>
        </p:spPr>
      </p:sp>
      <p:sp>
        <p:nvSpPr>
          <p:cNvPr id="60" name="Shape 57"/>
          <p:cNvSpPr/>
          <p:nvPr/>
        </p:nvSpPr>
        <p:spPr>
          <a:xfrm>
            <a:off x="6353175" y="6298208"/>
            <a:ext cx="247650" cy="247650"/>
          </a:xfrm>
          <a:prstGeom prst="ellipse">
            <a:avLst/>
          </a:prstGeom>
          <a:ln w="19050">
            <a:solidFill>
              <a:srgbClr val="D1D5DB"/>
            </a:solidFill>
            <a:prstDash val="dash"/>
          </a:ln>
        </p:spPr>
      </p:sp>
      <p:sp>
        <p:nvSpPr>
          <p:cNvPr id="61" name="Text 58"/>
          <p:cNvSpPr/>
          <p:nvPr/>
        </p:nvSpPr>
        <p:spPr>
          <a:xfrm>
            <a:off x="1435100" y="7547769"/>
            <a:ext cx="7384225" cy="635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Buena para decidir: seguir pasos, evaluar condiciones, cambiar de plan.</a:t>
            </a:r>
            <a:endParaRPr lang="en-US" sz="1875" dirty="0"/>
          </a:p>
        </p:txBody>
      </p:sp>
      <p:sp>
        <p:nvSpPr>
          <p:cNvPr id="62" name="Shape 59"/>
          <p:cNvSpPr/>
          <p:nvPr/>
        </p:nvSpPr>
        <p:spPr>
          <a:xfrm>
            <a:off x="9296400" y="3035697"/>
            <a:ext cx="7943850" cy="5458222"/>
          </a:xfrm>
          <a:prstGeom prst="roundRect">
            <a:avLst>
              <a:gd name="adj" fmla="val 2792"/>
            </a:avLst>
          </a:prstGeom>
          <a:ln w="6350">
            <a:solidFill>
              <a:srgbClr val="04BF63">
                <a:alpha val="45000"/>
              </a:srgbClr>
            </a:solidFill>
            <a:prstDash val="solid"/>
          </a:ln>
          <a:effectLst>
            <a:outerShdw sx="100000" sy="100000" kx="0" ky="0" algn="bl" rotWithShape="0" blurRad="190500" dist="38100" dir="5400000">
              <a:srgbClr val="000000">
                <a:alpha val="5000"/>
              </a:srgbClr>
            </a:outerShdw>
          </a:effectLst>
        </p:spPr>
      </p:sp>
      <p:sp>
        <p:nvSpPr>
          <p:cNvPr id="63" name="Shape 60"/>
          <p:cNvSpPr/>
          <p:nvPr/>
        </p:nvSpPr>
        <p:spPr>
          <a:xfrm>
            <a:off x="9683750" y="3426222"/>
            <a:ext cx="533400" cy="533400"/>
          </a:xfrm>
          <a:prstGeom prst="roundRect">
            <a:avLst>
              <a:gd name="adj" fmla="val 21429"/>
            </a:avLst>
          </a:prstGeom>
          <a:solidFill>
            <a:srgbClr val="04BF63">
              <a:alpha val="12000"/>
            </a:srgbClr>
          </a:solidFill>
          <a:ln/>
        </p:spPr>
      </p:sp>
      <p:pic>
        <p:nvPicPr>
          <p:cNvPr id="6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17101" y="3559572"/>
            <a:ext cx="266700" cy="266700"/>
          </a:xfrm>
          <a:prstGeom prst="rect">
            <a:avLst/>
          </a:prstGeom>
        </p:spPr>
      </p:pic>
      <p:sp>
        <p:nvSpPr>
          <p:cNvPr id="65" name="Text 61"/>
          <p:cNvSpPr/>
          <p:nvPr/>
        </p:nvSpPr>
        <p:spPr>
          <a:xfrm>
            <a:off x="10369551" y="3384947"/>
            <a:ext cx="6057741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· todos los disparos a la vez</a:t>
            </a:r>
            <a:endParaRPr lang="en-US" sz="2250" dirty="0"/>
          </a:p>
        </p:txBody>
      </p:sp>
      <p:sp>
        <p:nvSpPr>
          <p:cNvPr id="66" name="Text 62"/>
          <p:cNvSpPr/>
          <p:nvPr/>
        </p:nvSpPr>
        <p:spPr>
          <a:xfrm>
            <a:off x="10369551" y="3715147"/>
            <a:ext cx="605774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 de trabajadores sencillos, todos al tiempo</a:t>
            </a:r>
            <a:endParaRPr lang="en-US" sz="1800" dirty="0"/>
          </a:p>
        </p:txBody>
      </p:sp>
      <p:sp>
        <p:nvSpPr>
          <p:cNvPr id="67" name="Shape 63"/>
          <p:cNvSpPr/>
          <p:nvPr/>
        </p:nvSpPr>
        <p:spPr>
          <a:xfrm>
            <a:off x="9683750" y="4210447"/>
            <a:ext cx="7169150" cy="3127772"/>
          </a:xfrm>
          <a:prstGeom prst="roundRect">
            <a:avLst>
              <a:gd name="adj" fmla="val 3654"/>
            </a:avLst>
          </a:prstGeom>
          <a:solidFill>
            <a:srgbClr val="F9FAFB"/>
          </a:solidFill>
          <a:ln w="6350">
            <a:solidFill>
              <a:srgbClr val="D1D5DB">
                <a:alpha val="50000"/>
              </a:srgbClr>
            </a:solidFill>
            <a:prstDash val="solid"/>
          </a:ln>
        </p:spPr>
      </p:sp>
      <p:sp>
        <p:nvSpPr>
          <p:cNvPr id="68" name="Shape 64"/>
          <p:cNvSpPr/>
          <p:nvPr/>
        </p:nvSpPr>
        <p:spPr>
          <a:xfrm>
            <a:off x="11687175" y="5002808"/>
            <a:ext cx="247650" cy="247650"/>
          </a:xfrm>
          <a:prstGeom prst="ellipse">
            <a:avLst/>
          </a:prstGeom>
          <a:solidFill>
            <a:srgbClr val="04BF63"/>
          </a:solidFill>
          <a:ln/>
        </p:spPr>
      </p:sp>
      <p:sp>
        <p:nvSpPr>
          <p:cNvPr id="69" name="Shape 65"/>
          <p:cNvSpPr/>
          <p:nvPr/>
        </p:nvSpPr>
        <p:spPr>
          <a:xfrm>
            <a:off x="12011025" y="5002808"/>
            <a:ext cx="247650" cy="24765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70" name="Shape 66"/>
          <p:cNvSpPr/>
          <p:nvPr/>
        </p:nvSpPr>
        <p:spPr>
          <a:xfrm>
            <a:off x="12334875" y="5002808"/>
            <a:ext cx="247650" cy="247650"/>
          </a:xfrm>
          <a:prstGeom prst="ellipse">
            <a:avLst/>
          </a:prstGeom>
          <a:solidFill>
            <a:srgbClr val="04BF63"/>
          </a:solidFill>
          <a:ln/>
        </p:spPr>
      </p:sp>
      <p:sp>
        <p:nvSpPr>
          <p:cNvPr id="71" name="Shape 67"/>
          <p:cNvSpPr/>
          <p:nvPr/>
        </p:nvSpPr>
        <p:spPr>
          <a:xfrm>
            <a:off x="12658725" y="5002808"/>
            <a:ext cx="247650" cy="24765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2" name="Shape 68"/>
          <p:cNvSpPr/>
          <p:nvPr/>
        </p:nvSpPr>
        <p:spPr>
          <a:xfrm>
            <a:off x="12982575" y="5002808"/>
            <a:ext cx="247650" cy="247650"/>
          </a:xfrm>
          <a:prstGeom prst="ellipse">
            <a:avLst/>
          </a:prstGeom>
          <a:solidFill>
            <a:srgbClr val="04BF63"/>
          </a:solidFill>
          <a:ln/>
        </p:spPr>
      </p:sp>
      <p:sp>
        <p:nvSpPr>
          <p:cNvPr id="73" name="Shape 69"/>
          <p:cNvSpPr/>
          <p:nvPr/>
        </p:nvSpPr>
        <p:spPr>
          <a:xfrm>
            <a:off x="13306425" y="5002808"/>
            <a:ext cx="247650" cy="24765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74" name="Shape 70"/>
          <p:cNvSpPr/>
          <p:nvPr/>
        </p:nvSpPr>
        <p:spPr>
          <a:xfrm>
            <a:off x="13630275" y="5002808"/>
            <a:ext cx="247650" cy="247650"/>
          </a:xfrm>
          <a:prstGeom prst="ellipse">
            <a:avLst/>
          </a:prstGeom>
          <a:solidFill>
            <a:srgbClr val="04BF63"/>
          </a:solidFill>
          <a:ln/>
        </p:spPr>
      </p:sp>
      <p:sp>
        <p:nvSpPr>
          <p:cNvPr id="75" name="Shape 71"/>
          <p:cNvSpPr/>
          <p:nvPr/>
        </p:nvSpPr>
        <p:spPr>
          <a:xfrm>
            <a:off x="13954125" y="5002808"/>
            <a:ext cx="247650" cy="24765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6" name="Shape 72"/>
          <p:cNvSpPr/>
          <p:nvPr/>
        </p:nvSpPr>
        <p:spPr>
          <a:xfrm>
            <a:off x="14277975" y="5002808"/>
            <a:ext cx="247650" cy="247650"/>
          </a:xfrm>
          <a:prstGeom prst="ellipse">
            <a:avLst/>
          </a:prstGeom>
          <a:solidFill>
            <a:srgbClr val="04BF63"/>
          </a:solidFill>
          <a:ln/>
        </p:spPr>
      </p:sp>
      <p:sp>
        <p:nvSpPr>
          <p:cNvPr id="77" name="Shape 73"/>
          <p:cNvSpPr/>
          <p:nvPr/>
        </p:nvSpPr>
        <p:spPr>
          <a:xfrm>
            <a:off x="14601825" y="5002808"/>
            <a:ext cx="247650" cy="24765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78" name="Shape 74"/>
          <p:cNvSpPr/>
          <p:nvPr/>
        </p:nvSpPr>
        <p:spPr>
          <a:xfrm>
            <a:off x="11687175" y="5326658"/>
            <a:ext cx="247650" cy="24765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79" name="Shape 75"/>
          <p:cNvSpPr/>
          <p:nvPr/>
        </p:nvSpPr>
        <p:spPr>
          <a:xfrm>
            <a:off x="12011025" y="5326658"/>
            <a:ext cx="247650" cy="247650"/>
          </a:xfrm>
          <a:prstGeom prst="ellipse">
            <a:avLst/>
          </a:prstGeom>
          <a:solidFill>
            <a:srgbClr val="04BF63"/>
          </a:solidFill>
          <a:ln/>
        </p:spPr>
      </p:sp>
      <p:sp>
        <p:nvSpPr>
          <p:cNvPr id="80" name="Shape 76"/>
          <p:cNvSpPr/>
          <p:nvPr/>
        </p:nvSpPr>
        <p:spPr>
          <a:xfrm>
            <a:off x="12334875" y="5326658"/>
            <a:ext cx="247650" cy="24765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1" name="Shape 77"/>
          <p:cNvSpPr/>
          <p:nvPr/>
        </p:nvSpPr>
        <p:spPr>
          <a:xfrm>
            <a:off x="12658725" y="5326658"/>
            <a:ext cx="247650" cy="247650"/>
          </a:xfrm>
          <a:prstGeom prst="ellipse">
            <a:avLst/>
          </a:prstGeom>
          <a:solidFill>
            <a:srgbClr val="04BF63"/>
          </a:solidFill>
          <a:ln/>
        </p:spPr>
      </p:sp>
      <p:sp>
        <p:nvSpPr>
          <p:cNvPr id="82" name="Shape 78"/>
          <p:cNvSpPr/>
          <p:nvPr/>
        </p:nvSpPr>
        <p:spPr>
          <a:xfrm>
            <a:off x="12982575" y="5326658"/>
            <a:ext cx="247650" cy="24765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83" name="Shape 79"/>
          <p:cNvSpPr/>
          <p:nvPr/>
        </p:nvSpPr>
        <p:spPr>
          <a:xfrm>
            <a:off x="13306425" y="5326658"/>
            <a:ext cx="247650" cy="247650"/>
          </a:xfrm>
          <a:prstGeom prst="ellipse">
            <a:avLst/>
          </a:prstGeom>
          <a:solidFill>
            <a:srgbClr val="04BF63"/>
          </a:solidFill>
          <a:ln/>
        </p:spPr>
      </p:sp>
      <p:sp>
        <p:nvSpPr>
          <p:cNvPr id="84" name="Shape 80"/>
          <p:cNvSpPr/>
          <p:nvPr/>
        </p:nvSpPr>
        <p:spPr>
          <a:xfrm>
            <a:off x="13630275" y="5326658"/>
            <a:ext cx="247650" cy="24765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5" name="Shape 81"/>
          <p:cNvSpPr/>
          <p:nvPr/>
        </p:nvSpPr>
        <p:spPr>
          <a:xfrm>
            <a:off x="13954125" y="5326658"/>
            <a:ext cx="247650" cy="247650"/>
          </a:xfrm>
          <a:prstGeom prst="ellipse">
            <a:avLst/>
          </a:prstGeom>
          <a:solidFill>
            <a:srgbClr val="04BF63"/>
          </a:solidFill>
          <a:ln/>
        </p:spPr>
      </p:sp>
      <p:sp>
        <p:nvSpPr>
          <p:cNvPr id="86" name="Shape 82"/>
          <p:cNvSpPr/>
          <p:nvPr/>
        </p:nvSpPr>
        <p:spPr>
          <a:xfrm>
            <a:off x="14277975" y="5326658"/>
            <a:ext cx="247650" cy="24765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87" name="Shape 83"/>
          <p:cNvSpPr/>
          <p:nvPr/>
        </p:nvSpPr>
        <p:spPr>
          <a:xfrm>
            <a:off x="14601825" y="5326658"/>
            <a:ext cx="247650" cy="247650"/>
          </a:xfrm>
          <a:prstGeom prst="ellipse">
            <a:avLst/>
          </a:prstGeom>
          <a:solidFill>
            <a:srgbClr val="04BF63"/>
          </a:solidFill>
          <a:ln/>
        </p:spPr>
      </p:sp>
      <p:sp>
        <p:nvSpPr>
          <p:cNvPr id="88" name="Shape 84"/>
          <p:cNvSpPr/>
          <p:nvPr/>
        </p:nvSpPr>
        <p:spPr>
          <a:xfrm>
            <a:off x="11687175" y="5650508"/>
            <a:ext cx="247650" cy="247650"/>
          </a:xfrm>
          <a:prstGeom prst="ellipse">
            <a:avLst/>
          </a:prstGeom>
          <a:solidFill>
            <a:srgbClr val="04BF63"/>
          </a:solidFill>
          <a:ln/>
        </p:spPr>
      </p:sp>
      <p:sp>
        <p:nvSpPr>
          <p:cNvPr id="89" name="Shape 85"/>
          <p:cNvSpPr/>
          <p:nvPr/>
        </p:nvSpPr>
        <p:spPr>
          <a:xfrm>
            <a:off x="12011025" y="5650508"/>
            <a:ext cx="247650" cy="24765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0" name="Shape 86"/>
          <p:cNvSpPr/>
          <p:nvPr/>
        </p:nvSpPr>
        <p:spPr>
          <a:xfrm>
            <a:off x="12334875" y="5650508"/>
            <a:ext cx="247650" cy="247650"/>
          </a:xfrm>
          <a:prstGeom prst="ellipse">
            <a:avLst/>
          </a:prstGeom>
          <a:solidFill>
            <a:srgbClr val="04BF63"/>
          </a:solidFill>
          <a:ln/>
        </p:spPr>
      </p:sp>
      <p:sp>
        <p:nvSpPr>
          <p:cNvPr id="91" name="Shape 87"/>
          <p:cNvSpPr/>
          <p:nvPr/>
        </p:nvSpPr>
        <p:spPr>
          <a:xfrm>
            <a:off x="12658725" y="5650508"/>
            <a:ext cx="247650" cy="24765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92" name="Shape 88"/>
          <p:cNvSpPr/>
          <p:nvPr/>
        </p:nvSpPr>
        <p:spPr>
          <a:xfrm>
            <a:off x="12982575" y="5650508"/>
            <a:ext cx="247650" cy="247650"/>
          </a:xfrm>
          <a:prstGeom prst="ellipse">
            <a:avLst/>
          </a:prstGeom>
          <a:solidFill>
            <a:srgbClr val="04BF63"/>
          </a:solidFill>
          <a:ln/>
        </p:spPr>
      </p:sp>
      <p:sp>
        <p:nvSpPr>
          <p:cNvPr id="93" name="Shape 89"/>
          <p:cNvSpPr/>
          <p:nvPr/>
        </p:nvSpPr>
        <p:spPr>
          <a:xfrm>
            <a:off x="13306425" y="5650508"/>
            <a:ext cx="247650" cy="24765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4" name="Shape 90"/>
          <p:cNvSpPr/>
          <p:nvPr/>
        </p:nvSpPr>
        <p:spPr>
          <a:xfrm>
            <a:off x="13630275" y="5650508"/>
            <a:ext cx="247650" cy="247650"/>
          </a:xfrm>
          <a:prstGeom prst="ellipse">
            <a:avLst/>
          </a:prstGeom>
          <a:solidFill>
            <a:srgbClr val="04BF63"/>
          </a:solidFill>
          <a:ln/>
        </p:spPr>
      </p:sp>
      <p:sp>
        <p:nvSpPr>
          <p:cNvPr id="95" name="Shape 91"/>
          <p:cNvSpPr/>
          <p:nvPr/>
        </p:nvSpPr>
        <p:spPr>
          <a:xfrm>
            <a:off x="13954125" y="5650508"/>
            <a:ext cx="247650" cy="24765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96" name="Shape 92"/>
          <p:cNvSpPr/>
          <p:nvPr/>
        </p:nvSpPr>
        <p:spPr>
          <a:xfrm>
            <a:off x="14277975" y="5650508"/>
            <a:ext cx="247650" cy="247650"/>
          </a:xfrm>
          <a:prstGeom prst="ellipse">
            <a:avLst/>
          </a:prstGeom>
          <a:solidFill>
            <a:srgbClr val="04BF63"/>
          </a:solidFill>
          <a:ln/>
        </p:spPr>
      </p:sp>
      <p:sp>
        <p:nvSpPr>
          <p:cNvPr id="97" name="Shape 93"/>
          <p:cNvSpPr/>
          <p:nvPr/>
        </p:nvSpPr>
        <p:spPr>
          <a:xfrm>
            <a:off x="14601825" y="5650508"/>
            <a:ext cx="247650" cy="24765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8" name="Shape 94"/>
          <p:cNvSpPr/>
          <p:nvPr/>
        </p:nvSpPr>
        <p:spPr>
          <a:xfrm>
            <a:off x="11687175" y="5974358"/>
            <a:ext cx="247650" cy="24765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9" name="Shape 95"/>
          <p:cNvSpPr/>
          <p:nvPr/>
        </p:nvSpPr>
        <p:spPr>
          <a:xfrm>
            <a:off x="12011025" y="5974358"/>
            <a:ext cx="247650" cy="247650"/>
          </a:xfrm>
          <a:prstGeom prst="ellipse">
            <a:avLst/>
          </a:prstGeom>
          <a:solidFill>
            <a:srgbClr val="04BF63"/>
          </a:solidFill>
          <a:ln/>
        </p:spPr>
      </p:sp>
      <p:sp>
        <p:nvSpPr>
          <p:cNvPr id="100" name="Shape 96"/>
          <p:cNvSpPr/>
          <p:nvPr/>
        </p:nvSpPr>
        <p:spPr>
          <a:xfrm>
            <a:off x="12334875" y="5974358"/>
            <a:ext cx="247650" cy="24765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01" name="Shape 97"/>
          <p:cNvSpPr/>
          <p:nvPr/>
        </p:nvSpPr>
        <p:spPr>
          <a:xfrm>
            <a:off x="12658725" y="5974358"/>
            <a:ext cx="247650" cy="247650"/>
          </a:xfrm>
          <a:prstGeom prst="ellipse">
            <a:avLst/>
          </a:prstGeom>
          <a:solidFill>
            <a:srgbClr val="04BF63"/>
          </a:solidFill>
          <a:ln/>
        </p:spPr>
      </p:sp>
      <p:sp>
        <p:nvSpPr>
          <p:cNvPr id="102" name="Shape 98"/>
          <p:cNvSpPr/>
          <p:nvPr/>
        </p:nvSpPr>
        <p:spPr>
          <a:xfrm>
            <a:off x="12982575" y="5974358"/>
            <a:ext cx="247650" cy="24765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3" name="Shape 99"/>
          <p:cNvSpPr/>
          <p:nvPr/>
        </p:nvSpPr>
        <p:spPr>
          <a:xfrm>
            <a:off x="13306425" y="5974358"/>
            <a:ext cx="247650" cy="247650"/>
          </a:xfrm>
          <a:prstGeom prst="ellipse">
            <a:avLst/>
          </a:prstGeom>
          <a:solidFill>
            <a:srgbClr val="04BF63"/>
          </a:solidFill>
          <a:ln/>
        </p:spPr>
      </p:sp>
      <p:sp>
        <p:nvSpPr>
          <p:cNvPr id="104" name="Shape 100"/>
          <p:cNvSpPr/>
          <p:nvPr/>
        </p:nvSpPr>
        <p:spPr>
          <a:xfrm>
            <a:off x="13630275" y="5974358"/>
            <a:ext cx="247650" cy="24765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05" name="Shape 101"/>
          <p:cNvSpPr/>
          <p:nvPr/>
        </p:nvSpPr>
        <p:spPr>
          <a:xfrm>
            <a:off x="13954125" y="5974358"/>
            <a:ext cx="247650" cy="247650"/>
          </a:xfrm>
          <a:prstGeom prst="ellipse">
            <a:avLst/>
          </a:prstGeom>
          <a:solidFill>
            <a:srgbClr val="04BF63"/>
          </a:solidFill>
          <a:ln/>
        </p:spPr>
      </p:sp>
      <p:sp>
        <p:nvSpPr>
          <p:cNvPr id="106" name="Shape 102"/>
          <p:cNvSpPr/>
          <p:nvPr/>
        </p:nvSpPr>
        <p:spPr>
          <a:xfrm>
            <a:off x="14277975" y="5974358"/>
            <a:ext cx="247650" cy="24765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7" name="Shape 103"/>
          <p:cNvSpPr/>
          <p:nvPr/>
        </p:nvSpPr>
        <p:spPr>
          <a:xfrm>
            <a:off x="14601825" y="5974358"/>
            <a:ext cx="247650" cy="247650"/>
          </a:xfrm>
          <a:prstGeom prst="ellipse">
            <a:avLst/>
          </a:prstGeom>
          <a:solidFill>
            <a:srgbClr val="04BF63"/>
          </a:solidFill>
          <a:ln/>
        </p:spPr>
      </p:sp>
      <p:sp>
        <p:nvSpPr>
          <p:cNvPr id="108" name="Shape 104"/>
          <p:cNvSpPr/>
          <p:nvPr/>
        </p:nvSpPr>
        <p:spPr>
          <a:xfrm>
            <a:off x="11687175" y="6298208"/>
            <a:ext cx="247650" cy="247650"/>
          </a:xfrm>
          <a:prstGeom prst="ellipse">
            <a:avLst/>
          </a:prstGeom>
          <a:solidFill>
            <a:srgbClr val="04BF63"/>
          </a:solidFill>
          <a:ln/>
        </p:spPr>
      </p:sp>
      <p:sp>
        <p:nvSpPr>
          <p:cNvPr id="109" name="Shape 105"/>
          <p:cNvSpPr/>
          <p:nvPr/>
        </p:nvSpPr>
        <p:spPr>
          <a:xfrm>
            <a:off x="12011025" y="6298208"/>
            <a:ext cx="247650" cy="24765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10" name="Shape 106"/>
          <p:cNvSpPr/>
          <p:nvPr/>
        </p:nvSpPr>
        <p:spPr>
          <a:xfrm>
            <a:off x="12334875" y="6298208"/>
            <a:ext cx="247650" cy="247650"/>
          </a:xfrm>
          <a:prstGeom prst="ellipse">
            <a:avLst/>
          </a:prstGeom>
          <a:solidFill>
            <a:srgbClr val="04BF63"/>
          </a:solidFill>
          <a:ln/>
        </p:spPr>
      </p:sp>
      <p:sp>
        <p:nvSpPr>
          <p:cNvPr id="111" name="Shape 107"/>
          <p:cNvSpPr/>
          <p:nvPr/>
        </p:nvSpPr>
        <p:spPr>
          <a:xfrm>
            <a:off x="12658725" y="6298208"/>
            <a:ext cx="247650" cy="24765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2" name="Shape 108"/>
          <p:cNvSpPr/>
          <p:nvPr/>
        </p:nvSpPr>
        <p:spPr>
          <a:xfrm>
            <a:off x="12982575" y="6298208"/>
            <a:ext cx="247650" cy="247650"/>
          </a:xfrm>
          <a:prstGeom prst="ellipse">
            <a:avLst/>
          </a:prstGeom>
          <a:solidFill>
            <a:srgbClr val="04BF63"/>
          </a:solidFill>
          <a:ln/>
        </p:spPr>
      </p:sp>
      <p:sp>
        <p:nvSpPr>
          <p:cNvPr id="113" name="Shape 109"/>
          <p:cNvSpPr/>
          <p:nvPr/>
        </p:nvSpPr>
        <p:spPr>
          <a:xfrm>
            <a:off x="13306425" y="6298208"/>
            <a:ext cx="247650" cy="24765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14" name="Shape 110"/>
          <p:cNvSpPr/>
          <p:nvPr/>
        </p:nvSpPr>
        <p:spPr>
          <a:xfrm>
            <a:off x="13630275" y="6298208"/>
            <a:ext cx="247650" cy="247650"/>
          </a:xfrm>
          <a:prstGeom prst="ellipse">
            <a:avLst/>
          </a:prstGeom>
          <a:solidFill>
            <a:srgbClr val="04BF63"/>
          </a:solidFill>
          <a:ln/>
        </p:spPr>
      </p:sp>
      <p:sp>
        <p:nvSpPr>
          <p:cNvPr id="115" name="Shape 111"/>
          <p:cNvSpPr/>
          <p:nvPr/>
        </p:nvSpPr>
        <p:spPr>
          <a:xfrm>
            <a:off x="13954125" y="6298208"/>
            <a:ext cx="247650" cy="24765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6" name="Shape 112"/>
          <p:cNvSpPr/>
          <p:nvPr/>
        </p:nvSpPr>
        <p:spPr>
          <a:xfrm>
            <a:off x="14277975" y="6298208"/>
            <a:ext cx="247650" cy="247650"/>
          </a:xfrm>
          <a:prstGeom prst="ellipse">
            <a:avLst/>
          </a:prstGeom>
          <a:solidFill>
            <a:srgbClr val="04BF63"/>
          </a:solidFill>
          <a:ln/>
        </p:spPr>
      </p:sp>
      <p:sp>
        <p:nvSpPr>
          <p:cNvPr id="117" name="Shape 113"/>
          <p:cNvSpPr/>
          <p:nvPr/>
        </p:nvSpPr>
        <p:spPr>
          <a:xfrm>
            <a:off x="14601825" y="6298208"/>
            <a:ext cx="247650" cy="24765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18" name="Text 114"/>
          <p:cNvSpPr/>
          <p:nvPr/>
        </p:nvSpPr>
        <p:spPr>
          <a:xfrm>
            <a:off x="9683750" y="7547769"/>
            <a:ext cx="7384225" cy="635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Buena para imágenes: repetir la misma operación sobre millones de píxeles. A eso se le llama paralelismo de datos.</a:t>
            </a:r>
            <a:endParaRPr lang="en-US" sz="1875" dirty="0"/>
          </a:p>
        </p:txBody>
      </p:sp>
      <p:sp>
        <p:nvSpPr>
          <p:cNvPr id="119" name="Shape 115"/>
          <p:cNvSpPr/>
          <p:nvPr/>
        </p:nvSpPr>
        <p:spPr>
          <a:xfrm>
            <a:off x="1047750" y="8741569"/>
            <a:ext cx="16192500" cy="9525"/>
          </a:xfrm>
          <a:prstGeom prst="rect">
            <a:avLst/>
          </a:prstGeom>
          <a:solidFill>
            <a:srgbClr val="D1D5DB">
              <a:alpha val="60000"/>
            </a:srgbClr>
          </a:solidFill>
          <a:ln/>
        </p:spPr>
      </p:sp>
      <p:pic>
        <p:nvPicPr>
          <p:cNvPr id="1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7750" y="9203135"/>
            <a:ext cx="304800" cy="304800"/>
          </a:xfrm>
          <a:prstGeom prst="rect">
            <a:avLst/>
          </a:prstGeom>
        </p:spPr>
      </p:pic>
      <p:sp>
        <p:nvSpPr>
          <p:cNvPr id="121" name="Text 116"/>
          <p:cNvSpPr/>
          <p:nvPr/>
        </p:nvSpPr>
        <p:spPr>
          <a:xfrm>
            <a:off x="1543050" y="8957469"/>
            <a:ext cx="16474014" cy="3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38"/>
              </a:lnSpc>
              <a:buNone/>
            </a:pPr>
            <a:r>
              <a:rPr lang="en-US" sz="2025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importa? El hardware que elijas define lo que tu robot puede hacer: qué tan rápido ve, decide y reacciona.</a:t>
            </a:r>
            <a:endParaRPr lang="en-US" sz="2025" dirty="0"/>
          </a:p>
        </p:txBody>
      </p:sp>
      <p:sp>
        <p:nvSpPr>
          <p:cNvPr id="122" name="Text 117"/>
          <p:cNvSpPr/>
          <p:nvPr/>
        </p:nvSpPr>
        <p:spPr>
          <a:xfrm>
            <a:off x="1543050" y="9393635"/>
            <a:ext cx="16474014" cy="3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38"/>
              </a:lnSpc>
              <a:buNone/>
            </a:pPr>
            <a:r>
              <a:rPr lang="en-US" sz="202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pensar: una foto de tu celular tiene 12 millones de píxeles. ¿Quién la procesa mejor, la CPU o la GPU? ¿Por qué?</a:t>
            </a:r>
            <a:endParaRPr lang="en-US" sz="20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571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04B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computing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971550"/>
            <a:ext cx="17811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953"/>
              </a:lnSpc>
              <a:buNone/>
            </a:pPr>
            <a:r>
              <a:rPr lang="en-US" sz="4500" b="1" spc="-135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cómputo a bordo se paga en vatios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47750" y="1733550"/>
            <a:ext cx="12753975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computing </a:t>
            </a:r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 procesar los datos ahí mismo, en el dispositivo, sin enviarlos a un servidor lejano. El límite es la energía: un </a:t>
            </a:r>
            <a:pPr algn="l" indent="0" marL="0">
              <a:lnSpc>
                <a:spcPct val="126875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vatio (W) </a:t>
            </a:r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mide cuánta energía se consume por segundo.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47750" y="3160216"/>
            <a:ext cx="8486775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Potencia disponible para cómputo, en contexto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047750" y="3795217"/>
            <a:ext cx="403918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 de centro de datos</a:t>
            </a:r>
            <a:endParaRPr lang="en-US" sz="2025" dirty="0"/>
          </a:p>
        </p:txBody>
      </p:sp>
      <p:sp>
        <p:nvSpPr>
          <p:cNvPr id="7" name="Text 5"/>
          <p:cNvSpPr/>
          <p:nvPr/>
        </p:nvSpPr>
        <p:spPr>
          <a:xfrm>
            <a:off x="7869535" y="3807916"/>
            <a:ext cx="969665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~700 W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1047750" y="4233367"/>
            <a:ext cx="7715250" cy="95250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/>
        </p:spPr>
      </p:sp>
      <p:sp>
        <p:nvSpPr>
          <p:cNvPr id="9" name="Shape 7"/>
          <p:cNvSpPr/>
          <p:nvPr/>
        </p:nvSpPr>
        <p:spPr>
          <a:xfrm>
            <a:off x="1047750" y="4233367"/>
            <a:ext cx="7715250" cy="9525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/>
        </p:spPr>
      </p:sp>
      <p:sp>
        <p:nvSpPr>
          <p:cNvPr id="10" name="Text 8"/>
          <p:cNvSpPr/>
          <p:nvPr/>
        </p:nvSpPr>
        <p:spPr>
          <a:xfrm>
            <a:off x="1047750" y="4652467"/>
            <a:ext cx="301315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Laptop de desarrollo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8012510" y="4665166"/>
            <a:ext cx="826691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~60 W</a:t>
            </a:r>
            <a:endParaRPr lang="en-US" sz="2025" dirty="0"/>
          </a:p>
        </p:txBody>
      </p:sp>
      <p:sp>
        <p:nvSpPr>
          <p:cNvPr id="12" name="Shape 10"/>
          <p:cNvSpPr/>
          <p:nvPr/>
        </p:nvSpPr>
        <p:spPr>
          <a:xfrm>
            <a:off x="1047750" y="5090617"/>
            <a:ext cx="7715250" cy="95250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/>
        </p:spPr>
      </p:sp>
      <p:sp>
        <p:nvSpPr>
          <p:cNvPr id="13" name="Shape 11"/>
          <p:cNvSpPr/>
          <p:nvPr/>
        </p:nvSpPr>
        <p:spPr>
          <a:xfrm>
            <a:off x="1047750" y="5090617"/>
            <a:ext cx="2623145" cy="95250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/>
        </p:spPr>
      </p:sp>
      <p:sp>
        <p:nvSpPr>
          <p:cNvPr id="14" name="Text 12"/>
          <p:cNvSpPr/>
          <p:nvPr/>
        </p:nvSpPr>
        <p:spPr>
          <a:xfrm>
            <a:off x="1047750" y="5509717"/>
            <a:ext cx="432262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Computador de Perseverance</a:t>
            </a:r>
            <a:endParaRPr lang="en-US" sz="2025" dirty="0"/>
          </a:p>
        </p:txBody>
      </p:sp>
      <p:sp>
        <p:nvSpPr>
          <p:cNvPr id="15" name="Text 13"/>
          <p:cNvSpPr/>
          <p:nvPr/>
        </p:nvSpPr>
        <p:spPr>
          <a:xfrm>
            <a:off x="8012510" y="5522416"/>
            <a:ext cx="826691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4B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 W</a:t>
            </a:r>
            <a:endParaRPr lang="en-US" sz="2025" dirty="0"/>
          </a:p>
        </p:txBody>
      </p:sp>
      <p:sp>
        <p:nvSpPr>
          <p:cNvPr id="16" name="Shape 14"/>
          <p:cNvSpPr/>
          <p:nvPr/>
        </p:nvSpPr>
        <p:spPr>
          <a:xfrm>
            <a:off x="1047750" y="5947867"/>
            <a:ext cx="7715250" cy="95250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/>
        </p:spPr>
      </p:sp>
      <p:sp>
        <p:nvSpPr>
          <p:cNvPr id="17" name="Shape 15"/>
          <p:cNvSpPr/>
          <p:nvPr/>
        </p:nvSpPr>
        <p:spPr>
          <a:xfrm>
            <a:off x="1047750" y="5947867"/>
            <a:ext cx="694333" cy="95250"/>
          </a:xfrm>
          <a:prstGeom prst="roundRect">
            <a:avLst>
              <a:gd name="adj" fmla="val 50000"/>
            </a:avLst>
          </a:prstGeom>
          <a:solidFill>
            <a:srgbClr val="04BF63"/>
          </a:solidFill>
          <a:ln/>
        </p:spPr>
      </p:sp>
      <p:sp>
        <p:nvSpPr>
          <p:cNvPr id="18" name="Text 16"/>
          <p:cNvSpPr/>
          <p:nvPr/>
        </p:nvSpPr>
        <p:spPr>
          <a:xfrm>
            <a:off x="1047750" y="6366967"/>
            <a:ext cx="373708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Dron pequeño (Ingenuity)</a:t>
            </a:r>
            <a:endParaRPr lang="en-US" sz="2025" dirty="0"/>
          </a:p>
        </p:txBody>
      </p:sp>
      <p:sp>
        <p:nvSpPr>
          <p:cNvPr id="19" name="Text 17"/>
          <p:cNvSpPr/>
          <p:nvPr/>
        </p:nvSpPr>
        <p:spPr>
          <a:xfrm>
            <a:off x="8155583" y="6379666"/>
            <a:ext cx="683617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4B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 W</a:t>
            </a:r>
            <a:endParaRPr lang="en-US" sz="2025" dirty="0"/>
          </a:p>
        </p:txBody>
      </p:sp>
      <p:sp>
        <p:nvSpPr>
          <p:cNvPr id="20" name="Shape 18"/>
          <p:cNvSpPr/>
          <p:nvPr/>
        </p:nvSpPr>
        <p:spPr>
          <a:xfrm>
            <a:off x="1047750" y="6805117"/>
            <a:ext cx="7715250" cy="95250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/>
        </p:spPr>
      </p:sp>
      <p:sp>
        <p:nvSpPr>
          <p:cNvPr id="21" name="Shape 19"/>
          <p:cNvSpPr/>
          <p:nvPr/>
        </p:nvSpPr>
        <p:spPr>
          <a:xfrm>
            <a:off x="1047750" y="6805117"/>
            <a:ext cx="308570" cy="95250"/>
          </a:xfrm>
          <a:prstGeom prst="roundRect">
            <a:avLst>
              <a:gd name="adj" fmla="val 50000"/>
            </a:avLst>
          </a:prstGeom>
          <a:solidFill>
            <a:srgbClr val="04BF63"/>
          </a:solidFill>
          <a:ln/>
        </p:spPr>
      </p:sp>
      <p:sp>
        <p:nvSpPr>
          <p:cNvPr id="22" name="Shape 20"/>
          <p:cNvSpPr/>
          <p:nvPr/>
        </p:nvSpPr>
        <p:spPr>
          <a:xfrm>
            <a:off x="9525000" y="3160216"/>
            <a:ext cx="7715250" cy="1670447"/>
          </a:xfrm>
          <a:prstGeom prst="roundRect">
            <a:avLst>
              <a:gd name="adj" fmla="val 9123"/>
            </a:avLst>
          </a:prstGeom>
          <a:ln w="6350">
            <a:solidFill>
              <a:srgbClr val="D1D5DB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38100" dir="5400000">
              <a:srgbClr val="000000">
                <a:alpha val="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855201" y="3709690"/>
            <a:ext cx="571500" cy="571500"/>
          </a:xfrm>
          <a:prstGeom prst="roundRect">
            <a:avLst>
              <a:gd name="adj" fmla="val 20000"/>
            </a:avLst>
          </a:prstGeom>
          <a:solidFill>
            <a:srgbClr val="04BF63">
              <a:alpha val="10000"/>
            </a:srgbClr>
          </a:solidFill>
          <a:ln/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98076" y="3852565"/>
            <a:ext cx="285750" cy="28575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0617201" y="3452317"/>
            <a:ext cx="6481636" cy="11243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38"/>
              </a:lnSpc>
              <a:buNone/>
            </a:pPr>
            <a:r>
              <a:rPr lang="en-US" sz="202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CPU del rover corre a </a:t>
            </a:r>
            <a:pPr algn="l" indent="0" marL="0">
              <a:lnSpc>
                <a:spcPct val="120638"/>
              </a:lnSpc>
              <a:buNone/>
            </a:pPr>
            <a:r>
              <a:rPr lang="en-US" sz="2025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MHz </a:t>
            </a:r>
            <a:pPr algn="l" indent="0" marL="0">
              <a:lnSpc>
                <a:spcPct val="120638"/>
              </a:lnSpc>
              <a:buNone/>
            </a:pPr>
            <a:r>
              <a:rPr lang="en-US" sz="202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tu celular es unas 15 veces más rápido, porque puede gastar más energía.</a:t>
            </a:r>
            <a:endParaRPr lang="en-US" sz="2025" dirty="0"/>
          </a:p>
        </p:txBody>
      </p:sp>
      <p:sp>
        <p:nvSpPr>
          <p:cNvPr id="26" name="Shape 23"/>
          <p:cNvSpPr/>
          <p:nvPr/>
        </p:nvSpPr>
        <p:spPr>
          <a:xfrm>
            <a:off x="9525000" y="5078313"/>
            <a:ext cx="7715250" cy="1664097"/>
          </a:xfrm>
          <a:prstGeom prst="roundRect">
            <a:avLst>
              <a:gd name="adj" fmla="val 9158"/>
            </a:avLst>
          </a:prstGeom>
          <a:ln w="6350">
            <a:solidFill>
              <a:srgbClr val="D1D5DB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38100" dir="5400000">
              <a:srgbClr val="000000">
                <a:alpha val="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9855201" y="5624612"/>
            <a:ext cx="571500" cy="571500"/>
          </a:xfrm>
          <a:prstGeom prst="roundRect">
            <a:avLst>
              <a:gd name="adj" fmla="val 20000"/>
            </a:avLst>
          </a:prstGeom>
          <a:solidFill>
            <a:srgbClr val="04BF63">
              <a:alpha val="10000"/>
            </a:srgbClr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98076" y="5767487"/>
            <a:ext cx="285750" cy="28575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10617201" y="5370413"/>
            <a:ext cx="6481636" cy="11179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38"/>
              </a:lnSpc>
              <a:buNone/>
            </a:pPr>
            <a:r>
              <a:rPr lang="en-US" sz="202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Casi toda la energía que usa un chip termina en calor, y en el espacio no hay aire ni ventiladores para sacarlo.</a:t>
            </a:r>
            <a:endParaRPr lang="en-US" sz="2025" dirty="0"/>
          </a:p>
        </p:txBody>
      </p:sp>
      <p:sp>
        <p:nvSpPr>
          <p:cNvPr id="30" name="Shape 26"/>
          <p:cNvSpPr/>
          <p:nvPr/>
        </p:nvSpPr>
        <p:spPr>
          <a:xfrm>
            <a:off x="9525000" y="6990061"/>
            <a:ext cx="7715250" cy="1304131"/>
          </a:xfrm>
          <a:prstGeom prst="roundRect">
            <a:avLst>
              <a:gd name="adj" fmla="val 11686"/>
            </a:avLst>
          </a:prstGeom>
          <a:ln w="6350">
            <a:solidFill>
              <a:srgbClr val="D1D5DB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38100" dir="5400000">
              <a:srgbClr val="000000">
                <a:alpha val="5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9855201" y="7356376"/>
            <a:ext cx="571500" cy="571500"/>
          </a:xfrm>
          <a:prstGeom prst="roundRect">
            <a:avLst>
              <a:gd name="adj" fmla="val 20000"/>
            </a:avLst>
          </a:prstGeom>
          <a:solidFill>
            <a:srgbClr val="04BF63">
              <a:alpha val="10000"/>
            </a:srgbClr>
          </a:solidFill>
          <a:ln/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98076" y="7499251"/>
            <a:ext cx="285750" cy="28575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10617201" y="7282160"/>
            <a:ext cx="6481636" cy="7580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38"/>
              </a:lnSpc>
              <a:buNone/>
            </a:pPr>
            <a:r>
              <a:rPr lang="en-US" sz="202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dilema: un modelo más inteligente gasta más batería y responde más lento. Hay que elegir.</a:t>
            </a:r>
            <a:endParaRPr lang="en-US" sz="2025" dirty="0"/>
          </a:p>
        </p:txBody>
      </p:sp>
      <p:sp>
        <p:nvSpPr>
          <p:cNvPr id="34" name="Shape 29"/>
          <p:cNvSpPr/>
          <p:nvPr/>
        </p:nvSpPr>
        <p:spPr>
          <a:xfrm>
            <a:off x="1047750" y="8764389"/>
            <a:ext cx="16192500" cy="9525"/>
          </a:xfrm>
          <a:prstGeom prst="rect">
            <a:avLst/>
          </a:prstGeom>
          <a:solidFill>
            <a:srgbClr val="D1D5DB">
              <a:alpha val="60000"/>
            </a:srgbClr>
          </a:solidFill>
          <a:ln/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47750" y="9214545"/>
            <a:ext cx="304800" cy="30480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1543050" y="8980289"/>
            <a:ext cx="16168116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217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pensar: con solo 10 W disponibles, ¿preferirías que tu robot vea con más detalle o que reaccione más rápido? ¿Por qué?</a:t>
            </a:r>
            <a:endParaRPr lang="en-US" sz="21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4BF63">
                  <a:alpha val="12000"/>
                </a:srgbClr>
              </a:gs>
              <a:gs pos="65000">
                <a:srgbClr val="04BF63">
                  <a:alpha val="0"/>
                </a:srgbClr>
              </a:gs>
            </a:gsLst>
            <a:path path="circle">
              <a:fillToRect l="20000" t="80000" r="80000" b="2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047750" y="85725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04B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de software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314450"/>
            <a:ext cx="17811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953"/>
              </a:lnSpc>
              <a:buNone/>
            </a:pPr>
            <a:r>
              <a:rPr lang="en-US" sz="4500" b="1" spc="-135" kern="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Cliente-servidor: nuestro centro de control local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047750" y="2152650"/>
            <a:ext cx="12753975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</a:t>
            </a:r>
            <a:pPr algn="l" indent="0" marL="0">
              <a:lnSpc>
                <a:spcPct val="126875"/>
              </a:lnSpc>
              <a:buNone/>
            </a:pPr>
            <a:r>
              <a:rPr lang="en-US" sz="210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 </a:t>
            </a:r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ofrece datos y servicios; un </a:t>
            </a:r>
            <a:pPr algn="l" indent="0" marL="0">
              <a:lnSpc>
                <a:spcPct val="126875"/>
              </a:lnSpc>
              <a:buNone/>
            </a:pPr>
            <a:r>
              <a:rPr lang="en-US" sz="210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</a:t>
            </a:r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pide. En nuestro proyecto, el robot será el servidor y tu laptop, el cliente — igual que un centro de control, pero en la red del salón.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047750" y="3594100"/>
            <a:ext cx="16192500" cy="4140200"/>
          </a:xfrm>
          <a:prstGeom prst="roundRect">
            <a:avLst>
              <a:gd name="adj" fmla="val 3681"/>
            </a:avLst>
          </a:prstGeom>
          <a:solidFill>
            <a:srgbClr val="0A0A0A">
              <a:alpha val="75000"/>
            </a:srgbClr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09850" y="4286647"/>
            <a:ext cx="1155700" cy="1155700"/>
          </a:xfrm>
          <a:prstGeom prst="roundRect">
            <a:avLst>
              <a:gd name="adj" fmla="val 13187"/>
            </a:avLst>
          </a:prstGeom>
          <a:solidFill>
            <a:srgbClr val="04BF63">
              <a:alpha val="10000"/>
            </a:srgbClr>
          </a:solidFill>
          <a:ln w="6350">
            <a:solidFill>
              <a:srgbClr val="04BF63">
                <a:alpha val="40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21000" y="4597797"/>
            <a:ext cx="533400" cy="5334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171303" y="5594747"/>
            <a:ext cx="2236073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· servidor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1617980" y="6077347"/>
            <a:ext cx="3139440" cy="1002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7733"/>
              </a:lnSpc>
              <a:buNone/>
            </a:pPr>
            <a:r>
              <a:rPr lang="en-US" sz="187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Sensores, cámara y motores expuestos como servicios</a:t>
            </a:r>
            <a:endParaRPr lang="en-US" sz="1875" dirty="0"/>
          </a:p>
        </p:txBody>
      </p:sp>
      <p:sp>
        <p:nvSpPr>
          <p:cNvPr id="11" name="Shape 8"/>
          <p:cNvSpPr/>
          <p:nvPr/>
        </p:nvSpPr>
        <p:spPr>
          <a:xfrm>
            <a:off x="5092700" y="4248150"/>
            <a:ext cx="7721600" cy="19050"/>
          </a:xfrm>
          <a:prstGeom prst="rect">
            <a:avLst/>
          </a:prstGeom>
          <a:solidFill>
            <a:srgbClr val="6B728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947650" y="4133850"/>
            <a:ext cx="247650" cy="2476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092700" y="4476750"/>
            <a:ext cx="8912860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· comandos puntuales</a:t>
            </a:r>
            <a:endParaRPr lang="en-US" sz="1950" dirty="0"/>
          </a:p>
        </p:txBody>
      </p:sp>
      <p:sp>
        <p:nvSpPr>
          <p:cNvPr id="14" name="Text 10"/>
          <p:cNvSpPr/>
          <p:nvPr/>
        </p:nvSpPr>
        <p:spPr>
          <a:xfrm>
            <a:off x="5092700" y="4883150"/>
            <a:ext cx="8345678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pedir una página web: preguntas una vez y te responden una vez ("avanza", "gira", "foto")</a:t>
            </a:r>
            <a:endParaRPr lang="en-US" sz="18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92700" y="5873750"/>
            <a:ext cx="247650" cy="24765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73700" y="5988050"/>
            <a:ext cx="7340600" cy="19050"/>
          </a:xfrm>
          <a:prstGeom prst="rect">
            <a:avLst/>
          </a:prstGeom>
          <a:blipFill>
            <a:blip r:embed="rId7"/>
            <a:tile tx="0" ty="0" sx="100000" sy="100000" flip="none" algn="tl"/>
          </a:blip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947650" y="5873750"/>
            <a:ext cx="247650" cy="24765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092700" y="6216650"/>
            <a:ext cx="8912860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4B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 · telemetría continua</a:t>
            </a:r>
            <a:endParaRPr lang="en-US" sz="1950" dirty="0"/>
          </a:p>
        </p:txBody>
      </p:sp>
      <p:sp>
        <p:nvSpPr>
          <p:cNvPr id="19" name="Text 13"/>
          <p:cNvSpPr/>
          <p:nvPr/>
        </p:nvSpPr>
        <p:spPr>
          <a:xfrm>
            <a:off x="5092700" y="6623050"/>
            <a:ext cx="8345678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una llamada que queda abierta: posición, batería y video fluyen sin pedirlos cada vez</a:t>
            </a:r>
            <a:endParaRPr lang="en-US" sz="1800" dirty="0"/>
          </a:p>
        </p:txBody>
      </p:sp>
      <p:sp>
        <p:nvSpPr>
          <p:cNvPr id="20" name="Shape 14"/>
          <p:cNvSpPr/>
          <p:nvPr/>
        </p:nvSpPr>
        <p:spPr>
          <a:xfrm>
            <a:off x="14522451" y="4447381"/>
            <a:ext cx="1155700" cy="1155700"/>
          </a:xfrm>
          <a:prstGeom prst="roundRect">
            <a:avLst>
              <a:gd name="adj" fmla="val 13187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4833600" y="4758531"/>
            <a:ext cx="533400" cy="5334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4123294" y="5755481"/>
            <a:ext cx="2149416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Laptop · cliente</a:t>
            </a:r>
            <a:endParaRPr lang="en-US" sz="2250" dirty="0"/>
          </a:p>
        </p:txBody>
      </p:sp>
      <p:sp>
        <p:nvSpPr>
          <p:cNvPr id="23" name="Text 16"/>
          <p:cNvSpPr/>
          <p:nvPr/>
        </p:nvSpPr>
        <p:spPr>
          <a:xfrm>
            <a:off x="13530580" y="6238081"/>
            <a:ext cx="3139440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7733"/>
              </a:lnSpc>
              <a:buNone/>
            </a:pPr>
            <a:r>
              <a:rPr lang="en-US" sz="187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de telemetría y envío de comandos</a:t>
            </a:r>
            <a:endParaRPr lang="en-US" sz="1875" dirty="0"/>
          </a:p>
        </p:txBody>
      </p:sp>
      <p:sp>
        <p:nvSpPr>
          <p:cNvPr id="24" name="Shape 17"/>
          <p:cNvSpPr/>
          <p:nvPr/>
        </p:nvSpPr>
        <p:spPr>
          <a:xfrm>
            <a:off x="1047750" y="8554839"/>
            <a:ext cx="1619250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47750" y="9081195"/>
            <a:ext cx="304800" cy="3048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543050" y="8846939"/>
            <a:ext cx="16168116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2175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pensar: ¿por qué el video en vivo conviene enviarlo por la "llamada abierta" (WebSocket) y no pidiendo foto por foto (HTTP)?</a:t>
            </a:r>
            <a:endParaRPr lang="en-US" sz="21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04B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Metodología de desarrollo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14450"/>
            <a:ext cx="17811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953"/>
              </a:lnSpc>
              <a:buNone/>
            </a:pPr>
            <a:r>
              <a:rPr lang="en-US" sz="4500" b="1" spc="-135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 el mínimo que vuele, y luego iterar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47750" y="2152650"/>
            <a:ext cx="12753975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</a:t>
            </a:r>
            <a:pPr algn="l" indent="0" marL="0">
              <a:lnSpc>
                <a:spcPct val="126875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</a:t>
            </a:r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(producto mínimo viable) es la versión más simple que ya funciona de verdad. No se construye todo de una vez: se hace algo pequeño que funcione y se mejora en cada vuelta.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47750" y="3345061"/>
            <a:ext cx="8486775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 de iteración rápida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1047750" y="3903861"/>
            <a:ext cx="7715250" cy="2063750"/>
          </a:xfrm>
          <a:prstGeom prst="roundRect">
            <a:avLst>
              <a:gd name="adj" fmla="val 7385"/>
            </a:avLst>
          </a:prstGeom>
          <a:ln w="6350">
            <a:solidFill>
              <a:srgbClr val="D1D5DB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38100" dir="54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65064" y="4329311"/>
            <a:ext cx="800100" cy="800100"/>
          </a:xfrm>
          <a:prstGeom prst="ellipse">
            <a:avLst/>
          </a:prstGeom>
          <a:solidFill>
            <a:srgbClr val="04BF63">
              <a:alpha val="10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84139" y="4548386"/>
            <a:ext cx="361950" cy="3619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97000" y="5243711"/>
            <a:ext cx="1012527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Diseñar</a:t>
            </a:r>
            <a:endParaRPr lang="en-US" sz="1875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99246" y="4792861"/>
            <a:ext cx="285750" cy="28575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534668" y="4329311"/>
            <a:ext cx="800100" cy="800100"/>
          </a:xfrm>
          <a:prstGeom prst="ellipse">
            <a:avLst/>
          </a:prstGeom>
          <a:solidFill>
            <a:srgbClr val="04BF63">
              <a:alpha val="10000"/>
            </a:srgbClr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53743" y="4548386"/>
            <a:ext cx="361950" cy="3619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350816" y="5243711"/>
            <a:ext cx="1244005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</a:t>
            </a:r>
            <a:endParaRPr lang="en-US" sz="1875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84539" y="4792861"/>
            <a:ext cx="285750" cy="28575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5547817" y="4329311"/>
            <a:ext cx="800100" cy="800100"/>
          </a:xfrm>
          <a:prstGeom prst="ellipse">
            <a:avLst/>
          </a:prstGeom>
          <a:solidFill>
            <a:srgbClr val="04BF63">
              <a:alpha val="10000"/>
            </a:srgbClr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766892" y="4548386"/>
            <a:ext cx="361950" cy="36195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536109" y="5243711"/>
            <a:ext cx="899716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Probar</a:t>
            </a:r>
            <a:endParaRPr lang="en-US" sz="1875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725543" y="4792861"/>
            <a:ext cx="285750" cy="285750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7495381" y="4329311"/>
            <a:ext cx="800100" cy="800100"/>
          </a:xfrm>
          <a:prstGeom prst="ellipse">
            <a:avLst/>
          </a:prstGeom>
          <a:solidFill>
            <a:srgbClr val="04BF63"/>
          </a:solidFill>
          <a:ln/>
          <a:effectLst>
            <a:outerShdw sx="100000" sy="100000" kx="0" ky="0" algn="bl" rotWithShape="0" blurRad="142875" dist="95250" dir="5400000">
              <a:srgbClr val="04BF63">
                <a:alpha val="25000"/>
              </a:srgbClr>
            </a:outerShdw>
          </a:effectLst>
        </p:spPr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714456" y="4548386"/>
            <a:ext cx="361950" cy="36195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7377113" y="5243711"/>
            <a:ext cx="1112838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Corregir</a:t>
            </a:r>
            <a:endParaRPr lang="en-US" sz="1875" dirty="0"/>
          </a:p>
        </p:txBody>
      </p:sp>
      <p:sp>
        <p:nvSpPr>
          <p:cNvPr id="22" name="Text 13"/>
          <p:cNvSpPr/>
          <p:nvPr/>
        </p:nvSpPr>
        <p:spPr>
          <a:xfrm>
            <a:off x="1047750" y="6215261"/>
            <a:ext cx="7946708" cy="7562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23"/>
              </a:lnSpc>
              <a:buNone/>
            </a:pPr>
            <a:r>
              <a:rPr lang="en-US" sz="1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regla: cada versión funciona completa antes de agregarle algo nuevo.</a:t>
            </a:r>
            <a:endParaRPr lang="en-US" sz="1950" dirty="0"/>
          </a:p>
        </p:txBody>
      </p:sp>
      <p:sp>
        <p:nvSpPr>
          <p:cNvPr id="23" name="Text 14"/>
          <p:cNvSpPr/>
          <p:nvPr/>
        </p:nvSpPr>
        <p:spPr>
          <a:xfrm>
            <a:off x="9525000" y="3345061"/>
            <a:ext cx="8486775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MVP en la industria aeroespacial</a:t>
            </a:r>
            <a:endParaRPr lang="en-US" sz="1950" dirty="0"/>
          </a:p>
        </p:txBody>
      </p:sp>
      <p:sp>
        <p:nvSpPr>
          <p:cNvPr id="24" name="Shape 15"/>
          <p:cNvSpPr/>
          <p:nvPr/>
        </p:nvSpPr>
        <p:spPr>
          <a:xfrm>
            <a:off x="9525000" y="3903861"/>
            <a:ext cx="7715250" cy="2161381"/>
          </a:xfrm>
          <a:prstGeom prst="roundRect">
            <a:avLst>
              <a:gd name="adj" fmla="val 7051"/>
            </a:avLst>
          </a:prstGeom>
          <a:ln w="6350">
            <a:solidFill>
              <a:srgbClr val="D1D5DB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38100" dir="5400000">
              <a:srgbClr val="000000">
                <a:alpha val="5000"/>
              </a:srgbClr>
            </a:outerShdw>
          </a:effectLst>
        </p:spPr>
      </p:sp>
      <p:sp>
        <p:nvSpPr>
          <p:cNvPr id="25" name="Text 16"/>
          <p:cNvSpPr/>
          <p:nvPr/>
        </p:nvSpPr>
        <p:spPr>
          <a:xfrm>
            <a:off x="9912351" y="4253111"/>
            <a:ext cx="2041366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588"/>
              </a:lnSpc>
              <a:buNone/>
            </a:pPr>
            <a:r>
              <a:rPr lang="en-US" sz="4800" b="1" spc="-144" kern="0" dirty="0">
                <a:solidFill>
                  <a:srgbClr val="04B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→ 72</a:t>
            </a:r>
            <a:endParaRPr lang="en-US" sz="4800" dirty="0"/>
          </a:p>
        </p:txBody>
      </p:sp>
      <p:sp>
        <p:nvSpPr>
          <p:cNvPr id="26" name="Text 17"/>
          <p:cNvSpPr/>
          <p:nvPr/>
        </p:nvSpPr>
        <p:spPr>
          <a:xfrm>
            <a:off x="9912351" y="4996061"/>
            <a:ext cx="7148767" cy="7580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38"/>
              </a:lnSpc>
              <a:buNone/>
            </a:pPr>
            <a:r>
              <a:rPr lang="en-US" sz="202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Ingenuity se diseñó para 5 vuelos de prueba. Ese "mínimo viable" terminó volando 72 veces en Marte.</a:t>
            </a:r>
            <a:endParaRPr lang="en-US" sz="2025" dirty="0"/>
          </a:p>
        </p:txBody>
      </p:sp>
      <p:sp>
        <p:nvSpPr>
          <p:cNvPr id="27" name="Shape 18"/>
          <p:cNvSpPr/>
          <p:nvPr/>
        </p:nvSpPr>
        <p:spPr>
          <a:xfrm>
            <a:off x="9525000" y="6312893"/>
            <a:ext cx="7715250" cy="1778397"/>
          </a:xfrm>
          <a:prstGeom prst="roundRect">
            <a:avLst>
              <a:gd name="adj" fmla="val 8570"/>
            </a:avLst>
          </a:prstGeom>
          <a:ln w="6350">
            <a:solidFill>
              <a:srgbClr val="D1D5DB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38100" dir="5400000">
              <a:srgbClr val="000000">
                <a:alpha val="5000"/>
              </a:srgbClr>
            </a:outerShdw>
          </a:effectLst>
        </p:spPr>
      </p:sp>
      <p:sp>
        <p:nvSpPr>
          <p:cNvPr id="28" name="Text 19"/>
          <p:cNvSpPr/>
          <p:nvPr/>
        </p:nvSpPr>
        <p:spPr>
          <a:xfrm>
            <a:off x="9912351" y="6662142"/>
            <a:ext cx="7148767" cy="11179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38"/>
              </a:lnSpc>
              <a:buNone/>
            </a:pPr>
            <a:r>
              <a:rPr lang="en-US" sz="202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SpaceX prueba cohetes prototipo sabiendo que algunos fallarán: descubrir un error temprano cuesta mucho menos que descubrirlo en plena misión.</a:t>
            </a:r>
            <a:endParaRPr lang="en-US" sz="2025" dirty="0"/>
          </a:p>
        </p:txBody>
      </p:sp>
      <p:sp>
        <p:nvSpPr>
          <p:cNvPr id="29" name="Shape 20"/>
          <p:cNvSpPr/>
          <p:nvPr/>
        </p:nvSpPr>
        <p:spPr>
          <a:xfrm>
            <a:off x="1047750" y="8554839"/>
            <a:ext cx="16192500" cy="9525"/>
          </a:xfrm>
          <a:prstGeom prst="rect">
            <a:avLst/>
          </a:prstGeom>
          <a:solidFill>
            <a:srgbClr val="D1D5DB">
              <a:alpha val="60000"/>
            </a:srgbClr>
          </a:solidFill>
          <a:ln/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47750" y="9081195"/>
            <a:ext cx="304800" cy="30480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1543050" y="8846939"/>
            <a:ext cx="16168116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217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pensar: si tu robot debe seguir una línea, ¿cuál sería su MVP? ¿Qué entra en la primera versión y qué se deja para después?</a:t>
            </a:r>
            <a:endParaRPr lang="en-US" sz="21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4BF63">
                  <a:alpha val="14000"/>
                </a:srgbClr>
              </a:gs>
              <a:gs pos="65000">
                <a:srgbClr val="04BF63">
                  <a:alpha val="0"/>
                </a:srgbClr>
              </a:gs>
            </a:gsLst>
            <a:path path="circle">
              <a:fillToRect l="50000" t="100000" r="50000" b="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047750" y="85725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04B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Hoja de ruta · 5 sesiones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314450"/>
            <a:ext cx="17811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953"/>
              </a:lnSpc>
              <a:buNone/>
            </a:pPr>
            <a:r>
              <a:rPr lang="en-US" sz="4500" b="1" spc="-135" kern="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enlace de red al vehículo autónomo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047750" y="2152650"/>
            <a:ext cx="12753975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sesión entrega una pieza que funciona sola y se conecta con la siguiente. Al final, el robot percibe, decide y actúa sin ayuda.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047750" y="4493716"/>
            <a:ext cx="3055541" cy="3038078"/>
          </a:xfrm>
          <a:prstGeom prst="roundRect">
            <a:avLst>
              <a:gd name="adj" fmla="val 5016"/>
            </a:avLst>
          </a:prstGeom>
          <a:solidFill>
            <a:srgbClr val="04BF63">
              <a:alpha val="7000"/>
            </a:srgbClr>
          </a:solidFill>
          <a:ln w="6350">
            <a:solidFill>
              <a:srgbClr val="04BF63">
                <a:alpha val="4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39850" y="4823917"/>
            <a:ext cx="271847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4B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</a:t>
            </a:r>
            <a:endParaRPr lang="en-US" sz="19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39850" y="5255716"/>
            <a:ext cx="381000" cy="3810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39850" y="5789116"/>
            <a:ext cx="2718475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713"/>
              </a:lnSpc>
              <a:buNone/>
            </a:pPr>
            <a:r>
              <a:rPr lang="en-US" sz="2025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Enlace de red</a:t>
            </a:r>
            <a:endParaRPr lang="en-US" sz="2025" dirty="0"/>
          </a:p>
        </p:txBody>
      </p:sp>
      <p:sp>
        <p:nvSpPr>
          <p:cNvPr id="10" name="Text 7"/>
          <p:cNvSpPr/>
          <p:nvPr/>
        </p:nvSpPr>
        <p:spPr>
          <a:xfrm>
            <a:off x="1339850" y="6262985"/>
            <a:ext cx="2547541" cy="655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714"/>
              </a:lnSpc>
              <a:buNone/>
            </a:pPr>
            <a:r>
              <a:rPr lang="en-US" sz="1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Cliente-servidor en red local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331891" y="4493716"/>
            <a:ext cx="3055640" cy="3038078"/>
          </a:xfrm>
          <a:prstGeom prst="roundRect">
            <a:avLst>
              <a:gd name="adj" fmla="val 5016"/>
            </a:avLst>
          </a:prstGeom>
          <a:solidFill>
            <a:srgbClr val="0A0A0A">
              <a:alpha val="75000"/>
            </a:srgbClr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23991" y="4823917"/>
            <a:ext cx="2718584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</a:t>
            </a:r>
            <a:endParaRPr lang="en-US" sz="195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3991" y="5255716"/>
            <a:ext cx="381000" cy="3810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23991" y="5789116"/>
            <a:ext cx="2718584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713"/>
              </a:lnSpc>
              <a:buNone/>
            </a:pPr>
            <a:r>
              <a:rPr lang="en-US" sz="2025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Adquisición de datos</a:t>
            </a:r>
            <a:endParaRPr lang="en-US" sz="2025" dirty="0"/>
          </a:p>
        </p:txBody>
      </p:sp>
      <p:sp>
        <p:nvSpPr>
          <p:cNvPr id="15" name="Text 11"/>
          <p:cNvSpPr/>
          <p:nvPr/>
        </p:nvSpPr>
        <p:spPr>
          <a:xfrm>
            <a:off x="4623991" y="6262985"/>
            <a:ext cx="2547640" cy="655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714"/>
              </a:lnSpc>
              <a:buNone/>
            </a:pPr>
            <a:r>
              <a:rPr lang="en-US" sz="1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Sensores y telemetría en vivo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7616130" y="4493716"/>
            <a:ext cx="3055640" cy="3038078"/>
          </a:xfrm>
          <a:prstGeom prst="roundRect">
            <a:avLst>
              <a:gd name="adj" fmla="val 5016"/>
            </a:avLst>
          </a:prstGeom>
          <a:solidFill>
            <a:srgbClr val="0A0A0A">
              <a:alpha val="75000"/>
            </a:srgbClr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908231" y="4823917"/>
            <a:ext cx="2718584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</a:t>
            </a:r>
            <a:endParaRPr lang="en-US" sz="195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08231" y="5255716"/>
            <a:ext cx="381000" cy="3810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908231" y="5789116"/>
            <a:ext cx="2547640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713"/>
              </a:lnSpc>
              <a:buNone/>
            </a:pPr>
            <a:r>
              <a:rPr lang="en-US" sz="2025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Visión por computador</a:t>
            </a:r>
            <a:endParaRPr lang="en-US" sz="2025" dirty="0"/>
          </a:p>
        </p:txBody>
      </p:sp>
      <p:sp>
        <p:nvSpPr>
          <p:cNvPr id="20" name="Text 15"/>
          <p:cNvSpPr/>
          <p:nvPr/>
        </p:nvSpPr>
        <p:spPr>
          <a:xfrm>
            <a:off x="7908231" y="6584454"/>
            <a:ext cx="2547640" cy="655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714"/>
              </a:lnSpc>
              <a:buNone/>
            </a:pPr>
            <a:r>
              <a:rPr lang="en-US" sz="1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cámara como sensor principal</a:t>
            </a:r>
            <a:endParaRPr lang="en-US" sz="1800" dirty="0"/>
          </a:p>
        </p:txBody>
      </p:sp>
      <p:sp>
        <p:nvSpPr>
          <p:cNvPr id="21" name="Shape 16"/>
          <p:cNvSpPr/>
          <p:nvPr/>
        </p:nvSpPr>
        <p:spPr>
          <a:xfrm>
            <a:off x="10900371" y="4493716"/>
            <a:ext cx="3055640" cy="3038078"/>
          </a:xfrm>
          <a:prstGeom prst="roundRect">
            <a:avLst>
              <a:gd name="adj" fmla="val 5016"/>
            </a:avLst>
          </a:prstGeom>
          <a:solidFill>
            <a:srgbClr val="0A0A0A">
              <a:alpha val="75000"/>
            </a:srgbClr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11192470" y="4823917"/>
            <a:ext cx="2718584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</a:t>
            </a:r>
            <a:endParaRPr lang="en-US" sz="195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192470" y="5255716"/>
            <a:ext cx="381000" cy="3810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1192470" y="5789116"/>
            <a:ext cx="2718584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713"/>
              </a:lnSpc>
              <a:buNone/>
            </a:pPr>
            <a:r>
              <a:rPr lang="en-US" sz="2025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decisor</a:t>
            </a:r>
            <a:endParaRPr lang="en-US" sz="2025" dirty="0"/>
          </a:p>
        </p:txBody>
      </p:sp>
      <p:sp>
        <p:nvSpPr>
          <p:cNvPr id="25" name="Text 19"/>
          <p:cNvSpPr/>
          <p:nvPr/>
        </p:nvSpPr>
        <p:spPr>
          <a:xfrm>
            <a:off x="11192470" y="6262985"/>
            <a:ext cx="2547640" cy="655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714"/>
              </a:lnSpc>
              <a:buNone/>
            </a:pPr>
            <a:r>
              <a:rPr lang="en-US" sz="1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percepción a la acción</a:t>
            </a:r>
            <a:endParaRPr lang="en-US" sz="1800" dirty="0"/>
          </a:p>
        </p:txBody>
      </p:sp>
      <p:sp>
        <p:nvSpPr>
          <p:cNvPr id="26" name="Shape 20"/>
          <p:cNvSpPr/>
          <p:nvPr/>
        </p:nvSpPr>
        <p:spPr>
          <a:xfrm>
            <a:off x="14184611" y="4493716"/>
            <a:ext cx="3055640" cy="3038078"/>
          </a:xfrm>
          <a:prstGeom prst="roundRect">
            <a:avLst>
              <a:gd name="adj" fmla="val 5016"/>
            </a:avLst>
          </a:prstGeom>
          <a:solidFill>
            <a:srgbClr val="0A0A0A">
              <a:alpha val="75000"/>
            </a:srgbClr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14476711" y="4823917"/>
            <a:ext cx="2718584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S5</a:t>
            </a:r>
            <a:endParaRPr lang="en-US" sz="195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476711" y="5255716"/>
            <a:ext cx="381000" cy="38100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4476711" y="5789116"/>
            <a:ext cx="2718584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713"/>
              </a:lnSpc>
              <a:buNone/>
            </a:pPr>
            <a:r>
              <a:rPr lang="en-US" sz="2025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Integración final</a:t>
            </a:r>
            <a:endParaRPr lang="en-US" sz="2025" dirty="0"/>
          </a:p>
        </p:txBody>
      </p:sp>
      <p:sp>
        <p:nvSpPr>
          <p:cNvPr id="30" name="Text 23"/>
          <p:cNvSpPr/>
          <p:nvPr/>
        </p:nvSpPr>
        <p:spPr>
          <a:xfrm>
            <a:off x="14476711" y="6262985"/>
            <a:ext cx="2547640" cy="655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714"/>
              </a:lnSpc>
              <a:buNone/>
            </a:pPr>
            <a:r>
              <a:rPr lang="en-US" sz="1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Misión autónoma completa</a:t>
            </a:r>
            <a:endParaRPr lang="en-US" sz="1800" dirty="0"/>
          </a:p>
        </p:txBody>
      </p:sp>
      <p:sp>
        <p:nvSpPr>
          <p:cNvPr id="31" name="Shape 24"/>
          <p:cNvSpPr/>
          <p:nvPr/>
        </p:nvSpPr>
        <p:spPr>
          <a:xfrm>
            <a:off x="1047750" y="9328150"/>
            <a:ext cx="1619250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2026-09-12T14:46:57Z</dcterms:created>
  <dcterms:modified xsi:type="dcterms:W3CDTF">2026-09-12T14:46:57Z</dcterms:modified>
</cp:coreProperties>
</file>