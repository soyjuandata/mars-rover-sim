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 hoy el rover deja de obedecer reglas fijas y empieza a decidir con un modelo de IA. Tres bloques: instalar Claude Code, la metodología de vibecoding y construir el cerebro del rover con el SDK de TypeSafe y el modelo Jev, vía OpenRouter.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bloques. Si el tiempo aprieta, prioriza que Nico salga con Claude Code instalado y con el primer tick funcionando (paso 3 de la misión al final del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 arnés: lo que conecta el modelo con el mundo. El modelo por sí solo solo recibe texto y devuelve texto; no puede abrir un archivo ni correr un comando. Claude Code es el programa que le arma el contexto (tu prompt, CLAUDE.md, los archivos que lee), ejecuta las herramientas que el modelo pide y te pide permiso antes de tocar algo. Por eso no es lo mismo que el chat del navegador: en la terminal, dentro del repo, la IA tiene manos. Paralelo con el rover: Jev es el modelo; rover_ai.py y el simulador son su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Instalador nativo para Windows, en PowerShell. Alternativa si tiene Node 18 o superior: npm install -g @anthropic-ai/claude-code. Verificar con claude --version. La primera vez pide iniciar sesión con una cuenta de Claude. git pull origin develop trae a nico_work el CLAUDE.md, el hook de handoff y el terreno nuevo. Ya dentro de Claude Code, abrir /hooks una vez para que el hook quede activo. Ojo con el cambio de API: blocked_by ya no incluye slope; ahora existe overturned.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típico es pedir algo grande de una y revisar recién al final. Cada vuelta del loop tiene que ser chica y verificable. Si algo falla, no se repite el mismo prompt esperando otro resultado: se mejora la spec o se da el contexto que faltaba.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Hazlo en vivo: que escriba primero el prompt vago y vea qué sale, y después el mismo pedido con spec. Una spec tiene tres partes: objetivo (qué quiero), criterio de éxito (cómo sé que quedó bien) y restricción (qué no se puede romper).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Mode: Shift+Tab en Claude Code alterna los modos; en Plan Mode solo propone, no toca archivos. Demuéstralo con la misión de hoy: que pida el plan de rover_ai.py y lo lea en voz alta antes de aprobarlo.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armamos en la preparación: CLAUDE.md se generó con /init; la bitácora vive en .handoff/ y no se sube al repo; el hook Stop obliga a dejarla al día antes de cerrar. La idea clave: la IA no recuerda sesiones anteriores. Lo que no queda escrito, se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hasta ahora client_test.py frenaba con un if fijo (obstacle_ahead). Desde aquí, esa decisión la toma un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loop dentro de un proceso de Python que no se cierra: eso es tener la IA prendida como si estuviera en el hardware del rover. No hace falta websocket: el servidor es REST y la física avanza cuando llega un comando; el frontend ya hace polling cada 250 ms. Orden del ciclo: percibe (GET telemetry), pregunta (manda la telemetría como state y la pregunta de acción a Jev), decide (Jev devuelve la opción elegida y su confianza; el paso es fijo), actúa (POST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reto que ya le planteaste: no basta con esquivar; hay que elegir el lado que acerca a la meta. Las dos opciones son seguras, pero solo una es la ruta más corta. Dato a favor: /api/world entrega todo el mapa de entrada (rocas, cráteres, relieve), así que la ruta global se puede calcular antes de arrancar.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corre una vez al arrancar: mapa, ruta, waypoints. Local corre en cada tick con Jev. Como usamos un solo modelo, cada capa es una pregunta estructurada distinta, no una sola pregunta general de "qué hago".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lo que ya vio: la clase de HTTP. Una API es la puerta (URL, verbo, headers, JSON). Un SDK es una librería del proveedor que arma esa petición por ti y te devuelve objetos de Python en vez de JSON crudo. Ejemplo que ya conoce: requests es un kit para hablar HTTP sin manejar sockets. TypeSafe publica su SDK (pip install typesafe_sdk) para hablar con Jev; OpenRouter es el intermediario que lo sirve. Las dos columnas hacen exactamente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 das el código completo: le explicas las piezas para que sepa qué pedirle a Claude Code y cómo revisar lo que genere. Instalación: pip install typesafe_sdk python-dotenv. Jev no es un modelo de chat: no usa chat.completions ni messages; se llama con system_one(). API_KEY sale de load_dotenv() más os.environ (ver la slide de la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el SDK, model va como "jev-1.13". state es la telemetría de este tick: un diccionario con x, y, heading, obstacle_ahead, obstacle_distance, overturned y el resto de campos. Se pasa tal cual, sin convertirlo a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es un diccionario: cada clave es una pregunta con type, instructions y criteria. Usamos una sola, action, de tipo choice. La slide siguiente la muestra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es un diccionario de objetos: answers["action"] trae .choice, .confidence y .probabilities, y se leen con punto, no con corchetes. Si la llamada falla (red, timeout, error del SDK), el rover frena: stop. Dos slides más adelante está la respuesta real que dio Jev con la telemetría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tiene tres tipos de pregunta: noul (sí o no con probabilidad), choice (una opción de una lista) y score (puntaje en una escala ordenada). Para pilotar usamos choice: así el modelo nunca inventa una acción que el servidor no entiende. El value ya no lo decide Jev: cada acción tiene un paso fijo, igual que en client_test.py. Ejercicio opcional: una segunda pregunta score para elegir paso corto, normal o largo.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real del notebook con la telemetría de ejemplo (roca a 2.1 m adelante, sin volcar). forward quedó en 0: Jev respetó la regla. turn_left (0.46) y turn_right (0.44) casi empatan, por eso la confianza es baja (0.31): mirando solo el estado de este tick, los dos lados son igual de buenos. Esto conecta con la slide de los dos caminos: lo que desempata es saber hacia dónde queda B, o sea la ruta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 mars-rover-sim es público en GitHub. La key va en un archivo .env al lado del script; load_dotenv() de python-dotenv lo carga al arrancar. Verificar que el .env esté en .gitignore: git status no debe mostrarlo. Si alguna vez se sube por error, se revoca en OpenRouter y se genera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clase es el arranque del proyecto final; todo se entrega y se presenta en la clase 5. "Nunca vuelca" significa que overturned se queda en false durante todo el recorrido. "Si Jev falla, frena": si la respuesta no es un JSON válido con action y value, el rover manda stop en vez de adivinar. Las dos slides siguientes son el paso a paso: lo de hoy y lo que queda para antes de la clase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mínima para salir de la clase: el paso 4 funcionando. Ese tick solo lee e imprime; todavía no manda nada a /api/control, así que no hay riesgo de que el rover haga algo raro mientras prueba. Cada paso cerrado, un commit en nico_work.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pasos son trabajo en casa con Claude Code, aplicando el mismo ciclo: spec, plan, generar, verificar, commit. El paso 6 es el reto de decisión global vs. local. Para el paso 7, los puntos A y B se pueden marcar en el centro de control del simulador o pasarlos como coordenadas en el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 idea de toda la clase. Antes de terminar, que quede escrito el handoff de hoy en .handoff/ (el hook lo va a pedir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5050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9FAFB"/>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F9FA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FFFFF"/>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FFFFF"/>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5050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F9FAFB"/>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F9FAF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7493000" y="1524000"/>
            <a:ext cx="3810000" cy="3810000"/>
          </a:xfrm>
          <a:prstGeom prst="roundRect">
            <a:avLst>
              <a:gd name="adj" fmla="val 42667"/>
            </a:avLst>
          </a:prstGeom>
          <a:gradFill rotWithShape="1">
            <a:gsLst>
              <a:gs pos="0">
                <a:srgbClr val="04BF63">
                  <a:alpha val="90000"/>
                </a:srgbClr>
              </a:gs>
              <a:gs pos="40000">
                <a:srgbClr val="05663A">
                  <a:alpha val="90000"/>
                </a:srgbClr>
              </a:gs>
              <a:gs pos="72000">
                <a:srgbClr val="050505">
                  <a:alpha val="90000"/>
                </a:srgbClr>
              </a:gs>
            </a:gsLst>
            <a:path path="circle">
              <a:fillToRect l="50000" t="45000" r="50000" b="55000"/>
            </a:path>
          </a:gradFill>
          <a:ln/>
          <a:effectLst>
            <a:outerShdw sx="100000" sy="100000" kx="0" ky="0" algn="bl" rotWithShape="0" blurRad="1016000" dist="0" dir="60000">
              <a:srgbClr val="04BF63">
                <a:alpha val="31500"/>
              </a:srgbClr>
            </a:outerShdw>
          </a:effectLst>
        </p:spPr>
      </p:sp>
      <p:sp>
        <p:nvSpPr>
          <p:cNvPr id="3" name="Text 1"/>
          <p:cNvSpPr/>
          <p:nvPr>
            <p:ph type="title"/>
          </p:nvPr>
        </p:nvSpPr>
        <p:spPr>
          <a:xfrm>
            <a:off x="812800" y="2785137"/>
            <a:ext cx="6540500"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9FAFB"/>
                </a:solidFill>
                <a:latin typeface="Inter" pitchFamily="34" charset="0"/>
                <a:ea typeface="Inter" pitchFamily="34" charset="-122"/>
                <a:cs typeface="Inter" pitchFamily="34" charset="-120"/>
              </a:rPr>
              <a:t>Clase 4</a:t>
            </a:r>
            <a:endParaRPr lang="en-US" sz="6000" dirty="0"/>
          </a:p>
        </p:txBody>
      </p:sp>
      <p:sp>
        <p:nvSpPr>
          <p:cNvPr id="4" name="Text 2"/>
          <p:cNvSpPr/>
          <p:nvPr/>
        </p:nvSpPr>
        <p:spPr>
          <a:xfrm>
            <a:off x="812800" y="3788437"/>
            <a:ext cx="588645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Claude Code, vibecoding y el cerebro del rover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815975" y="2346987"/>
            <a:ext cx="3378200" cy="2165350"/>
          </a:xfrm>
          <a:prstGeom prst="roundRect">
            <a:avLst>
              <a:gd name="adj" fmla="val 6891"/>
            </a:avLst>
          </a:prstGeom>
          <a:solidFill>
            <a:srgbClr val="141414"/>
          </a:solidFill>
          <a:ln w="6350">
            <a:solidFill>
              <a:srgbClr val="262626"/>
            </a:solidFill>
            <a:prstDash val="solid"/>
          </a:ln>
        </p:spPr>
      </p:sp>
      <p:sp>
        <p:nvSpPr>
          <p:cNvPr id="3" name="Text 1"/>
          <p:cNvSpPr/>
          <p:nvPr/>
        </p:nvSpPr>
        <p:spPr>
          <a:xfrm>
            <a:off x="1121833" y="2652845"/>
            <a:ext cx="284947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4BF63"/>
                </a:solidFill>
                <a:latin typeface="JetBrains Mono" pitchFamily="49" charset="0"/>
                <a:ea typeface="JetBrains Mono" pitchFamily="49" charset="-122"/>
                <a:cs typeface="JetBrains Mono" pitchFamily="49" charset="-120"/>
              </a:rPr>
              <a:t>01</a:t>
            </a:r>
            <a:endParaRPr lang="en-US" sz="2200" dirty="0"/>
          </a:p>
        </p:txBody>
      </p:sp>
      <p:sp>
        <p:nvSpPr>
          <p:cNvPr id="4" name="Text 2"/>
          <p:cNvSpPr/>
          <p:nvPr/>
        </p:nvSpPr>
        <p:spPr>
          <a:xfrm>
            <a:off x="1121833" y="3170965"/>
            <a:ext cx="284947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Claude Code</a:t>
            </a:r>
            <a:endParaRPr lang="en-US" sz="2200" dirty="0"/>
          </a:p>
        </p:txBody>
      </p:sp>
      <p:sp>
        <p:nvSpPr>
          <p:cNvPr id="5" name="Text 3"/>
          <p:cNvSpPr/>
          <p:nvPr/>
        </p:nvSpPr>
        <p:spPr>
          <a:xfrm>
            <a:off x="1121833" y="3619236"/>
            <a:ext cx="284947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Instalarlo y entender qué es un harness.</a:t>
            </a:r>
            <a:endParaRPr lang="en-US" sz="1600" dirty="0"/>
          </a:p>
        </p:txBody>
      </p:sp>
      <p:sp>
        <p:nvSpPr>
          <p:cNvPr id="6" name="Shape 4"/>
          <p:cNvSpPr/>
          <p:nvPr/>
        </p:nvSpPr>
        <p:spPr>
          <a:xfrm>
            <a:off x="4397375" y="2346987"/>
            <a:ext cx="3378200" cy="2165350"/>
          </a:xfrm>
          <a:prstGeom prst="roundRect">
            <a:avLst>
              <a:gd name="adj" fmla="val 6891"/>
            </a:avLst>
          </a:prstGeom>
          <a:solidFill>
            <a:srgbClr val="141414"/>
          </a:solidFill>
          <a:ln w="6350">
            <a:solidFill>
              <a:srgbClr val="262626"/>
            </a:solidFill>
            <a:prstDash val="solid"/>
          </a:ln>
        </p:spPr>
      </p:sp>
      <p:sp>
        <p:nvSpPr>
          <p:cNvPr id="7" name="Text 5"/>
          <p:cNvSpPr/>
          <p:nvPr/>
        </p:nvSpPr>
        <p:spPr>
          <a:xfrm>
            <a:off x="4703233" y="2652845"/>
            <a:ext cx="284947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4BF63"/>
                </a:solidFill>
                <a:latin typeface="JetBrains Mono" pitchFamily="49" charset="0"/>
                <a:ea typeface="JetBrains Mono" pitchFamily="49" charset="-122"/>
                <a:cs typeface="JetBrains Mono" pitchFamily="49" charset="-120"/>
              </a:rPr>
              <a:t>02</a:t>
            </a:r>
            <a:endParaRPr lang="en-US" sz="2200" dirty="0"/>
          </a:p>
        </p:txBody>
      </p:sp>
      <p:sp>
        <p:nvSpPr>
          <p:cNvPr id="8" name="Text 6"/>
          <p:cNvSpPr/>
          <p:nvPr/>
        </p:nvSpPr>
        <p:spPr>
          <a:xfrm>
            <a:off x="4703233" y="3170965"/>
            <a:ext cx="284947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Vibecoding</a:t>
            </a:r>
            <a:endParaRPr lang="en-US" sz="2200" dirty="0"/>
          </a:p>
        </p:txBody>
      </p:sp>
      <p:sp>
        <p:nvSpPr>
          <p:cNvPr id="9" name="Text 7"/>
          <p:cNvSpPr/>
          <p:nvPr/>
        </p:nvSpPr>
        <p:spPr>
          <a:xfrm>
            <a:off x="4703233" y="3619236"/>
            <a:ext cx="284947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La metodología: especificar, generar, verificar, commit.</a:t>
            </a:r>
            <a:endParaRPr lang="en-US" sz="1600" dirty="0"/>
          </a:p>
        </p:txBody>
      </p:sp>
      <p:sp>
        <p:nvSpPr>
          <p:cNvPr id="10" name="Shape 8"/>
          <p:cNvSpPr/>
          <p:nvPr/>
        </p:nvSpPr>
        <p:spPr>
          <a:xfrm>
            <a:off x="7981950" y="2349500"/>
            <a:ext cx="3390900" cy="2159000"/>
          </a:xfrm>
          <a:prstGeom prst="roundRect">
            <a:avLst>
              <a:gd name="adj" fmla="val 6765"/>
            </a:avLst>
          </a:prstGeom>
          <a:solidFill>
            <a:srgbClr val="111111"/>
          </a:solidFill>
          <a:ln w="12700">
            <a:solidFill>
              <a:srgbClr val="04BF63"/>
            </a:solidFill>
            <a:prstDash val="solid"/>
          </a:ln>
        </p:spPr>
      </p:sp>
      <p:sp>
        <p:nvSpPr>
          <p:cNvPr id="11" name="Text 9"/>
          <p:cNvSpPr/>
          <p:nvPr/>
        </p:nvSpPr>
        <p:spPr>
          <a:xfrm>
            <a:off x="8293100" y="2660650"/>
            <a:ext cx="285165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4BF63"/>
                </a:solidFill>
                <a:latin typeface="JetBrains Mono" pitchFamily="49" charset="0"/>
                <a:ea typeface="JetBrains Mono" pitchFamily="49" charset="-122"/>
                <a:cs typeface="JetBrains Mono" pitchFamily="49" charset="-120"/>
              </a:rPr>
              <a:t>03</a:t>
            </a:r>
            <a:endParaRPr lang="en-US" sz="2200" dirty="0"/>
          </a:p>
        </p:txBody>
      </p:sp>
      <p:sp>
        <p:nvSpPr>
          <p:cNvPr id="12" name="Text 10"/>
          <p:cNvSpPr/>
          <p:nvPr/>
        </p:nvSpPr>
        <p:spPr>
          <a:xfrm>
            <a:off x="8293100" y="3178770"/>
            <a:ext cx="285165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El cerebro</a:t>
            </a:r>
            <a:endParaRPr lang="en-US" sz="2200" dirty="0"/>
          </a:p>
        </p:txBody>
      </p:sp>
      <p:sp>
        <p:nvSpPr>
          <p:cNvPr id="13" name="Text 11"/>
          <p:cNvSpPr/>
          <p:nvPr/>
        </p:nvSpPr>
        <p:spPr>
          <a:xfrm>
            <a:off x="8293100" y="3627041"/>
            <a:ext cx="285165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El SDK de TypeSafe y Jev manejando el rover.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¿Qué es un harness?</a:t>
            </a:r>
            <a:endParaRPr lang="en-US" sz="3600" dirty="0"/>
          </a:p>
        </p:txBody>
      </p:sp>
      <p:sp>
        <p:nvSpPr>
          <p:cNvPr id="3" name="Text 1"/>
          <p:cNvSpPr/>
          <p:nvPr/>
        </p:nvSpPr>
        <p:spPr>
          <a:xfrm>
            <a:off x="812800" y="1518907"/>
            <a:ext cx="10464800"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Claude, el modelo, solo lee y escribe texto. </a:t>
            </a:r>
            <a:r>
              <a:rPr lang="en-US" sz="1600" dirty="0">
                <a:solidFill>
                  <a:srgbClr val="F9FAFB"/>
                </a:solidFill>
                <a:latin typeface="Inter" pitchFamily="34" charset="0"/>
                <a:ea typeface="Inter" pitchFamily="34" charset="-122"/>
                <a:cs typeface="Inter" pitchFamily="34" charset="-120"/>
              </a:rPr>
              <a:t>El harness es el programa que lo rodea:</a:t>
            </a:r>
            <a:r>
              <a:rPr lang="en-US" sz="1600" dirty="0">
                <a:solidFill>
                  <a:srgbClr val="A3A3A3"/>
                </a:solidFill>
                <a:latin typeface="Inter" pitchFamily="34" charset="0"/>
                <a:ea typeface="Inter" pitchFamily="34" charset="-122"/>
                <a:cs typeface="Inter" pitchFamily="34" charset="-120"/>
              </a:rPr>
              <a:t> le pasa el contexto, le da herramientas (archivos, terminal, git) y te pide permiso antes de cada acción. Claude Code es ese harness.</a:t>
            </a:r>
            <a:endParaRPr lang="en-US" sz="1600" dirty="0"/>
          </a:p>
        </p:txBody>
      </p:sp>
      <p:sp>
        <p:nvSpPr>
          <p:cNvPr id="4" name="Shape 2"/>
          <p:cNvSpPr/>
          <p:nvPr/>
        </p:nvSpPr>
        <p:spPr>
          <a:xfrm>
            <a:off x="1212850" y="2581739"/>
            <a:ext cx="3162300" cy="2958835"/>
          </a:xfrm>
          <a:prstGeom prst="roundRect">
            <a:avLst>
              <a:gd name="adj" fmla="val 5795"/>
            </a:avLst>
          </a:prstGeom>
          <a:solidFill>
            <a:srgbClr val="101010"/>
          </a:solidFill>
          <a:ln w="12700">
            <a:solidFill>
              <a:srgbClr val="262626"/>
            </a:solidFill>
            <a:prstDash val="solid"/>
          </a:ln>
        </p:spPr>
      </p:sp>
      <p:sp>
        <p:nvSpPr>
          <p:cNvPr id="5" name="Text 3"/>
          <p:cNvSpPr/>
          <p:nvPr/>
        </p:nvSpPr>
        <p:spPr>
          <a:xfrm>
            <a:off x="1355090" y="2765889"/>
            <a:ext cx="287782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9FAFB"/>
                </a:solidFill>
                <a:latin typeface="Inter" pitchFamily="34" charset="0"/>
                <a:ea typeface="Inter" pitchFamily="34" charset="-122"/>
                <a:cs typeface="Inter" pitchFamily="34" charset="-120"/>
              </a:rPr>
              <a:t>Lo que lee</a:t>
            </a:r>
            <a:endParaRPr lang="en-US" sz="1600" dirty="0"/>
          </a:p>
        </p:txBody>
      </p:sp>
      <p:sp>
        <p:nvSpPr>
          <p:cNvPr id="6" name="Shape 4"/>
          <p:cNvSpPr/>
          <p:nvPr/>
        </p:nvSpPr>
        <p:spPr>
          <a:xfrm>
            <a:off x="1403350" y="3145566"/>
            <a:ext cx="2781300" cy="474927"/>
          </a:xfrm>
          <a:prstGeom prst="roundRect">
            <a:avLst>
              <a:gd name="adj" fmla="val 20056"/>
            </a:avLst>
          </a:prstGeom>
          <a:solidFill>
            <a:srgbClr val="0E0E0E"/>
          </a:solidFill>
          <a:ln w="12700">
            <a:solidFill>
              <a:srgbClr val="333333"/>
            </a:solidFill>
            <a:prstDash val="solid"/>
          </a:ln>
        </p:spPr>
      </p:sp>
      <p:pic>
        <p:nvPicPr>
          <p:cNvPr id="7" name="Image 0" descr="Chat">    </p:cNvPr>
          <p:cNvPicPr>
            <a:picLocks noChangeAspect="1"/>
          </p:cNvPicPr>
          <p:nvPr/>
        </p:nvPicPr>
        <p:blipFill>
          <a:blip r:embed="rId1"/>
          <a:srcRect l="0" r="0" t="0" b="0"/>
          <a:stretch/>
        </p:blipFill>
        <p:spPr>
          <a:xfrm>
            <a:off x="1536700" y="3281429"/>
            <a:ext cx="203200" cy="203200"/>
          </a:xfrm>
          <a:prstGeom prst="rect">
            <a:avLst/>
          </a:prstGeom>
        </p:spPr>
      </p:pic>
      <p:sp>
        <p:nvSpPr>
          <p:cNvPr id="8" name="Text 5"/>
          <p:cNvSpPr/>
          <p:nvPr/>
        </p:nvSpPr>
        <p:spPr>
          <a:xfrm>
            <a:off x="1841500" y="3240816"/>
            <a:ext cx="117816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Tu prompt</a:t>
            </a:r>
            <a:endParaRPr lang="en-US" sz="1600" dirty="0"/>
          </a:p>
        </p:txBody>
      </p:sp>
      <p:sp>
        <p:nvSpPr>
          <p:cNvPr id="9" name="Shape 6"/>
          <p:cNvSpPr/>
          <p:nvPr/>
        </p:nvSpPr>
        <p:spPr>
          <a:xfrm>
            <a:off x="1403350" y="3722092"/>
            <a:ext cx="2781300" cy="474927"/>
          </a:xfrm>
          <a:prstGeom prst="roundRect">
            <a:avLst>
              <a:gd name="adj" fmla="val 20056"/>
            </a:avLst>
          </a:prstGeom>
          <a:solidFill>
            <a:srgbClr val="0E0E0E"/>
          </a:solidFill>
          <a:ln w="12700">
            <a:solidFill>
              <a:srgbClr val="333333"/>
            </a:solidFill>
            <a:prstDash val="solid"/>
          </a:ln>
        </p:spPr>
      </p:sp>
      <p:pic>
        <p:nvPicPr>
          <p:cNvPr id="10" name="Image 1" descr="Book">    </p:cNvPr>
          <p:cNvPicPr>
            <a:picLocks noChangeAspect="1"/>
          </p:cNvPicPr>
          <p:nvPr/>
        </p:nvPicPr>
        <p:blipFill>
          <a:blip r:embed="rId2"/>
          <a:srcRect l="0" r="0" t="0" b="0"/>
          <a:stretch/>
        </p:blipFill>
        <p:spPr>
          <a:xfrm>
            <a:off x="1536700" y="3857957"/>
            <a:ext cx="203200" cy="203200"/>
          </a:xfrm>
          <a:prstGeom prst="rect">
            <a:avLst/>
          </a:prstGeom>
        </p:spPr>
      </p:pic>
      <p:sp>
        <p:nvSpPr>
          <p:cNvPr id="11" name="Text 7"/>
          <p:cNvSpPr/>
          <p:nvPr/>
        </p:nvSpPr>
        <p:spPr>
          <a:xfrm>
            <a:off x="1841500" y="3817342"/>
            <a:ext cx="141660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CLAUDE.md</a:t>
            </a:r>
            <a:endParaRPr lang="en-US" sz="1600" dirty="0"/>
          </a:p>
        </p:txBody>
      </p:sp>
      <p:sp>
        <p:nvSpPr>
          <p:cNvPr id="12" name="Shape 8"/>
          <p:cNvSpPr/>
          <p:nvPr/>
        </p:nvSpPr>
        <p:spPr>
          <a:xfrm>
            <a:off x="1403350" y="4298620"/>
            <a:ext cx="2781300" cy="474927"/>
          </a:xfrm>
          <a:prstGeom prst="roundRect">
            <a:avLst>
              <a:gd name="adj" fmla="val 20056"/>
            </a:avLst>
          </a:prstGeom>
          <a:solidFill>
            <a:srgbClr val="0E0E0E"/>
          </a:solidFill>
          <a:ln w="12700">
            <a:solidFill>
              <a:srgbClr val="333333"/>
            </a:solidFill>
            <a:prstDash val="solid"/>
          </a:ln>
        </p:spPr>
      </p:sp>
      <p:pic>
        <p:nvPicPr>
          <p:cNvPr id="13" name="Image 2" descr="Code">    </p:cNvPr>
          <p:cNvPicPr>
            <a:picLocks noChangeAspect="1"/>
          </p:cNvPicPr>
          <p:nvPr/>
        </p:nvPicPr>
        <p:blipFill>
          <a:blip r:embed="rId3"/>
          <a:srcRect l="0" r="0" t="0" b="0"/>
          <a:stretch/>
        </p:blipFill>
        <p:spPr>
          <a:xfrm>
            <a:off x="1536700" y="4434483"/>
            <a:ext cx="203200" cy="203200"/>
          </a:xfrm>
          <a:prstGeom prst="rect">
            <a:avLst/>
          </a:prstGeom>
        </p:spPr>
      </p:pic>
      <p:sp>
        <p:nvSpPr>
          <p:cNvPr id="14" name="Text 9"/>
          <p:cNvSpPr/>
          <p:nvPr/>
        </p:nvSpPr>
        <p:spPr>
          <a:xfrm>
            <a:off x="1841500" y="4393870"/>
            <a:ext cx="201882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Archivos del repo</a:t>
            </a:r>
            <a:endParaRPr lang="en-US" sz="1600" dirty="0"/>
          </a:p>
        </p:txBody>
      </p:sp>
      <p:sp>
        <p:nvSpPr>
          <p:cNvPr id="15" name="Shape 10"/>
          <p:cNvSpPr/>
          <p:nvPr/>
        </p:nvSpPr>
        <p:spPr>
          <a:xfrm>
            <a:off x="1403350" y="4875147"/>
            <a:ext cx="2781300" cy="474927"/>
          </a:xfrm>
          <a:prstGeom prst="roundRect">
            <a:avLst>
              <a:gd name="adj" fmla="val 20056"/>
            </a:avLst>
          </a:prstGeom>
          <a:solidFill>
            <a:srgbClr val="0E0E0E"/>
          </a:solidFill>
          <a:ln w="12700">
            <a:solidFill>
              <a:srgbClr val="333333"/>
            </a:solidFill>
            <a:prstDash val="solid"/>
          </a:ln>
        </p:spPr>
      </p:sp>
      <p:pic>
        <p:nvPicPr>
          <p:cNvPr id="16" name="Image 3" descr="Search">    </p:cNvPr>
          <p:cNvPicPr>
            <a:picLocks noChangeAspect="1"/>
          </p:cNvPicPr>
          <p:nvPr/>
        </p:nvPicPr>
        <p:blipFill>
          <a:blip r:embed="rId4"/>
          <a:srcRect l="0" r="0" t="0" b="0"/>
          <a:stretch/>
        </p:blipFill>
        <p:spPr>
          <a:xfrm>
            <a:off x="1536700" y="5011010"/>
            <a:ext cx="203200" cy="203200"/>
          </a:xfrm>
          <a:prstGeom prst="rect">
            <a:avLst/>
          </a:prstGeom>
        </p:spPr>
      </p:pic>
      <p:sp>
        <p:nvSpPr>
          <p:cNvPr id="17" name="Text 11"/>
          <p:cNvSpPr/>
          <p:nvPr/>
        </p:nvSpPr>
        <p:spPr>
          <a:xfrm>
            <a:off x="1841500" y="4970397"/>
            <a:ext cx="205422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Salida de terminal</a:t>
            </a:r>
            <a:endParaRPr lang="en-US" sz="1600" dirty="0"/>
          </a:p>
        </p:txBody>
      </p:sp>
      <p:pic>
        <p:nvPicPr>
          <p:cNvPr id="18" name="Image 4" descr="connector">    </p:cNvPr>
          <p:cNvPicPr>
            <a:picLocks noChangeAspect="1"/>
          </p:cNvPicPr>
          <p:nvPr/>
        </p:nvPicPr>
        <p:blipFill>
          <a:blip r:embed="rId5"/>
          <a:srcRect l="0" r="0" t="0" b="0"/>
          <a:stretch/>
        </p:blipFill>
        <p:spPr>
          <a:xfrm>
            <a:off x="4533900" y="4010357"/>
            <a:ext cx="457200" cy="101600"/>
          </a:xfrm>
          <a:prstGeom prst="rect">
            <a:avLst/>
          </a:prstGeom>
        </p:spPr>
      </p:pic>
      <p:sp>
        <p:nvSpPr>
          <p:cNvPr id="19" name="Shape 12"/>
          <p:cNvSpPr/>
          <p:nvPr/>
        </p:nvSpPr>
        <p:spPr>
          <a:xfrm>
            <a:off x="5149850" y="3115007"/>
            <a:ext cx="1892300" cy="1892300"/>
          </a:xfrm>
          <a:prstGeom prst="roundRect">
            <a:avLst>
              <a:gd name="adj" fmla="val 50000"/>
            </a:avLst>
          </a:prstGeom>
          <a:gradFill rotWithShape="1">
            <a:gsLst>
              <a:gs pos="0">
                <a:srgbClr val="05894A"/>
              </a:gs>
              <a:gs pos="45000">
                <a:srgbClr val="05502E"/>
              </a:gs>
              <a:gs pos="85000">
                <a:srgbClr val="0D0D0D"/>
              </a:gs>
            </a:gsLst>
            <a:path path="circle">
              <a:fillToRect l="50000" t="35000" r="50000" b="65000"/>
            </a:path>
          </a:gradFill>
          <a:ln w="12700">
            <a:solidFill>
              <a:srgbClr val="6EE7A8"/>
            </a:solidFill>
            <a:prstDash val="solid"/>
          </a:ln>
          <a:effectLst>
            <a:outerShdw sx="100000" sy="100000" kx="0" ky="0" algn="bl" rotWithShape="0" blurRad="635000" dist="0" dir="60000">
              <a:srgbClr val="04BF63">
                <a:alpha val="45000"/>
              </a:srgbClr>
            </a:outerShdw>
          </a:effectLst>
        </p:spPr>
      </p:sp>
      <p:sp>
        <p:nvSpPr>
          <p:cNvPr id="20" name="Text 13"/>
          <p:cNvSpPr/>
          <p:nvPr/>
        </p:nvSpPr>
        <p:spPr>
          <a:xfrm>
            <a:off x="5333286" y="3786849"/>
            <a:ext cx="1525429"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Claude Code</a:t>
            </a:r>
            <a:endParaRPr lang="en-US" sz="1600" dirty="0"/>
          </a:p>
        </p:txBody>
      </p:sp>
      <p:sp>
        <p:nvSpPr>
          <p:cNvPr id="21" name="Text 14"/>
          <p:cNvSpPr/>
          <p:nvPr/>
        </p:nvSpPr>
        <p:spPr>
          <a:xfrm>
            <a:off x="5649675" y="4122077"/>
            <a:ext cx="89265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9FAFB"/>
                </a:solidFill>
                <a:latin typeface="Inter" pitchFamily="34" charset="0"/>
                <a:ea typeface="Inter" pitchFamily="34" charset="-122"/>
                <a:cs typeface="Inter" pitchFamily="34" charset="-120"/>
              </a:rPr>
              <a:t>el harness</a:t>
            </a:r>
            <a:endParaRPr lang="en-US" sz="1200" dirty="0"/>
          </a:p>
        </p:txBody>
      </p:sp>
      <p:pic>
        <p:nvPicPr>
          <p:cNvPr id="22" name="Image 5" descr="connector">    </p:cNvPr>
          <p:cNvPicPr>
            <a:picLocks noChangeAspect="1"/>
          </p:cNvPicPr>
          <p:nvPr/>
        </p:nvPicPr>
        <p:blipFill>
          <a:blip r:embed="rId6"/>
          <a:srcRect l="0" r="0" t="0" b="0"/>
          <a:stretch/>
        </p:blipFill>
        <p:spPr>
          <a:xfrm>
            <a:off x="7200900" y="4010357"/>
            <a:ext cx="457200" cy="101600"/>
          </a:xfrm>
          <a:prstGeom prst="rect">
            <a:avLst/>
          </a:prstGeom>
        </p:spPr>
      </p:pic>
      <p:sp>
        <p:nvSpPr>
          <p:cNvPr id="23" name="Shape 15"/>
          <p:cNvSpPr/>
          <p:nvPr/>
        </p:nvSpPr>
        <p:spPr>
          <a:xfrm>
            <a:off x="7816850" y="2581739"/>
            <a:ext cx="3162300" cy="2958835"/>
          </a:xfrm>
          <a:prstGeom prst="roundRect">
            <a:avLst>
              <a:gd name="adj" fmla="val 5795"/>
            </a:avLst>
          </a:prstGeom>
          <a:solidFill>
            <a:srgbClr val="101010"/>
          </a:solidFill>
          <a:ln w="12700">
            <a:solidFill>
              <a:srgbClr val="262626"/>
            </a:solidFill>
            <a:prstDash val="solid"/>
          </a:ln>
        </p:spPr>
      </p:sp>
      <p:sp>
        <p:nvSpPr>
          <p:cNvPr id="24" name="Text 16"/>
          <p:cNvSpPr/>
          <p:nvPr/>
        </p:nvSpPr>
        <p:spPr>
          <a:xfrm>
            <a:off x="7959090" y="2765889"/>
            <a:ext cx="287782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9FAFB"/>
                </a:solidFill>
                <a:latin typeface="Inter" pitchFamily="34" charset="0"/>
                <a:ea typeface="Inter" pitchFamily="34" charset="-122"/>
                <a:cs typeface="Inter" pitchFamily="34" charset="-120"/>
              </a:rPr>
              <a:t>Lo que produce</a:t>
            </a:r>
            <a:endParaRPr lang="en-US" sz="1600" dirty="0"/>
          </a:p>
        </p:txBody>
      </p:sp>
      <p:sp>
        <p:nvSpPr>
          <p:cNvPr id="25" name="Shape 17"/>
          <p:cNvSpPr/>
          <p:nvPr/>
        </p:nvSpPr>
        <p:spPr>
          <a:xfrm>
            <a:off x="8007350" y="3145566"/>
            <a:ext cx="2781300" cy="474927"/>
          </a:xfrm>
          <a:prstGeom prst="roundRect">
            <a:avLst>
              <a:gd name="adj" fmla="val 20056"/>
            </a:avLst>
          </a:prstGeom>
          <a:solidFill>
            <a:srgbClr val="0E0E0E"/>
          </a:solidFill>
          <a:ln w="12700">
            <a:solidFill>
              <a:srgbClr val="333333"/>
            </a:solidFill>
            <a:prstDash val="solid"/>
          </a:ln>
        </p:spPr>
      </p:sp>
      <p:pic>
        <p:nvPicPr>
          <p:cNvPr id="26" name="Image 6" descr="Lightbulb">    </p:cNvPr>
          <p:cNvPicPr>
            <a:picLocks noChangeAspect="1"/>
          </p:cNvPicPr>
          <p:nvPr/>
        </p:nvPicPr>
        <p:blipFill>
          <a:blip r:embed="rId7"/>
          <a:srcRect l="0" r="0" t="0" b="0"/>
          <a:stretch/>
        </p:blipFill>
        <p:spPr>
          <a:xfrm>
            <a:off x="8140700" y="3281429"/>
            <a:ext cx="203200" cy="203200"/>
          </a:xfrm>
          <a:prstGeom prst="rect">
            <a:avLst/>
          </a:prstGeom>
        </p:spPr>
      </p:pic>
      <p:sp>
        <p:nvSpPr>
          <p:cNvPr id="27" name="Text 18"/>
          <p:cNvSpPr/>
          <p:nvPr/>
        </p:nvSpPr>
        <p:spPr>
          <a:xfrm>
            <a:off x="8445500" y="3240816"/>
            <a:ext cx="88344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Un plan</a:t>
            </a:r>
            <a:endParaRPr lang="en-US" sz="1600" dirty="0"/>
          </a:p>
        </p:txBody>
      </p:sp>
      <p:sp>
        <p:nvSpPr>
          <p:cNvPr id="28" name="Shape 19"/>
          <p:cNvSpPr/>
          <p:nvPr/>
        </p:nvSpPr>
        <p:spPr>
          <a:xfrm>
            <a:off x="8007350" y="3722092"/>
            <a:ext cx="2781300" cy="474927"/>
          </a:xfrm>
          <a:prstGeom prst="roundRect">
            <a:avLst>
              <a:gd name="adj" fmla="val 20056"/>
            </a:avLst>
          </a:prstGeom>
          <a:solidFill>
            <a:srgbClr val="0E0E0E"/>
          </a:solidFill>
          <a:ln w="12700">
            <a:solidFill>
              <a:srgbClr val="333333"/>
            </a:solidFill>
            <a:prstDash val="solid"/>
          </a:ln>
        </p:spPr>
      </p:sp>
      <p:pic>
        <p:nvPicPr>
          <p:cNvPr id="29" name="Image 7" descr="Code">    </p:cNvPr>
          <p:cNvPicPr>
            <a:picLocks noChangeAspect="1"/>
          </p:cNvPicPr>
          <p:nvPr/>
        </p:nvPicPr>
        <p:blipFill>
          <a:blip r:embed="rId8"/>
          <a:srcRect l="0" r="0" t="0" b="0"/>
          <a:stretch/>
        </p:blipFill>
        <p:spPr>
          <a:xfrm>
            <a:off x="8140700" y="3857957"/>
            <a:ext cx="203200" cy="203200"/>
          </a:xfrm>
          <a:prstGeom prst="rect">
            <a:avLst/>
          </a:prstGeom>
        </p:spPr>
      </p:pic>
      <p:sp>
        <p:nvSpPr>
          <p:cNvPr id="30" name="Text 20"/>
          <p:cNvSpPr/>
          <p:nvPr/>
        </p:nvSpPr>
        <p:spPr>
          <a:xfrm>
            <a:off x="8445500" y="3817342"/>
            <a:ext cx="163496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Cambios (diff)</a:t>
            </a:r>
            <a:endParaRPr lang="en-US" sz="1600" dirty="0"/>
          </a:p>
        </p:txBody>
      </p:sp>
      <p:sp>
        <p:nvSpPr>
          <p:cNvPr id="31" name="Shape 21"/>
          <p:cNvSpPr/>
          <p:nvPr/>
        </p:nvSpPr>
        <p:spPr>
          <a:xfrm>
            <a:off x="8007350" y="4298620"/>
            <a:ext cx="2781300" cy="474927"/>
          </a:xfrm>
          <a:prstGeom prst="roundRect">
            <a:avLst>
              <a:gd name="adj" fmla="val 20056"/>
            </a:avLst>
          </a:prstGeom>
          <a:solidFill>
            <a:srgbClr val="0E0E0E"/>
          </a:solidFill>
          <a:ln w="12700">
            <a:solidFill>
              <a:srgbClr val="333333"/>
            </a:solidFill>
            <a:prstDash val="solid"/>
          </a:ln>
        </p:spPr>
      </p:sp>
      <p:pic>
        <p:nvPicPr>
          <p:cNvPr id="32" name="Image 8" descr="Settings">    </p:cNvPr>
          <p:cNvPicPr>
            <a:picLocks noChangeAspect="1"/>
          </p:cNvPicPr>
          <p:nvPr/>
        </p:nvPicPr>
        <p:blipFill>
          <a:blip r:embed="rId9"/>
          <a:srcRect l="0" r="0" t="0" b="0"/>
          <a:stretch/>
        </p:blipFill>
        <p:spPr>
          <a:xfrm>
            <a:off x="8140700" y="4434483"/>
            <a:ext cx="203200" cy="203200"/>
          </a:xfrm>
          <a:prstGeom prst="rect">
            <a:avLst/>
          </a:prstGeom>
        </p:spPr>
      </p:pic>
      <p:sp>
        <p:nvSpPr>
          <p:cNvPr id="33" name="Text 22"/>
          <p:cNvSpPr/>
          <p:nvPr/>
        </p:nvSpPr>
        <p:spPr>
          <a:xfrm>
            <a:off x="8445500" y="4393870"/>
            <a:ext cx="124317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Comandos</a:t>
            </a:r>
            <a:endParaRPr lang="en-US" sz="1600" dirty="0"/>
          </a:p>
        </p:txBody>
      </p:sp>
      <p:sp>
        <p:nvSpPr>
          <p:cNvPr id="34" name="Shape 23"/>
          <p:cNvSpPr/>
          <p:nvPr/>
        </p:nvSpPr>
        <p:spPr>
          <a:xfrm>
            <a:off x="8007350" y="4875147"/>
            <a:ext cx="2781300" cy="474927"/>
          </a:xfrm>
          <a:prstGeom prst="roundRect">
            <a:avLst>
              <a:gd name="adj" fmla="val 20056"/>
            </a:avLst>
          </a:prstGeom>
          <a:solidFill>
            <a:srgbClr val="0E0E0E"/>
          </a:solidFill>
          <a:ln w="12700">
            <a:solidFill>
              <a:srgbClr val="333333"/>
            </a:solidFill>
            <a:prstDash val="solid"/>
          </a:ln>
        </p:spPr>
      </p:sp>
      <p:pic>
        <p:nvPicPr>
          <p:cNvPr id="35" name="Image 9" descr="Check">    </p:cNvPr>
          <p:cNvPicPr>
            <a:picLocks noChangeAspect="1"/>
          </p:cNvPicPr>
          <p:nvPr/>
        </p:nvPicPr>
        <p:blipFill>
          <a:blip r:embed="rId10"/>
          <a:srcRect l="0" r="0" t="0" b="0"/>
          <a:stretch/>
        </p:blipFill>
        <p:spPr>
          <a:xfrm>
            <a:off x="8140700" y="5011010"/>
            <a:ext cx="203200" cy="203200"/>
          </a:xfrm>
          <a:prstGeom prst="rect">
            <a:avLst/>
          </a:prstGeom>
        </p:spPr>
      </p:pic>
      <p:sp>
        <p:nvSpPr>
          <p:cNvPr id="36" name="Text 24"/>
          <p:cNvSpPr/>
          <p:nvPr/>
        </p:nvSpPr>
        <p:spPr>
          <a:xfrm>
            <a:off x="8445500" y="4970397"/>
            <a:ext cx="101671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Commits</a:t>
            </a:r>
            <a:endParaRPr lang="en-US" sz="1600" dirty="0"/>
          </a:p>
        </p:txBody>
      </p:sp>
      <p:sp>
        <p:nvSpPr>
          <p:cNvPr id="37" name="Text 25"/>
          <p:cNvSpPr/>
          <p:nvPr/>
        </p:nvSpPr>
        <p:spPr>
          <a:xfrm>
            <a:off x="812800" y="575012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Igual que en el rover: </a:t>
            </a:r>
            <a:r>
              <a:rPr lang="en-US" sz="1600" dirty="0">
                <a:solidFill>
                  <a:srgbClr val="F9FAFB"/>
                </a:solidFill>
                <a:latin typeface="Inter" pitchFamily="34" charset="0"/>
                <a:ea typeface="Inter" pitchFamily="34" charset="-122"/>
                <a:cs typeface="Inter" pitchFamily="34" charset="-120"/>
              </a:rPr>
              <a:t>Jev decide, pero sin el simulador no tiene ojos ni ruedas.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Instalar Claude Code</a:t>
            </a:r>
            <a:endParaRPr lang="en-US" sz="3600" dirty="0"/>
          </a:p>
        </p:txBody>
      </p:sp>
      <p:sp>
        <p:nvSpPr>
          <p:cNvPr id="3" name="Shape 1"/>
          <p:cNvSpPr/>
          <p:nvPr/>
        </p:nvSpPr>
        <p:spPr>
          <a:xfrm>
            <a:off x="815975" y="1572882"/>
            <a:ext cx="6597650" cy="3400491"/>
          </a:xfrm>
          <a:prstGeom prst="roundRect">
            <a:avLst>
              <a:gd name="adj" fmla="val 4388"/>
            </a:avLst>
          </a:prstGeom>
          <a:solidFill>
            <a:srgbClr val="101010"/>
          </a:solidFill>
          <a:ln w="6350">
            <a:solidFill>
              <a:srgbClr val="262626"/>
            </a:solidFill>
            <a:prstDash val="solid"/>
          </a:ln>
        </p:spPr>
      </p:sp>
      <p:sp>
        <p:nvSpPr>
          <p:cNvPr id="4" name="Shape 2"/>
          <p:cNvSpPr/>
          <p:nvPr/>
        </p:nvSpPr>
        <p:spPr>
          <a:xfrm>
            <a:off x="817033" y="1573941"/>
            <a:ext cx="6595534" cy="441920"/>
          </a:xfrm>
          <a:custGeom>
            <a:avLst/>
            <a:gdLst/>
            <a:ahLst/>
            <a:cxnLst/>
            <a:rect l="l" t="t" r="r" b="b"/>
            <a:pathLst>
              <a:path w="6595534" h="441920">
                <a:moveTo>
                  <a:pt x="0" y="148167"/>
                </a:moveTo>
                <a:arcTo hR="148167" wR="148167" stAng="10800000" swAng="5400000"/>
                <a:lnTo>
                  <a:pt x="6447367" y="0"/>
                </a:lnTo>
                <a:arcTo hR="148167" wR="148167" stAng="16200000" swAng="5400000"/>
                <a:lnTo>
                  <a:pt x="6595534" y="441920"/>
                </a:lnTo>
                <a:lnTo>
                  <a:pt x="0" y="441920"/>
                </a:lnTo>
                <a:close/>
              </a:path>
            </a:pathLst>
          </a:custGeom>
          <a:solidFill>
            <a:srgbClr val="1A1A1A"/>
          </a:solidFill>
          <a:ln/>
        </p:spPr>
      </p:sp>
      <p:pic>
        <p:nvPicPr>
          <p:cNvPr id="5" name="Image 0" descr="ellipse">    </p:cNvPr>
          <p:cNvPicPr>
            <a:picLocks noChangeAspect="1"/>
          </p:cNvPicPr>
          <p:nvPr/>
        </p:nvPicPr>
        <p:blipFill>
          <a:blip r:embed="rId1"/>
          <a:srcRect l="0" r="0" t="0" b="0"/>
          <a:stretch/>
        </p:blipFill>
        <p:spPr>
          <a:xfrm>
            <a:off x="969433" y="1744067"/>
            <a:ext cx="101600" cy="101600"/>
          </a:xfrm>
          <a:prstGeom prst="rect">
            <a:avLst/>
          </a:prstGeom>
        </p:spPr>
      </p:pic>
      <p:pic>
        <p:nvPicPr>
          <p:cNvPr id="6" name="Image 1" descr="ellipse">    </p:cNvPr>
          <p:cNvPicPr>
            <a:picLocks noChangeAspect="1"/>
          </p:cNvPicPr>
          <p:nvPr/>
        </p:nvPicPr>
        <p:blipFill>
          <a:blip r:embed="rId2"/>
          <a:srcRect l="0" r="0" t="0" b="0"/>
          <a:stretch/>
        </p:blipFill>
        <p:spPr>
          <a:xfrm>
            <a:off x="1134533" y="1744067"/>
            <a:ext cx="101600" cy="101600"/>
          </a:xfrm>
          <a:prstGeom prst="rect">
            <a:avLst/>
          </a:prstGeom>
        </p:spPr>
      </p:pic>
      <p:pic>
        <p:nvPicPr>
          <p:cNvPr id="7" name="Image 2" descr="ellipse">    </p:cNvPr>
          <p:cNvPicPr>
            <a:picLocks noChangeAspect="1"/>
          </p:cNvPicPr>
          <p:nvPr/>
        </p:nvPicPr>
        <p:blipFill>
          <a:blip r:embed="rId3"/>
          <a:srcRect l="0" r="0" t="0" b="0"/>
          <a:stretch/>
        </p:blipFill>
        <p:spPr>
          <a:xfrm>
            <a:off x="1299633" y="1744067"/>
            <a:ext cx="101600" cy="101600"/>
          </a:xfrm>
          <a:prstGeom prst="rect">
            <a:avLst/>
          </a:prstGeom>
        </p:spPr>
      </p:pic>
      <p:sp>
        <p:nvSpPr>
          <p:cNvPr id="8" name="Text 3"/>
          <p:cNvSpPr/>
          <p:nvPr/>
        </p:nvSpPr>
        <p:spPr>
          <a:xfrm>
            <a:off x="1540933" y="1688241"/>
            <a:ext cx="96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PowerShell</a:t>
            </a:r>
            <a:endParaRPr lang="en-US" sz="1200" dirty="0"/>
          </a:p>
        </p:txBody>
      </p:sp>
      <p:sp>
        <p:nvSpPr>
          <p:cNvPr id="9" name="Text 4"/>
          <p:cNvSpPr/>
          <p:nvPr/>
        </p:nvSpPr>
        <p:spPr>
          <a:xfrm>
            <a:off x="1020233" y="2219061"/>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8F8F8F"/>
                </a:solidFill>
                <a:latin typeface="JetBrains Mono" pitchFamily="49" charset="0"/>
                <a:ea typeface="JetBrains Mono" pitchFamily="49" charset="-122"/>
                <a:cs typeface="JetBrains Mono" pitchFamily="49" charset="-120"/>
              </a:rPr>
              <a:t># 1 · Instalar (una sola vez)</a:t>
            </a:r>
            <a:endParaRPr lang="en-US" sz="1600" dirty="0"/>
          </a:p>
        </p:txBody>
      </p:sp>
      <p:sp>
        <p:nvSpPr>
          <p:cNvPr id="10" name="Text 5"/>
          <p:cNvSpPr/>
          <p:nvPr/>
        </p:nvSpPr>
        <p:spPr>
          <a:xfrm>
            <a:off x="1020233" y="2544167"/>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04BF63"/>
                </a:solidFill>
                <a:latin typeface="JetBrains Mono" pitchFamily="49" charset="0"/>
                <a:ea typeface="JetBrains Mono" pitchFamily="49" charset="-122"/>
                <a:cs typeface="JetBrains Mono" pitchFamily="49" charset="-120"/>
              </a:rPr>
              <a:t>›</a:t>
            </a:r>
            <a:r>
              <a:rPr lang="en-US" sz="1600" dirty="0">
                <a:solidFill>
                  <a:srgbClr val="F9FAFB"/>
                </a:solidFill>
                <a:latin typeface="JetBrains Mono" pitchFamily="49" charset="0"/>
                <a:ea typeface="JetBrains Mono" pitchFamily="49" charset="-122"/>
                <a:cs typeface="JetBrains Mono" pitchFamily="49" charset="-120"/>
              </a:rPr>
              <a:t> irm https://claude.ai/install.ps1 | iex</a:t>
            </a:r>
            <a:endParaRPr lang="en-US" sz="1600" dirty="0"/>
          </a:p>
        </p:txBody>
      </p:sp>
      <p:sp>
        <p:nvSpPr>
          <p:cNvPr id="11" name="Text 6"/>
          <p:cNvSpPr/>
          <p:nvPr/>
        </p:nvSpPr>
        <p:spPr>
          <a:xfrm>
            <a:off x="1020233" y="2869274"/>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8F8F8F"/>
                </a:solidFill>
                <a:latin typeface="JetBrains Mono" pitchFamily="49" charset="0"/>
                <a:ea typeface="JetBrains Mono" pitchFamily="49" charset="-122"/>
                <a:cs typeface="JetBrains Mono" pitchFamily="49" charset="-120"/>
              </a:rPr>
              <a:t># 2 · Entrar al repo, en su rama</a:t>
            </a:r>
            <a:endParaRPr lang="en-US" sz="1600" dirty="0"/>
          </a:p>
        </p:txBody>
      </p:sp>
      <p:sp>
        <p:nvSpPr>
          <p:cNvPr id="12" name="Text 7"/>
          <p:cNvSpPr/>
          <p:nvPr/>
        </p:nvSpPr>
        <p:spPr>
          <a:xfrm>
            <a:off x="1020233" y="3194382"/>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04BF63"/>
                </a:solidFill>
                <a:latin typeface="JetBrains Mono" pitchFamily="49" charset="0"/>
                <a:ea typeface="JetBrains Mono" pitchFamily="49" charset="-122"/>
                <a:cs typeface="JetBrains Mono" pitchFamily="49" charset="-120"/>
              </a:rPr>
              <a:t>›</a:t>
            </a:r>
            <a:r>
              <a:rPr lang="en-US" sz="1600" dirty="0">
                <a:solidFill>
                  <a:srgbClr val="F9FAFB"/>
                </a:solidFill>
                <a:latin typeface="JetBrains Mono" pitchFamily="49" charset="0"/>
                <a:ea typeface="JetBrains Mono" pitchFamily="49" charset="-122"/>
                <a:cs typeface="JetBrains Mono" pitchFamily="49" charset="-120"/>
              </a:rPr>
              <a:t> cd mars-rover-sim</a:t>
            </a:r>
            <a:endParaRPr lang="en-US" sz="1600" dirty="0"/>
          </a:p>
        </p:txBody>
      </p:sp>
      <p:sp>
        <p:nvSpPr>
          <p:cNvPr id="13" name="Text 8"/>
          <p:cNvSpPr/>
          <p:nvPr/>
        </p:nvSpPr>
        <p:spPr>
          <a:xfrm>
            <a:off x="1020233" y="3519488"/>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04BF63"/>
                </a:solidFill>
                <a:latin typeface="JetBrains Mono" pitchFamily="49" charset="0"/>
                <a:ea typeface="JetBrains Mono" pitchFamily="49" charset="-122"/>
                <a:cs typeface="JetBrains Mono" pitchFamily="49" charset="-120"/>
              </a:rPr>
              <a:t>›</a:t>
            </a:r>
            <a:r>
              <a:rPr lang="en-US" sz="1600" dirty="0">
                <a:solidFill>
                  <a:srgbClr val="F9FAFB"/>
                </a:solidFill>
                <a:latin typeface="JetBrains Mono" pitchFamily="49" charset="0"/>
                <a:ea typeface="JetBrains Mono" pitchFamily="49" charset="-122"/>
                <a:cs typeface="JetBrains Mono" pitchFamily="49" charset="-120"/>
              </a:rPr>
              <a:t> git checkout nico_work</a:t>
            </a:r>
            <a:endParaRPr lang="en-US" sz="1600" dirty="0"/>
          </a:p>
        </p:txBody>
      </p:sp>
      <p:sp>
        <p:nvSpPr>
          <p:cNvPr id="14" name="Text 9"/>
          <p:cNvSpPr/>
          <p:nvPr/>
        </p:nvSpPr>
        <p:spPr>
          <a:xfrm>
            <a:off x="1020233" y="3844595"/>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04BF63"/>
                </a:solidFill>
                <a:latin typeface="JetBrains Mono" pitchFamily="49" charset="0"/>
                <a:ea typeface="JetBrains Mono" pitchFamily="49" charset="-122"/>
                <a:cs typeface="JetBrains Mono" pitchFamily="49" charset="-120"/>
              </a:rPr>
              <a:t>›</a:t>
            </a:r>
            <a:r>
              <a:rPr lang="en-US" sz="1600" dirty="0">
                <a:solidFill>
                  <a:srgbClr val="F9FAFB"/>
                </a:solidFill>
                <a:latin typeface="JetBrains Mono" pitchFamily="49" charset="0"/>
                <a:ea typeface="JetBrains Mono" pitchFamily="49" charset="-122"/>
                <a:cs typeface="JetBrains Mono" pitchFamily="49" charset="-120"/>
              </a:rPr>
              <a:t> git pull origin develop</a:t>
            </a:r>
            <a:endParaRPr lang="en-US" sz="1600" dirty="0"/>
          </a:p>
        </p:txBody>
      </p:sp>
      <p:sp>
        <p:nvSpPr>
          <p:cNvPr id="15" name="Text 10"/>
          <p:cNvSpPr/>
          <p:nvPr/>
        </p:nvSpPr>
        <p:spPr>
          <a:xfrm>
            <a:off x="1020233" y="4169702"/>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8F8F8F"/>
                </a:solidFill>
                <a:latin typeface="JetBrains Mono" pitchFamily="49" charset="0"/>
                <a:ea typeface="JetBrains Mono" pitchFamily="49" charset="-122"/>
                <a:cs typeface="JetBrains Mono" pitchFamily="49" charset="-120"/>
              </a:rPr>
              <a:t># 3 · Arrancar</a:t>
            </a:r>
            <a:endParaRPr lang="en-US" sz="1600" dirty="0"/>
          </a:p>
        </p:txBody>
      </p:sp>
      <p:sp>
        <p:nvSpPr>
          <p:cNvPr id="16" name="Text 11"/>
          <p:cNvSpPr/>
          <p:nvPr/>
        </p:nvSpPr>
        <p:spPr>
          <a:xfrm>
            <a:off x="1020233" y="4494808"/>
            <a:ext cx="6374807"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04BF63"/>
                </a:solidFill>
                <a:latin typeface="JetBrains Mono" pitchFamily="49" charset="0"/>
                <a:ea typeface="JetBrains Mono" pitchFamily="49" charset="-122"/>
                <a:cs typeface="JetBrains Mono" pitchFamily="49" charset="-120"/>
              </a:rPr>
              <a:t>›</a:t>
            </a:r>
            <a:r>
              <a:rPr lang="en-US" sz="1600" dirty="0">
                <a:solidFill>
                  <a:srgbClr val="F9FAFB"/>
                </a:solidFill>
                <a:latin typeface="JetBrains Mono" pitchFamily="49" charset="0"/>
                <a:ea typeface="JetBrains Mono" pitchFamily="49" charset="-122"/>
                <a:cs typeface="JetBrains Mono" pitchFamily="49" charset="-120"/>
              </a:rPr>
              <a:t> claude</a:t>
            </a:r>
            <a:endParaRPr lang="en-US" sz="1600" dirty="0"/>
          </a:p>
        </p:txBody>
      </p:sp>
      <p:sp>
        <p:nvSpPr>
          <p:cNvPr id="17" name="Text 12"/>
          <p:cNvSpPr/>
          <p:nvPr/>
        </p:nvSpPr>
        <p:spPr>
          <a:xfrm>
            <a:off x="7721600" y="1722107"/>
            <a:ext cx="376732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Antes de empezar</a:t>
            </a:r>
            <a:endParaRPr lang="en-US" sz="1600" dirty="0"/>
          </a:p>
        </p:txBody>
      </p:sp>
      <p:pic>
        <p:nvPicPr>
          <p:cNvPr id="18" name="Image 3" descr="CheckCircle">    </p:cNvPr>
          <p:cNvPicPr>
            <a:picLocks noChangeAspect="1"/>
          </p:cNvPicPr>
          <p:nvPr/>
        </p:nvPicPr>
        <p:blipFill>
          <a:blip r:embed="rId4"/>
          <a:srcRect l="0" r="0" t="0" b="0"/>
          <a:stretch/>
        </p:blipFill>
        <p:spPr>
          <a:xfrm>
            <a:off x="7721600" y="2184335"/>
            <a:ext cx="228600" cy="228600"/>
          </a:xfrm>
          <a:prstGeom prst="rect">
            <a:avLst/>
          </a:prstGeom>
        </p:spPr>
      </p:pic>
      <p:sp>
        <p:nvSpPr>
          <p:cNvPr id="19" name="Text 13"/>
          <p:cNvSpPr/>
          <p:nvPr/>
        </p:nvSpPr>
        <p:spPr>
          <a:xfrm>
            <a:off x="8051800" y="2184335"/>
            <a:ext cx="2668905"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Git y SSH ya instalados</a:t>
            </a:r>
            <a:endParaRPr lang="en-US" sz="1600" dirty="0"/>
          </a:p>
        </p:txBody>
      </p:sp>
      <p:pic>
        <p:nvPicPr>
          <p:cNvPr id="20" name="Image 4" descr="CheckCircle">    </p:cNvPr>
          <p:cNvPicPr>
            <a:picLocks noChangeAspect="1"/>
          </p:cNvPicPr>
          <p:nvPr/>
        </p:nvPicPr>
        <p:blipFill>
          <a:blip r:embed="rId5"/>
          <a:srcRect l="-199" r="-199" t="0" b="0"/>
          <a:stretch/>
        </p:blipFill>
        <p:spPr>
          <a:xfrm>
            <a:off x="7721600" y="2636441"/>
            <a:ext cx="216760" cy="228600"/>
          </a:xfrm>
          <a:prstGeom prst="rect">
            <a:avLst/>
          </a:prstGeom>
        </p:spPr>
      </p:pic>
      <p:sp>
        <p:nvSpPr>
          <p:cNvPr id="21" name="Text 14"/>
          <p:cNvSpPr/>
          <p:nvPr/>
        </p:nvSpPr>
        <p:spPr>
          <a:xfrm>
            <a:off x="8039960" y="2636441"/>
            <a:ext cx="3439418"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Cuenta de Claude para iniciar sesión</a:t>
            </a:r>
            <a:endParaRPr lang="en-US" sz="1600" dirty="0"/>
          </a:p>
        </p:txBody>
      </p:sp>
      <p:pic>
        <p:nvPicPr>
          <p:cNvPr id="22" name="Image 5" descr="CheckCircle">    </p:cNvPr>
          <p:cNvPicPr>
            <a:picLocks noChangeAspect="1"/>
          </p:cNvPicPr>
          <p:nvPr/>
        </p:nvPicPr>
        <p:blipFill>
          <a:blip r:embed="rId6"/>
          <a:srcRect l="0" r="0" t="-482" b="-482"/>
          <a:stretch/>
        </p:blipFill>
        <p:spPr>
          <a:xfrm>
            <a:off x="7721600" y="3362855"/>
            <a:ext cx="226417" cy="228600"/>
          </a:xfrm>
          <a:prstGeom prst="rect">
            <a:avLst/>
          </a:prstGeom>
        </p:spPr>
      </p:pic>
      <p:sp>
        <p:nvSpPr>
          <p:cNvPr id="23" name="Text 15"/>
          <p:cNvSpPr/>
          <p:nvPr/>
        </p:nvSpPr>
        <p:spPr>
          <a:xfrm>
            <a:off x="8049617" y="3362855"/>
            <a:ext cx="3429470"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develop trae CLAUDE.md y el hook</a:t>
            </a:r>
            <a:endParaRPr lang="en-US" sz="1600" dirty="0"/>
          </a:p>
        </p:txBody>
      </p:sp>
      <p:pic>
        <p:nvPicPr>
          <p:cNvPr id="24" name="Image 6" descr="CheckCircle">    </p:cNvPr>
          <p:cNvPicPr>
            <a:picLocks noChangeAspect="1"/>
          </p:cNvPicPr>
          <p:nvPr/>
        </p:nvPicPr>
        <p:blipFill>
          <a:blip r:embed="rId7"/>
          <a:srcRect l="0" r="0" t="0" b="0"/>
          <a:stretch/>
        </p:blipFill>
        <p:spPr>
          <a:xfrm>
            <a:off x="7721600" y="4089268"/>
            <a:ext cx="228600" cy="228600"/>
          </a:xfrm>
          <a:prstGeom prst="rect">
            <a:avLst/>
          </a:prstGeom>
        </p:spPr>
      </p:pic>
      <p:sp>
        <p:nvSpPr>
          <p:cNvPr id="25" name="Text 16"/>
          <p:cNvSpPr/>
          <p:nvPr/>
        </p:nvSpPr>
        <p:spPr>
          <a:xfrm>
            <a:off x="8051800" y="4089268"/>
            <a:ext cx="3133646"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Ya adentro: /hooks una vez</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El ciclo del vibecoding</a:t>
            </a:r>
            <a:endParaRPr lang="en-US" sz="3600" dirty="0"/>
          </a:p>
        </p:txBody>
      </p:sp>
      <p:sp>
        <p:nvSpPr>
          <p:cNvPr id="3" name="Shape 1"/>
          <p:cNvSpPr/>
          <p:nvPr/>
        </p:nvSpPr>
        <p:spPr>
          <a:xfrm>
            <a:off x="819150" y="1766559"/>
            <a:ext cx="2400300" cy="2273300"/>
          </a:xfrm>
          <a:prstGeom prst="roundRect">
            <a:avLst>
              <a:gd name="adj" fmla="val 6425"/>
            </a:avLst>
          </a:prstGeom>
          <a:solidFill>
            <a:srgbClr val="141414"/>
          </a:solidFill>
          <a:ln w="12700">
            <a:solidFill>
              <a:srgbClr val="333333"/>
            </a:solidFill>
            <a:prstDash val="solid"/>
          </a:ln>
        </p:spPr>
      </p:sp>
      <p:sp>
        <p:nvSpPr>
          <p:cNvPr id="4" name="Text 2"/>
          <p:cNvSpPr/>
          <p:nvPr/>
        </p:nvSpPr>
        <p:spPr>
          <a:xfrm>
            <a:off x="977900" y="192530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01</a:t>
            </a:r>
            <a:endParaRPr lang="en-US" sz="1200" dirty="0"/>
          </a:p>
        </p:txBody>
      </p:sp>
      <p:sp>
        <p:nvSpPr>
          <p:cNvPr id="5" name="Text 3"/>
          <p:cNvSpPr/>
          <p:nvPr/>
        </p:nvSpPr>
        <p:spPr>
          <a:xfrm>
            <a:off x="977900" y="2214829"/>
            <a:ext cx="214528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FAFB"/>
                </a:solidFill>
                <a:latin typeface="Inter" pitchFamily="34" charset="0"/>
                <a:ea typeface="Inter" pitchFamily="34" charset="-122"/>
                <a:cs typeface="Inter" pitchFamily="34" charset="-120"/>
              </a:rPr>
              <a:t>Especificar</a:t>
            </a:r>
            <a:endParaRPr lang="en-US" sz="2200" dirty="0"/>
          </a:p>
        </p:txBody>
      </p:sp>
      <p:sp>
        <p:nvSpPr>
          <p:cNvPr id="6" name="Text 4"/>
          <p:cNvSpPr/>
          <p:nvPr/>
        </p:nvSpPr>
        <p:spPr>
          <a:xfrm>
            <a:off x="977900" y="2626255"/>
            <a:ext cx="2145284" cy="8483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Qué quiero, cómo sé que quedó bien, qué no se toca.</a:t>
            </a:r>
            <a:endParaRPr lang="en-US" sz="1600" dirty="0"/>
          </a:p>
        </p:txBody>
      </p:sp>
      <p:sp>
        <p:nvSpPr>
          <p:cNvPr id="7" name="Shape 5"/>
          <p:cNvSpPr/>
          <p:nvPr/>
        </p:nvSpPr>
        <p:spPr>
          <a:xfrm>
            <a:off x="3536950" y="1766559"/>
            <a:ext cx="2400300" cy="2273300"/>
          </a:xfrm>
          <a:prstGeom prst="roundRect">
            <a:avLst>
              <a:gd name="adj" fmla="val 6425"/>
            </a:avLst>
          </a:prstGeom>
          <a:solidFill>
            <a:srgbClr val="141414"/>
          </a:solidFill>
          <a:ln w="12700">
            <a:solidFill>
              <a:srgbClr val="333333"/>
            </a:solidFill>
            <a:prstDash val="solid"/>
          </a:ln>
        </p:spPr>
      </p:sp>
      <p:sp>
        <p:nvSpPr>
          <p:cNvPr id="8" name="Text 6"/>
          <p:cNvSpPr/>
          <p:nvPr/>
        </p:nvSpPr>
        <p:spPr>
          <a:xfrm>
            <a:off x="3695700" y="192530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695700" y="2214829"/>
            <a:ext cx="214528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FAFB"/>
                </a:solidFill>
                <a:latin typeface="Inter" pitchFamily="34" charset="0"/>
                <a:ea typeface="Inter" pitchFamily="34" charset="-122"/>
                <a:cs typeface="Inter" pitchFamily="34" charset="-120"/>
              </a:rPr>
              <a:t>Generar</a:t>
            </a:r>
            <a:endParaRPr lang="en-US" sz="2200" dirty="0"/>
          </a:p>
        </p:txBody>
      </p:sp>
      <p:sp>
        <p:nvSpPr>
          <p:cNvPr id="10" name="Text 8"/>
          <p:cNvSpPr/>
          <p:nvPr/>
        </p:nvSpPr>
        <p:spPr>
          <a:xfrm>
            <a:off x="3695700" y="2626255"/>
            <a:ext cx="2145284" cy="8483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Claude Code propone un plan y después el código.</a:t>
            </a:r>
            <a:endParaRPr lang="en-US" sz="1600" dirty="0"/>
          </a:p>
        </p:txBody>
      </p:sp>
      <p:sp>
        <p:nvSpPr>
          <p:cNvPr id="11" name="Shape 9"/>
          <p:cNvSpPr/>
          <p:nvPr/>
        </p:nvSpPr>
        <p:spPr>
          <a:xfrm>
            <a:off x="6254750" y="1766559"/>
            <a:ext cx="2400300" cy="2273300"/>
          </a:xfrm>
          <a:prstGeom prst="roundRect">
            <a:avLst>
              <a:gd name="adj" fmla="val 6425"/>
            </a:avLst>
          </a:prstGeom>
          <a:solidFill>
            <a:srgbClr val="141414"/>
          </a:solidFill>
          <a:ln w="12700">
            <a:solidFill>
              <a:srgbClr val="333333"/>
            </a:solidFill>
            <a:prstDash val="solid"/>
          </a:ln>
        </p:spPr>
      </p:sp>
      <p:sp>
        <p:nvSpPr>
          <p:cNvPr id="12" name="Text 10"/>
          <p:cNvSpPr/>
          <p:nvPr/>
        </p:nvSpPr>
        <p:spPr>
          <a:xfrm>
            <a:off x="6413500" y="192530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6413500" y="2214829"/>
            <a:ext cx="214528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FAFB"/>
                </a:solidFill>
                <a:latin typeface="Inter" pitchFamily="34" charset="0"/>
                <a:ea typeface="Inter" pitchFamily="34" charset="-122"/>
                <a:cs typeface="Inter" pitchFamily="34" charset="-120"/>
              </a:rPr>
              <a:t>Verificar</a:t>
            </a:r>
            <a:endParaRPr lang="en-US" sz="2200" dirty="0"/>
          </a:p>
        </p:txBody>
      </p:sp>
      <p:sp>
        <p:nvSpPr>
          <p:cNvPr id="14" name="Text 12"/>
          <p:cNvSpPr/>
          <p:nvPr/>
        </p:nvSpPr>
        <p:spPr>
          <a:xfrm>
            <a:off x="6413500" y="2626255"/>
            <a:ext cx="2145284"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Lo corro, leo el diff, le pego a la API real.</a:t>
            </a:r>
            <a:endParaRPr lang="en-US" sz="1600" dirty="0"/>
          </a:p>
        </p:txBody>
      </p:sp>
      <p:sp>
        <p:nvSpPr>
          <p:cNvPr id="15" name="Shape 13"/>
          <p:cNvSpPr/>
          <p:nvPr/>
        </p:nvSpPr>
        <p:spPr>
          <a:xfrm>
            <a:off x="8972550" y="1766559"/>
            <a:ext cx="2400300" cy="2273300"/>
          </a:xfrm>
          <a:prstGeom prst="roundRect">
            <a:avLst>
              <a:gd name="adj" fmla="val 6425"/>
            </a:avLst>
          </a:prstGeom>
          <a:solidFill>
            <a:srgbClr val="111111"/>
          </a:solidFill>
          <a:ln w="12700">
            <a:solidFill>
              <a:srgbClr val="04BF63"/>
            </a:solidFill>
            <a:prstDash val="solid"/>
          </a:ln>
        </p:spPr>
      </p:sp>
      <p:sp>
        <p:nvSpPr>
          <p:cNvPr id="16" name="Text 14"/>
          <p:cNvSpPr/>
          <p:nvPr/>
        </p:nvSpPr>
        <p:spPr>
          <a:xfrm>
            <a:off x="9131300" y="1925309"/>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04</a:t>
            </a:r>
            <a:endParaRPr lang="en-US" sz="1200" dirty="0"/>
          </a:p>
        </p:txBody>
      </p:sp>
      <p:sp>
        <p:nvSpPr>
          <p:cNvPr id="17" name="Text 15"/>
          <p:cNvSpPr/>
          <p:nvPr/>
        </p:nvSpPr>
        <p:spPr>
          <a:xfrm>
            <a:off x="9131300" y="2214829"/>
            <a:ext cx="214528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FAFB"/>
                </a:solidFill>
                <a:latin typeface="Inter" pitchFamily="34" charset="0"/>
                <a:ea typeface="Inter" pitchFamily="34" charset="-122"/>
                <a:cs typeface="Inter" pitchFamily="34" charset="-120"/>
              </a:rPr>
              <a:t>Commit</a:t>
            </a:r>
            <a:endParaRPr lang="en-US" sz="2200" dirty="0"/>
          </a:p>
        </p:txBody>
      </p:sp>
      <p:sp>
        <p:nvSpPr>
          <p:cNvPr id="18" name="Text 16"/>
          <p:cNvSpPr/>
          <p:nvPr/>
        </p:nvSpPr>
        <p:spPr>
          <a:xfrm>
            <a:off x="9131300" y="2626255"/>
            <a:ext cx="2145284"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Si sirve: commit chico en nico_work.</a:t>
            </a:r>
            <a:endParaRPr lang="en-US" sz="1600" dirty="0"/>
          </a:p>
        </p:txBody>
      </p:sp>
      <p:pic>
        <p:nvPicPr>
          <p:cNvPr id="19" name="Image 0" descr="connector">    </p:cNvPr>
          <p:cNvPicPr>
            <a:picLocks noChangeAspect="1"/>
          </p:cNvPicPr>
          <p:nvPr/>
        </p:nvPicPr>
        <p:blipFill>
          <a:blip r:embed="rId1"/>
          <a:srcRect l="0" r="0" t="0" b="0"/>
          <a:stretch/>
        </p:blipFill>
        <p:spPr>
          <a:xfrm>
            <a:off x="3175000" y="2852409"/>
            <a:ext cx="406400" cy="101600"/>
          </a:xfrm>
          <a:prstGeom prst="rect">
            <a:avLst/>
          </a:prstGeom>
        </p:spPr>
      </p:pic>
      <p:pic>
        <p:nvPicPr>
          <p:cNvPr id="20" name="Image 1" descr="connector">    </p:cNvPr>
          <p:cNvPicPr>
            <a:picLocks noChangeAspect="1"/>
          </p:cNvPicPr>
          <p:nvPr/>
        </p:nvPicPr>
        <p:blipFill>
          <a:blip r:embed="rId2"/>
          <a:srcRect l="0" r="0" t="0" b="0"/>
          <a:stretch/>
        </p:blipFill>
        <p:spPr>
          <a:xfrm>
            <a:off x="5892800" y="2852409"/>
            <a:ext cx="406400" cy="101600"/>
          </a:xfrm>
          <a:prstGeom prst="rect">
            <a:avLst/>
          </a:prstGeom>
        </p:spPr>
      </p:pic>
      <p:pic>
        <p:nvPicPr>
          <p:cNvPr id="21" name="Image 2" descr="connector">    </p:cNvPr>
          <p:cNvPicPr>
            <a:picLocks noChangeAspect="1"/>
          </p:cNvPicPr>
          <p:nvPr/>
        </p:nvPicPr>
        <p:blipFill>
          <a:blip r:embed="rId3"/>
          <a:srcRect l="0" r="0" t="0" b="0"/>
          <a:stretch/>
        </p:blipFill>
        <p:spPr>
          <a:xfrm>
            <a:off x="8610600" y="2852409"/>
            <a:ext cx="406400" cy="101600"/>
          </a:xfrm>
          <a:prstGeom prst="rect">
            <a:avLst/>
          </a:prstGeom>
        </p:spPr>
      </p:pic>
      <p:pic>
        <p:nvPicPr>
          <p:cNvPr id="22" name="Image 3" descr="connector">    </p:cNvPr>
          <p:cNvPicPr>
            <a:picLocks noChangeAspect="1"/>
          </p:cNvPicPr>
          <p:nvPr/>
        </p:nvPicPr>
        <p:blipFill>
          <a:blip r:embed="rId4"/>
          <a:srcRect l="0" r="0" t="0" b="0"/>
          <a:stretch/>
        </p:blipFill>
        <p:spPr>
          <a:xfrm>
            <a:off x="10121900" y="3995409"/>
            <a:ext cx="101600" cy="546100"/>
          </a:xfrm>
          <a:prstGeom prst="rect">
            <a:avLst/>
          </a:prstGeom>
        </p:spPr>
      </p:pic>
      <p:pic>
        <p:nvPicPr>
          <p:cNvPr id="23" name="Image 4" descr="connector">    </p:cNvPr>
          <p:cNvPicPr>
            <a:picLocks noChangeAspect="1"/>
          </p:cNvPicPr>
          <p:nvPr/>
        </p:nvPicPr>
        <p:blipFill>
          <a:blip r:embed="rId5"/>
          <a:srcRect l="0" r="0" t="0" b="0"/>
          <a:stretch/>
        </p:blipFill>
        <p:spPr>
          <a:xfrm>
            <a:off x="1968500" y="4439909"/>
            <a:ext cx="8255000" cy="101600"/>
          </a:xfrm>
          <a:prstGeom prst="rect">
            <a:avLst/>
          </a:prstGeom>
        </p:spPr>
      </p:pic>
      <p:pic>
        <p:nvPicPr>
          <p:cNvPr id="24" name="Image 5" descr="connector">    </p:cNvPr>
          <p:cNvPicPr>
            <a:picLocks noChangeAspect="1"/>
          </p:cNvPicPr>
          <p:nvPr/>
        </p:nvPicPr>
        <p:blipFill>
          <a:blip r:embed="rId6"/>
          <a:srcRect l="0" r="0" t="0" b="0"/>
          <a:stretch/>
        </p:blipFill>
        <p:spPr>
          <a:xfrm>
            <a:off x="1968500" y="3995409"/>
            <a:ext cx="101600" cy="546100"/>
          </a:xfrm>
          <a:prstGeom prst="rect">
            <a:avLst/>
          </a:prstGeom>
        </p:spPr>
      </p:pic>
      <p:sp>
        <p:nvSpPr>
          <p:cNvPr id="25" name="Text 17"/>
          <p:cNvSpPr/>
          <p:nvPr/>
        </p:nvSpPr>
        <p:spPr>
          <a:xfrm>
            <a:off x="3152775" y="4592309"/>
            <a:ext cx="58864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3A3"/>
                </a:solidFill>
                <a:latin typeface="Inter" pitchFamily="34" charset="0"/>
                <a:ea typeface="Inter" pitchFamily="34" charset="-122"/>
                <a:cs typeface="Inter" pitchFamily="34" charset="-120"/>
              </a:rPr>
              <a:t>¿No funcionó? No repitas el prompt: ajusta la spec y vuelve a empezar.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Pedido vago vs. pedido con spec</a:t>
            </a:r>
            <a:endParaRPr lang="en-US" sz="3600" dirty="0"/>
          </a:p>
        </p:txBody>
      </p:sp>
      <p:sp>
        <p:nvSpPr>
          <p:cNvPr id="3" name="Shape 1"/>
          <p:cNvSpPr/>
          <p:nvPr/>
        </p:nvSpPr>
        <p:spPr>
          <a:xfrm>
            <a:off x="819150" y="1576059"/>
            <a:ext cx="5118100" cy="4462793"/>
          </a:xfrm>
          <a:prstGeom prst="roundRect">
            <a:avLst>
              <a:gd name="adj" fmla="val 3273"/>
            </a:avLst>
          </a:prstGeom>
          <a:solidFill>
            <a:srgbClr val="101010"/>
          </a:solidFill>
          <a:ln w="12700">
            <a:solidFill>
              <a:srgbClr val="262626"/>
            </a:solidFill>
            <a:prstDash val="solid"/>
          </a:ln>
        </p:spPr>
      </p:sp>
      <p:sp>
        <p:nvSpPr>
          <p:cNvPr id="4" name="Text 2"/>
          <p:cNvSpPr/>
          <p:nvPr/>
        </p:nvSpPr>
        <p:spPr>
          <a:xfrm>
            <a:off x="1130300" y="1887209"/>
            <a:ext cx="463067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A3A3"/>
                </a:solidFill>
                <a:latin typeface="Inter" pitchFamily="34" charset="0"/>
                <a:ea typeface="Inter" pitchFamily="34" charset="-122"/>
                <a:cs typeface="Inter" pitchFamily="34" charset="-120"/>
              </a:rPr>
              <a:t>VAGO</a:t>
            </a:r>
            <a:endParaRPr lang="en-US" sz="1200" dirty="0"/>
          </a:p>
        </p:txBody>
      </p:sp>
      <p:sp>
        <p:nvSpPr>
          <p:cNvPr id="5" name="Text 3"/>
          <p:cNvSpPr/>
          <p:nvPr/>
        </p:nvSpPr>
        <p:spPr>
          <a:xfrm>
            <a:off x="1130300" y="2278329"/>
            <a:ext cx="4630674"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9FAFB"/>
                </a:solidFill>
                <a:latin typeface="Inter" pitchFamily="34" charset="0"/>
                <a:ea typeface="Inter" pitchFamily="34" charset="-122"/>
                <a:cs typeface="Inter" pitchFamily="34" charset="-120"/>
              </a:rPr>
              <a:t>“Mejora la telemetría del rover.”</a:t>
            </a:r>
            <a:endParaRPr lang="en-US" sz="2200" dirty="0"/>
          </a:p>
        </p:txBody>
      </p:sp>
      <p:sp>
        <p:nvSpPr>
          <p:cNvPr id="6" name="Text 4"/>
          <p:cNvSpPr/>
          <p:nvPr/>
        </p:nvSpPr>
        <p:spPr>
          <a:xfrm>
            <a:off x="1130300" y="5158848"/>
            <a:ext cx="4630674"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La IA adivina qué querías. Tú no sabes cómo revisarlo.</a:t>
            </a:r>
            <a:endParaRPr lang="en-US" sz="1600" dirty="0"/>
          </a:p>
        </p:txBody>
      </p:sp>
      <p:sp>
        <p:nvSpPr>
          <p:cNvPr id="7" name="Shape 5"/>
          <p:cNvSpPr/>
          <p:nvPr/>
        </p:nvSpPr>
        <p:spPr>
          <a:xfrm>
            <a:off x="6254750" y="1576059"/>
            <a:ext cx="5118100" cy="4462793"/>
          </a:xfrm>
          <a:prstGeom prst="roundRect">
            <a:avLst>
              <a:gd name="adj" fmla="val 3273"/>
            </a:avLst>
          </a:prstGeom>
          <a:solidFill>
            <a:srgbClr val="111111"/>
          </a:solidFill>
          <a:ln w="12700">
            <a:solidFill>
              <a:srgbClr val="04BF63"/>
            </a:solidFill>
            <a:prstDash val="solid"/>
          </a:ln>
        </p:spPr>
      </p:sp>
      <p:sp>
        <p:nvSpPr>
          <p:cNvPr id="8" name="Text 6"/>
          <p:cNvSpPr/>
          <p:nvPr/>
        </p:nvSpPr>
        <p:spPr>
          <a:xfrm>
            <a:off x="6565900" y="1887209"/>
            <a:ext cx="463067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4BF63"/>
                </a:solidFill>
                <a:latin typeface="Inter" pitchFamily="34" charset="0"/>
                <a:ea typeface="Inter" pitchFamily="34" charset="-122"/>
                <a:cs typeface="Inter" pitchFamily="34" charset="-120"/>
              </a:rPr>
              <a:t>CON SPEC</a:t>
            </a:r>
            <a:endParaRPr lang="en-US" sz="1200" dirty="0"/>
          </a:p>
        </p:txBody>
      </p:sp>
      <p:sp>
        <p:nvSpPr>
          <p:cNvPr id="9" name="Text 7"/>
          <p:cNvSpPr/>
          <p:nvPr/>
        </p:nvSpPr>
        <p:spPr>
          <a:xfrm>
            <a:off x="6565900" y="2278329"/>
            <a:ext cx="4630674" cy="120385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9FAFB"/>
                </a:solidFill>
                <a:latin typeface="Inter" pitchFamily="34" charset="0"/>
                <a:ea typeface="Inter" pitchFamily="34" charset="-122"/>
                <a:cs typeface="Inter" pitchFamily="34" charset="-120"/>
              </a:rPr>
              <a:t>“Agrega a /api/telemetry un campo battery_pct: la batería de 0 a 100 con 1 decimal. No cambies los campos que ya existen. Lo pruebo con GET en /docs.”</a:t>
            </a:r>
            <a:endParaRPr lang="en-US" sz="1600" dirty="0"/>
          </a:p>
        </p:txBody>
      </p:sp>
      <p:sp>
        <p:nvSpPr>
          <p:cNvPr id="10" name="Text 8"/>
          <p:cNvSpPr/>
          <p:nvPr/>
        </p:nvSpPr>
        <p:spPr>
          <a:xfrm>
            <a:off x="6565900" y="5412780"/>
            <a:ext cx="869355" cy="314920"/>
          </a:xfrm>
          <a:prstGeom prst="roundRect">
            <a:avLst>
              <a:gd name="adj" fmla="val 50000"/>
            </a:avLst>
          </a:prstGeom>
          <a:solidFill>
            <a:srgbClr val="0C2418"/>
          </a:solidFill>
          <a:ln/>
        </p:spPr>
        <p:txBody>
          <a:bodyPr wrap="none" lIns="0" tIns="0" rIns="0" bIns="0" rtlCol="0" anchor="ctr">
            <a:normAutofit/>
          </a:bodyPr>
          <a:lstStyle/>
          <a:p>
            <a:pPr algn="ctr" indent="0" marL="0">
              <a:lnSpc>
                <a:spcPts val="1680"/>
              </a:lnSpc>
              <a:buNone/>
            </a:pPr>
            <a:r>
              <a:rPr lang="en-US" sz="1200" b="1" dirty="0">
                <a:solidFill>
                  <a:srgbClr val="B9F5D3"/>
                </a:solidFill>
                <a:latin typeface="Inter" pitchFamily="34" charset="0"/>
                <a:ea typeface="Inter" pitchFamily="34" charset="-122"/>
                <a:cs typeface="Inter" pitchFamily="34" charset="-120"/>
              </a:rPr>
              <a:t>Objetivo</a:t>
            </a:r>
            <a:endParaRPr lang="en-US" sz="1200" dirty="0"/>
          </a:p>
        </p:txBody>
      </p:sp>
      <p:sp>
        <p:nvSpPr>
          <p:cNvPr id="11" name="Text 9"/>
          <p:cNvSpPr/>
          <p:nvPr/>
        </p:nvSpPr>
        <p:spPr>
          <a:xfrm>
            <a:off x="7511455" y="5412780"/>
            <a:ext cx="1424847" cy="314920"/>
          </a:xfrm>
          <a:prstGeom prst="roundRect">
            <a:avLst>
              <a:gd name="adj" fmla="val 50000"/>
            </a:avLst>
          </a:prstGeom>
          <a:solidFill>
            <a:srgbClr val="0C2418"/>
          </a:solidFill>
          <a:ln/>
        </p:spPr>
        <p:txBody>
          <a:bodyPr wrap="none" lIns="0" tIns="0" rIns="0" bIns="0" rtlCol="0" anchor="ctr">
            <a:normAutofit/>
          </a:bodyPr>
          <a:lstStyle/>
          <a:p>
            <a:pPr algn="ctr" indent="0" marL="0">
              <a:lnSpc>
                <a:spcPts val="1680"/>
              </a:lnSpc>
              <a:buNone/>
            </a:pPr>
            <a:r>
              <a:rPr lang="en-US" sz="1200" b="1" dirty="0">
                <a:solidFill>
                  <a:srgbClr val="B9F5D3"/>
                </a:solidFill>
                <a:latin typeface="Inter" pitchFamily="34" charset="0"/>
                <a:ea typeface="Inter" pitchFamily="34" charset="-122"/>
                <a:cs typeface="Inter" pitchFamily="34" charset="-120"/>
              </a:rPr>
              <a:t>Criterio de éxito</a:t>
            </a:r>
            <a:endParaRPr lang="en-US" sz="1200" dirty="0"/>
          </a:p>
        </p:txBody>
      </p:sp>
      <p:sp>
        <p:nvSpPr>
          <p:cNvPr id="12" name="Text 10"/>
          <p:cNvSpPr/>
          <p:nvPr/>
        </p:nvSpPr>
        <p:spPr>
          <a:xfrm>
            <a:off x="9012503" y="5412780"/>
            <a:ext cx="1083932" cy="314920"/>
          </a:xfrm>
          <a:prstGeom prst="roundRect">
            <a:avLst>
              <a:gd name="adj" fmla="val 50000"/>
            </a:avLst>
          </a:prstGeom>
          <a:solidFill>
            <a:srgbClr val="0C2418"/>
          </a:solidFill>
          <a:ln/>
        </p:spPr>
        <p:txBody>
          <a:bodyPr wrap="none" lIns="0" tIns="0" rIns="0" bIns="0" rtlCol="0" anchor="ctr">
            <a:normAutofit/>
          </a:bodyPr>
          <a:lstStyle/>
          <a:p>
            <a:pPr algn="ctr" indent="0" marL="0">
              <a:lnSpc>
                <a:spcPts val="1680"/>
              </a:lnSpc>
              <a:buNone/>
            </a:pPr>
            <a:r>
              <a:rPr lang="en-US" sz="1200" b="1" dirty="0">
                <a:solidFill>
                  <a:srgbClr val="B9F5D3"/>
                </a:solidFill>
                <a:latin typeface="Inter" pitchFamily="34" charset="0"/>
                <a:ea typeface="Inter" pitchFamily="34" charset="-122"/>
                <a:cs typeface="Inter" pitchFamily="34" charset="-120"/>
              </a:rPr>
              <a:t>Restricción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Buenas prácticas</a:t>
            </a:r>
            <a:endParaRPr lang="en-US" sz="3600" dirty="0"/>
          </a:p>
        </p:txBody>
      </p:sp>
      <p:sp>
        <p:nvSpPr>
          <p:cNvPr id="3" name="Shape 1"/>
          <p:cNvSpPr/>
          <p:nvPr/>
        </p:nvSpPr>
        <p:spPr>
          <a:xfrm>
            <a:off x="815975" y="1572884"/>
            <a:ext cx="5175250" cy="1476441"/>
          </a:xfrm>
          <a:prstGeom prst="roundRect">
            <a:avLst>
              <a:gd name="adj" fmla="val 10107"/>
            </a:avLst>
          </a:prstGeom>
          <a:solidFill>
            <a:srgbClr val="141414"/>
          </a:solidFill>
          <a:ln w="6350">
            <a:solidFill>
              <a:srgbClr val="262626"/>
            </a:solidFill>
            <a:prstDash val="solid"/>
          </a:ln>
        </p:spPr>
      </p:sp>
      <p:pic>
        <p:nvPicPr>
          <p:cNvPr id="4" name="Image 0" descr="Lightbulb">    </p:cNvPr>
          <p:cNvPicPr>
            <a:picLocks noChangeAspect="1"/>
          </p:cNvPicPr>
          <p:nvPr/>
        </p:nvPicPr>
        <p:blipFill>
          <a:blip r:embed="rId1"/>
          <a:srcRect l="0" r="0" t="0" b="0"/>
          <a:stretch/>
        </p:blipFill>
        <p:spPr>
          <a:xfrm>
            <a:off x="1071033" y="1827941"/>
            <a:ext cx="330200" cy="330200"/>
          </a:xfrm>
          <a:prstGeom prst="rect">
            <a:avLst/>
          </a:prstGeom>
        </p:spPr>
      </p:pic>
      <p:sp>
        <p:nvSpPr>
          <p:cNvPr id="5" name="Text 2"/>
          <p:cNvSpPr/>
          <p:nvPr/>
        </p:nvSpPr>
        <p:spPr>
          <a:xfrm>
            <a:off x="1579033" y="1827941"/>
            <a:ext cx="428184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Plan primero</a:t>
            </a:r>
            <a:endParaRPr lang="en-US" sz="2200" dirty="0"/>
          </a:p>
        </p:txBody>
      </p:sp>
      <p:sp>
        <p:nvSpPr>
          <p:cNvPr id="6" name="Text 3"/>
          <p:cNvSpPr/>
          <p:nvPr/>
        </p:nvSpPr>
        <p:spPr>
          <a:xfrm>
            <a:off x="1579033" y="2225411"/>
            <a:ext cx="428184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Shift+Tab activa Plan Mode. Lee el plan antes de dejarlo tocar archivos.</a:t>
            </a:r>
            <a:endParaRPr lang="en-US" sz="1600" dirty="0"/>
          </a:p>
        </p:txBody>
      </p:sp>
      <p:sp>
        <p:nvSpPr>
          <p:cNvPr id="7" name="Shape 4"/>
          <p:cNvSpPr/>
          <p:nvPr/>
        </p:nvSpPr>
        <p:spPr>
          <a:xfrm>
            <a:off x="6200775" y="1572884"/>
            <a:ext cx="5175250" cy="1476441"/>
          </a:xfrm>
          <a:prstGeom prst="roundRect">
            <a:avLst>
              <a:gd name="adj" fmla="val 10107"/>
            </a:avLst>
          </a:prstGeom>
          <a:solidFill>
            <a:srgbClr val="141414"/>
          </a:solidFill>
          <a:ln w="6350">
            <a:solidFill>
              <a:srgbClr val="262626"/>
            </a:solidFill>
            <a:prstDash val="solid"/>
          </a:ln>
        </p:spPr>
      </p:sp>
      <p:pic>
        <p:nvPicPr>
          <p:cNvPr id="8" name="Image 1" descr="Check">    </p:cNvPr>
          <p:cNvPicPr>
            <a:picLocks noChangeAspect="1"/>
          </p:cNvPicPr>
          <p:nvPr/>
        </p:nvPicPr>
        <p:blipFill>
          <a:blip r:embed="rId2"/>
          <a:srcRect l="0" r="0" t="0" b="0"/>
          <a:stretch/>
        </p:blipFill>
        <p:spPr>
          <a:xfrm>
            <a:off x="6455833" y="1827941"/>
            <a:ext cx="330200" cy="330200"/>
          </a:xfrm>
          <a:prstGeom prst="rect">
            <a:avLst/>
          </a:prstGeom>
        </p:spPr>
      </p:pic>
      <p:sp>
        <p:nvSpPr>
          <p:cNvPr id="9" name="Text 5"/>
          <p:cNvSpPr/>
          <p:nvPr/>
        </p:nvSpPr>
        <p:spPr>
          <a:xfrm>
            <a:off x="6963834" y="1827941"/>
            <a:ext cx="428184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Pasos chicos</a:t>
            </a:r>
            <a:endParaRPr lang="en-US" sz="2200" dirty="0"/>
          </a:p>
        </p:txBody>
      </p:sp>
      <p:sp>
        <p:nvSpPr>
          <p:cNvPr id="10" name="Text 6"/>
          <p:cNvSpPr/>
          <p:nvPr/>
        </p:nvSpPr>
        <p:spPr>
          <a:xfrm>
            <a:off x="6963834" y="2225411"/>
            <a:ext cx="428184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Un pedido, una verificación, un commit. Si es grande, pártelo.</a:t>
            </a:r>
            <a:endParaRPr lang="en-US" sz="1600" dirty="0"/>
          </a:p>
        </p:txBody>
      </p:sp>
      <p:sp>
        <p:nvSpPr>
          <p:cNvPr id="11" name="Shape 7"/>
          <p:cNvSpPr/>
          <p:nvPr/>
        </p:nvSpPr>
        <p:spPr>
          <a:xfrm>
            <a:off x="815975" y="3258874"/>
            <a:ext cx="5175250" cy="1476441"/>
          </a:xfrm>
          <a:prstGeom prst="roundRect">
            <a:avLst>
              <a:gd name="adj" fmla="val 10107"/>
            </a:avLst>
          </a:prstGeom>
          <a:solidFill>
            <a:srgbClr val="141414"/>
          </a:solidFill>
          <a:ln w="6350">
            <a:solidFill>
              <a:srgbClr val="262626"/>
            </a:solidFill>
            <a:prstDash val="solid"/>
          </a:ln>
        </p:spPr>
      </p:sp>
      <p:pic>
        <p:nvPicPr>
          <p:cNvPr id="12" name="Image 2" descr="Book">    </p:cNvPr>
          <p:cNvPicPr>
            <a:picLocks noChangeAspect="1"/>
          </p:cNvPicPr>
          <p:nvPr/>
        </p:nvPicPr>
        <p:blipFill>
          <a:blip r:embed="rId3"/>
          <a:srcRect l="0" r="0" t="0" b="0"/>
          <a:stretch/>
        </p:blipFill>
        <p:spPr>
          <a:xfrm>
            <a:off x="1071033" y="3513931"/>
            <a:ext cx="330200" cy="330200"/>
          </a:xfrm>
          <a:prstGeom prst="rect">
            <a:avLst/>
          </a:prstGeom>
        </p:spPr>
      </p:pic>
      <p:sp>
        <p:nvSpPr>
          <p:cNvPr id="13" name="Text 8"/>
          <p:cNvSpPr/>
          <p:nvPr/>
        </p:nvSpPr>
        <p:spPr>
          <a:xfrm>
            <a:off x="1579033" y="3513931"/>
            <a:ext cx="428184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Contexto explícito</a:t>
            </a:r>
            <a:endParaRPr lang="en-US" sz="2200" dirty="0"/>
          </a:p>
        </p:txBody>
      </p:sp>
      <p:sp>
        <p:nvSpPr>
          <p:cNvPr id="14" name="Text 9"/>
          <p:cNvSpPr/>
          <p:nvPr/>
        </p:nvSpPr>
        <p:spPr>
          <a:xfrm>
            <a:off x="1579033" y="3911402"/>
            <a:ext cx="428184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Qué archivos mirar y qué NO tocar. Lo que no dices, la IA lo inventa.</a:t>
            </a:r>
            <a:endParaRPr lang="en-US" sz="1600" dirty="0"/>
          </a:p>
        </p:txBody>
      </p:sp>
      <p:sp>
        <p:nvSpPr>
          <p:cNvPr id="15" name="Shape 10"/>
          <p:cNvSpPr/>
          <p:nvPr/>
        </p:nvSpPr>
        <p:spPr>
          <a:xfrm>
            <a:off x="6200775" y="3258874"/>
            <a:ext cx="5175250" cy="1476441"/>
          </a:xfrm>
          <a:prstGeom prst="roundRect">
            <a:avLst>
              <a:gd name="adj" fmla="val 10107"/>
            </a:avLst>
          </a:prstGeom>
          <a:solidFill>
            <a:srgbClr val="141414"/>
          </a:solidFill>
          <a:ln w="6350">
            <a:solidFill>
              <a:srgbClr val="262626"/>
            </a:solidFill>
            <a:prstDash val="solid"/>
          </a:ln>
        </p:spPr>
      </p:sp>
      <p:pic>
        <p:nvPicPr>
          <p:cNvPr id="16" name="Image 3" descr="Search">    </p:cNvPr>
          <p:cNvPicPr>
            <a:picLocks noChangeAspect="1"/>
          </p:cNvPicPr>
          <p:nvPr/>
        </p:nvPicPr>
        <p:blipFill>
          <a:blip r:embed="rId4"/>
          <a:srcRect l="0" r="0" t="0" b="0"/>
          <a:stretch/>
        </p:blipFill>
        <p:spPr>
          <a:xfrm>
            <a:off x="6455833" y="3513931"/>
            <a:ext cx="330200" cy="330200"/>
          </a:xfrm>
          <a:prstGeom prst="rect">
            <a:avLst/>
          </a:prstGeom>
        </p:spPr>
      </p:pic>
      <p:sp>
        <p:nvSpPr>
          <p:cNvPr id="17" name="Text 11"/>
          <p:cNvSpPr/>
          <p:nvPr/>
        </p:nvSpPr>
        <p:spPr>
          <a:xfrm>
            <a:off x="6963834" y="3513931"/>
            <a:ext cx="428184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Verifica siempre</a:t>
            </a:r>
            <a:endParaRPr lang="en-US" sz="2200" dirty="0"/>
          </a:p>
        </p:txBody>
      </p:sp>
      <p:sp>
        <p:nvSpPr>
          <p:cNvPr id="18" name="Text 12"/>
          <p:cNvSpPr/>
          <p:nvPr/>
        </p:nvSpPr>
        <p:spPr>
          <a:xfrm>
            <a:off x="6963834" y="3911402"/>
            <a:ext cx="428184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Córrelo y pégale a la API real. La IA se equivoca con confianza.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Contexto entre sesiones</a:t>
            </a:r>
            <a:endParaRPr lang="en-US" sz="3600" dirty="0"/>
          </a:p>
        </p:txBody>
      </p:sp>
      <p:sp>
        <p:nvSpPr>
          <p:cNvPr id="3" name="Shape 1"/>
          <p:cNvSpPr/>
          <p:nvPr/>
        </p:nvSpPr>
        <p:spPr>
          <a:xfrm>
            <a:off x="819150" y="1576059"/>
            <a:ext cx="2247900" cy="2152518"/>
          </a:xfrm>
          <a:prstGeom prst="roundRect">
            <a:avLst>
              <a:gd name="adj" fmla="val 5605"/>
            </a:avLst>
          </a:prstGeom>
          <a:solidFill>
            <a:srgbClr val="141414"/>
          </a:solidFill>
          <a:ln w="12700">
            <a:solidFill>
              <a:srgbClr val="333333"/>
            </a:solidFill>
            <a:prstDash val="solid"/>
          </a:ln>
        </p:spPr>
      </p:sp>
      <p:sp>
        <p:nvSpPr>
          <p:cNvPr id="4" name="Text 2"/>
          <p:cNvSpPr/>
          <p:nvPr/>
        </p:nvSpPr>
        <p:spPr>
          <a:xfrm>
            <a:off x="1003300" y="1760209"/>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AL ARRANCAR</a:t>
            </a:r>
            <a:endParaRPr lang="en-US" sz="1200" dirty="0"/>
          </a:p>
        </p:txBody>
      </p:sp>
      <p:sp>
        <p:nvSpPr>
          <p:cNvPr id="5" name="Text 3"/>
          <p:cNvSpPr/>
          <p:nvPr/>
        </p:nvSpPr>
        <p:spPr>
          <a:xfrm>
            <a:off x="1003300" y="2049729"/>
            <a:ext cx="19359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CLAUDE.md</a:t>
            </a:r>
            <a:endParaRPr lang="en-US" sz="2200" dirty="0"/>
          </a:p>
        </p:txBody>
      </p:sp>
      <p:sp>
        <p:nvSpPr>
          <p:cNvPr id="6" name="Text 4"/>
          <p:cNvSpPr/>
          <p:nvPr/>
        </p:nvSpPr>
        <p:spPr>
          <a:xfrm>
            <a:off x="1003300" y="2447199"/>
            <a:ext cx="1935988" cy="112262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Reglas y arquitectura del proyecto. Se lee solo.</a:t>
            </a:r>
            <a:endParaRPr lang="en-US" sz="1600" dirty="0"/>
          </a:p>
        </p:txBody>
      </p:sp>
      <p:pic>
        <p:nvPicPr>
          <p:cNvPr id="7" name="Image 0" descr="connector">    </p:cNvPr>
          <p:cNvPicPr>
            <a:picLocks noChangeAspect="1"/>
          </p:cNvPicPr>
          <p:nvPr/>
        </p:nvPicPr>
        <p:blipFill>
          <a:blip r:embed="rId1"/>
          <a:srcRect l="0" r="0" t="0" b="0"/>
          <a:stretch/>
        </p:blipFill>
        <p:spPr>
          <a:xfrm>
            <a:off x="3175000" y="2601516"/>
            <a:ext cx="304800" cy="101600"/>
          </a:xfrm>
          <a:prstGeom prst="rect">
            <a:avLst/>
          </a:prstGeom>
        </p:spPr>
      </p:pic>
      <p:sp>
        <p:nvSpPr>
          <p:cNvPr id="8" name="Shape 5"/>
          <p:cNvSpPr/>
          <p:nvPr/>
        </p:nvSpPr>
        <p:spPr>
          <a:xfrm>
            <a:off x="3587750" y="1576059"/>
            <a:ext cx="2247900" cy="2152518"/>
          </a:xfrm>
          <a:prstGeom prst="roundRect">
            <a:avLst>
              <a:gd name="adj" fmla="val 5605"/>
            </a:avLst>
          </a:prstGeom>
          <a:solidFill>
            <a:srgbClr val="141414"/>
          </a:solidFill>
          <a:ln w="12700">
            <a:solidFill>
              <a:srgbClr val="333333"/>
            </a:solidFill>
            <a:prstDash val="solid"/>
          </a:ln>
        </p:spPr>
      </p:sp>
      <p:sp>
        <p:nvSpPr>
          <p:cNvPr id="9" name="Text 6"/>
          <p:cNvSpPr/>
          <p:nvPr/>
        </p:nvSpPr>
        <p:spPr>
          <a:xfrm>
            <a:off x="3771900" y="1760209"/>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LUEGO</a:t>
            </a:r>
            <a:endParaRPr lang="en-US" sz="1200" dirty="0"/>
          </a:p>
        </p:txBody>
      </p:sp>
      <p:sp>
        <p:nvSpPr>
          <p:cNvPr id="10" name="Text 7"/>
          <p:cNvSpPr/>
          <p:nvPr/>
        </p:nvSpPr>
        <p:spPr>
          <a:xfrm>
            <a:off x="3771900" y="2049729"/>
            <a:ext cx="19359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.handoff/</a:t>
            </a:r>
            <a:endParaRPr lang="en-US" sz="2200" dirty="0"/>
          </a:p>
        </p:txBody>
      </p:sp>
      <p:sp>
        <p:nvSpPr>
          <p:cNvPr id="11" name="Text 8"/>
          <p:cNvSpPr/>
          <p:nvPr/>
        </p:nvSpPr>
        <p:spPr>
          <a:xfrm>
            <a:off x="3771900" y="2447199"/>
            <a:ext cx="1935988"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La bitácora: qué se hizo y qué falta.</a:t>
            </a:r>
            <a:endParaRPr lang="en-US" sz="1600" dirty="0"/>
          </a:p>
        </p:txBody>
      </p:sp>
      <p:pic>
        <p:nvPicPr>
          <p:cNvPr id="12" name="Image 1" descr="connector">    </p:cNvPr>
          <p:cNvPicPr>
            <a:picLocks noChangeAspect="1"/>
          </p:cNvPicPr>
          <p:nvPr/>
        </p:nvPicPr>
        <p:blipFill>
          <a:blip r:embed="rId2"/>
          <a:srcRect l="0" r="0" t="0" b="0"/>
          <a:stretch/>
        </p:blipFill>
        <p:spPr>
          <a:xfrm>
            <a:off x="5943600" y="2601516"/>
            <a:ext cx="304800" cy="101600"/>
          </a:xfrm>
          <a:prstGeom prst="rect">
            <a:avLst/>
          </a:prstGeom>
        </p:spPr>
      </p:pic>
      <p:sp>
        <p:nvSpPr>
          <p:cNvPr id="13" name="Shape 9"/>
          <p:cNvSpPr/>
          <p:nvPr/>
        </p:nvSpPr>
        <p:spPr>
          <a:xfrm>
            <a:off x="6356350" y="1576059"/>
            <a:ext cx="2247900" cy="2152518"/>
          </a:xfrm>
          <a:prstGeom prst="roundRect">
            <a:avLst>
              <a:gd name="adj" fmla="val 5605"/>
            </a:avLst>
          </a:prstGeom>
          <a:solidFill>
            <a:srgbClr val="141414"/>
          </a:solidFill>
          <a:ln w="12700">
            <a:solidFill>
              <a:srgbClr val="333333"/>
            </a:solidFill>
            <a:prstDash val="solid"/>
          </a:ln>
        </p:spPr>
      </p:sp>
      <p:sp>
        <p:nvSpPr>
          <p:cNvPr id="14" name="Text 10"/>
          <p:cNvSpPr/>
          <p:nvPr/>
        </p:nvSpPr>
        <p:spPr>
          <a:xfrm>
            <a:off x="6540500" y="1760209"/>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4BF63"/>
                </a:solidFill>
                <a:latin typeface="Inter" pitchFamily="34" charset="0"/>
                <a:ea typeface="Inter" pitchFamily="34" charset="-122"/>
                <a:cs typeface="Inter" pitchFamily="34" charset="-120"/>
              </a:rPr>
              <a:t>MIENTRAS</a:t>
            </a:r>
            <a:endParaRPr lang="en-US" sz="1200" dirty="0"/>
          </a:p>
        </p:txBody>
      </p:sp>
      <p:sp>
        <p:nvSpPr>
          <p:cNvPr id="15" name="Text 11"/>
          <p:cNvSpPr/>
          <p:nvPr/>
        </p:nvSpPr>
        <p:spPr>
          <a:xfrm>
            <a:off x="6540500" y="2049729"/>
            <a:ext cx="19359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Vibecoding</a:t>
            </a:r>
            <a:endParaRPr lang="en-US" sz="2200" dirty="0"/>
          </a:p>
        </p:txBody>
      </p:sp>
      <p:sp>
        <p:nvSpPr>
          <p:cNvPr id="16" name="Text 12"/>
          <p:cNvSpPr/>
          <p:nvPr/>
        </p:nvSpPr>
        <p:spPr>
          <a:xfrm>
            <a:off x="6540500" y="2447199"/>
            <a:ext cx="1935988" cy="8483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Especificar, generar, verificar, commit.</a:t>
            </a:r>
            <a:endParaRPr lang="en-US" sz="1600" dirty="0"/>
          </a:p>
        </p:txBody>
      </p:sp>
      <p:pic>
        <p:nvPicPr>
          <p:cNvPr id="17" name="Image 2" descr="connector">    </p:cNvPr>
          <p:cNvPicPr>
            <a:picLocks noChangeAspect="1"/>
          </p:cNvPicPr>
          <p:nvPr/>
        </p:nvPicPr>
        <p:blipFill>
          <a:blip r:embed="rId3"/>
          <a:srcRect l="0" r="0" t="0" b="0"/>
          <a:stretch/>
        </p:blipFill>
        <p:spPr>
          <a:xfrm>
            <a:off x="8712200" y="2601516"/>
            <a:ext cx="304800" cy="101600"/>
          </a:xfrm>
          <a:prstGeom prst="rect">
            <a:avLst/>
          </a:prstGeom>
        </p:spPr>
      </p:pic>
      <p:sp>
        <p:nvSpPr>
          <p:cNvPr id="18" name="Shape 13"/>
          <p:cNvSpPr/>
          <p:nvPr/>
        </p:nvSpPr>
        <p:spPr>
          <a:xfrm>
            <a:off x="9124950" y="1576059"/>
            <a:ext cx="2247900" cy="2152518"/>
          </a:xfrm>
          <a:prstGeom prst="roundRect">
            <a:avLst>
              <a:gd name="adj" fmla="val 5605"/>
            </a:avLst>
          </a:prstGeom>
          <a:solidFill>
            <a:srgbClr val="1A1510"/>
          </a:solidFill>
          <a:ln w="12700">
            <a:solidFill>
              <a:srgbClr val="F2B880"/>
            </a:solidFill>
            <a:prstDash val="solid"/>
          </a:ln>
        </p:spPr>
      </p:sp>
      <p:sp>
        <p:nvSpPr>
          <p:cNvPr id="19" name="Text 14"/>
          <p:cNvSpPr/>
          <p:nvPr/>
        </p:nvSpPr>
        <p:spPr>
          <a:xfrm>
            <a:off x="9309100" y="1760209"/>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80"/>
                </a:solidFill>
                <a:latin typeface="Inter" pitchFamily="34" charset="0"/>
                <a:ea typeface="Inter" pitchFamily="34" charset="-122"/>
                <a:cs typeface="Inter" pitchFamily="34" charset="-120"/>
              </a:rPr>
              <a:t>AL CERRAR</a:t>
            </a:r>
            <a:endParaRPr lang="en-US" sz="1200" dirty="0"/>
          </a:p>
        </p:txBody>
      </p:sp>
      <p:sp>
        <p:nvSpPr>
          <p:cNvPr id="20" name="Text 15"/>
          <p:cNvSpPr/>
          <p:nvPr/>
        </p:nvSpPr>
        <p:spPr>
          <a:xfrm>
            <a:off x="9309100" y="2049729"/>
            <a:ext cx="19359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Hook Stop</a:t>
            </a:r>
            <a:endParaRPr lang="en-US" sz="2200" dirty="0"/>
          </a:p>
        </p:txBody>
      </p:sp>
      <p:sp>
        <p:nvSpPr>
          <p:cNvPr id="21" name="Text 16"/>
          <p:cNvSpPr/>
          <p:nvPr/>
        </p:nvSpPr>
        <p:spPr>
          <a:xfrm>
            <a:off x="9309100" y="2447199"/>
            <a:ext cx="1935988" cy="112262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3A3A3"/>
                </a:solidFill>
                <a:latin typeface="Inter" pitchFamily="34" charset="0"/>
                <a:ea typeface="Inter" pitchFamily="34" charset="-122"/>
                <a:cs typeface="Inter" pitchFamily="34" charset="-120"/>
              </a:rPr>
              <a:t>Si cambiaste código sin dejar bitácora, no te deja cerrar.</a:t>
            </a:r>
            <a:endParaRPr lang="en-US" sz="1600" dirty="0"/>
          </a:p>
        </p:txBody>
      </p:sp>
      <p:sp>
        <p:nvSpPr>
          <p:cNvPr id="22" name="Text 17"/>
          <p:cNvSpPr/>
          <p:nvPr/>
        </p:nvSpPr>
        <p:spPr>
          <a:xfrm>
            <a:off x="812800" y="398892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CLAUDE.md es la memoria fija. </a:t>
            </a:r>
            <a:r>
              <a:rPr lang="en-US" sz="1600" dirty="0">
                <a:solidFill>
                  <a:srgbClr val="F9FAFB"/>
                </a:solidFill>
                <a:latin typeface="Inter" pitchFamily="34" charset="0"/>
                <a:ea typeface="Inter" pitchFamily="34" charset="-122"/>
                <a:cs typeface="Inter" pitchFamily="34" charset="-120"/>
              </a:rPr>
              <a:t>.handoff/ es la memoria de lo que pasó.</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type="title"/>
          </p:nvPr>
        </p:nvSpPr>
        <p:spPr>
          <a:xfrm>
            <a:off x="1517650" y="2785139"/>
            <a:ext cx="9156700" cy="825500"/>
          </a:xfrm>
          <a:prstGeom prst="rect">
            <a:avLst/>
          </a:prstGeom>
          <a:noFill/>
          <a:ln/>
        </p:spPr>
        <p:txBody>
          <a:bodyPr wrap="square" lIns="0" tIns="0" rIns="0" bIns="0" rtlCol="0" anchor="t">
            <a:normAutofit/>
          </a:bodyPr>
          <a:lstStyle/>
          <a:p>
            <a:pPr algn="ctr" indent="0" marL="0">
              <a:lnSpc>
                <a:spcPts val="6300"/>
              </a:lnSpc>
              <a:buNone/>
            </a:pPr>
            <a:r>
              <a:rPr lang="en-US" sz="6000" b="1" i="0" spc="-150" kern="0" dirty="0">
                <a:solidFill>
                  <a:srgbClr val="FFFFFF"/>
                </a:solidFill>
                <a:latin typeface="Inter" pitchFamily="34" charset="0"/>
                <a:ea typeface="Inter" pitchFamily="34" charset="-122"/>
                <a:cs typeface="Inter" pitchFamily="34" charset="-120"/>
              </a:rPr>
              <a:t>El cerebro del rover</a:t>
            </a:r>
            <a:endParaRPr lang="en-US" sz="6000" dirty="0"/>
          </a:p>
        </p:txBody>
      </p:sp>
      <p:sp>
        <p:nvSpPr>
          <p:cNvPr id="3" name="Text 1"/>
          <p:cNvSpPr/>
          <p:nvPr/>
        </p:nvSpPr>
        <p:spPr>
          <a:xfrm>
            <a:off x="2171700" y="3788439"/>
            <a:ext cx="7848600"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9F5D3"/>
                </a:solidFill>
                <a:latin typeface="Inter" pitchFamily="34" charset="0"/>
                <a:ea typeface="Inter" pitchFamily="34" charset="-122"/>
                <a:cs typeface="Inter" pitchFamily="34" charset="-120"/>
              </a:rPr>
              <a:t>Conectar un modelo de IA al loop de control.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Cómo funciona el loop</a:t>
            </a:r>
            <a:endParaRPr lang="en-US" sz="3600" dirty="0"/>
          </a:p>
        </p:txBody>
      </p:sp>
      <p:sp>
        <p:nvSpPr>
          <p:cNvPr id="3" name="Shape 1"/>
          <p:cNvSpPr/>
          <p:nvPr/>
        </p:nvSpPr>
        <p:spPr>
          <a:xfrm>
            <a:off x="819150" y="2655559"/>
            <a:ext cx="2273300" cy="1384300"/>
          </a:xfrm>
          <a:prstGeom prst="roundRect">
            <a:avLst>
              <a:gd name="adj" fmla="val 10550"/>
            </a:avLst>
          </a:prstGeom>
          <a:solidFill>
            <a:srgbClr val="141414"/>
          </a:solidFill>
          <a:ln w="12700">
            <a:solidFill>
              <a:srgbClr val="333333"/>
            </a:solidFill>
            <a:prstDash val="solid"/>
          </a:ln>
        </p:spPr>
      </p:sp>
      <p:pic>
        <p:nvPicPr>
          <p:cNvPr id="4" name="Image 0" descr="Globe">    </p:cNvPr>
          <p:cNvPicPr>
            <a:picLocks noChangeAspect="1"/>
          </p:cNvPicPr>
          <p:nvPr/>
        </p:nvPicPr>
        <p:blipFill>
          <a:blip r:embed="rId1"/>
          <a:srcRect l="0" r="0" t="-710" b="-710"/>
          <a:stretch/>
        </p:blipFill>
        <p:spPr>
          <a:xfrm>
            <a:off x="1028700" y="2865109"/>
            <a:ext cx="254000" cy="212527"/>
          </a:xfrm>
          <a:prstGeom prst="rect">
            <a:avLst/>
          </a:prstGeom>
        </p:spPr>
      </p:pic>
      <p:sp>
        <p:nvSpPr>
          <p:cNvPr id="5" name="Text 2"/>
          <p:cNvSpPr/>
          <p:nvPr/>
        </p:nvSpPr>
        <p:spPr>
          <a:xfrm>
            <a:off x="1028700" y="3141135"/>
            <a:ext cx="1909826" cy="294151"/>
          </a:xfrm>
          <a:prstGeom prst="rect">
            <a:avLst/>
          </a:prstGeom>
          <a:noFill/>
          <a:ln/>
        </p:spPr>
        <p:txBody>
          <a:bodyPr wrap="square" lIns="0" tIns="0" rIns="0" bIns="0" rtlCol="0" anchor="t">
            <a:normAutofit/>
          </a:bodyPr>
          <a:lstStyle/>
          <a:p>
            <a:pPr algn="l" indent="0" marL="0">
              <a:lnSpc>
                <a:spcPts val="2119"/>
              </a:lnSpc>
              <a:buNone/>
            </a:pPr>
            <a:r>
              <a:rPr lang="en-US" sz="1843" b="1" dirty="0">
                <a:solidFill>
                  <a:srgbClr val="F9FAFB"/>
                </a:solidFill>
                <a:latin typeface="Inter" pitchFamily="34" charset="0"/>
                <a:ea typeface="Inter" pitchFamily="34" charset="-122"/>
                <a:cs typeface="Inter" pitchFamily="34" charset="-120"/>
              </a:rPr>
              <a:t>Simulador</a:t>
            </a:r>
            <a:endParaRPr lang="en-US" sz="1843" dirty="0"/>
          </a:p>
        </p:txBody>
      </p:sp>
      <p:sp>
        <p:nvSpPr>
          <p:cNvPr id="6" name="Text 3"/>
          <p:cNvSpPr/>
          <p:nvPr/>
        </p:nvSpPr>
        <p:spPr>
          <a:xfrm>
            <a:off x="1028700" y="3473388"/>
            <a:ext cx="2019300" cy="382323"/>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A3A3A3"/>
                </a:solidFill>
                <a:latin typeface="Inter" pitchFamily="34" charset="0"/>
                <a:ea typeface="Inter" pitchFamily="34" charset="-122"/>
                <a:cs typeface="Inter" pitchFamily="34" charset="-120"/>
              </a:rPr>
              <a:t>FastAPI · :8000 · el cuerpo</a:t>
            </a:r>
            <a:endParaRPr lang="en-US" sz="1163" dirty="0"/>
          </a:p>
        </p:txBody>
      </p:sp>
      <p:sp>
        <p:nvSpPr>
          <p:cNvPr id="7" name="Shape 4"/>
          <p:cNvSpPr/>
          <p:nvPr/>
        </p:nvSpPr>
        <p:spPr>
          <a:xfrm>
            <a:off x="4959350" y="2655559"/>
            <a:ext cx="2273300" cy="1384300"/>
          </a:xfrm>
          <a:prstGeom prst="roundRect">
            <a:avLst>
              <a:gd name="adj" fmla="val 10550"/>
            </a:avLst>
          </a:prstGeom>
          <a:solidFill>
            <a:srgbClr val="111111"/>
          </a:solidFill>
          <a:ln w="12700">
            <a:solidFill>
              <a:srgbClr val="04BF63"/>
            </a:solidFill>
            <a:prstDash val="solid"/>
          </a:ln>
          <a:effectLst>
            <a:outerShdw sx="100000" sy="100000" kx="0" ky="0" algn="bl" rotWithShape="0" blurRad="381000" dist="0" dir="60000">
              <a:srgbClr val="04BF63">
                <a:alpha val="35000"/>
              </a:srgbClr>
            </a:outerShdw>
          </a:effectLst>
        </p:spPr>
      </p:sp>
      <p:pic>
        <p:nvPicPr>
          <p:cNvPr id="8" name="Image 1" descr="Lightbulb">    </p:cNvPr>
          <p:cNvPicPr>
            <a:picLocks noChangeAspect="1"/>
          </p:cNvPicPr>
          <p:nvPr/>
        </p:nvPicPr>
        <p:blipFill>
          <a:blip r:embed="rId2"/>
          <a:srcRect l="0" r="0" t="0" b="0"/>
          <a:stretch/>
        </p:blipFill>
        <p:spPr>
          <a:xfrm>
            <a:off x="5168900" y="2889914"/>
            <a:ext cx="254000" cy="254000"/>
          </a:xfrm>
          <a:prstGeom prst="rect">
            <a:avLst/>
          </a:prstGeom>
        </p:spPr>
      </p:pic>
      <p:sp>
        <p:nvSpPr>
          <p:cNvPr id="9" name="Text 5"/>
          <p:cNvSpPr/>
          <p:nvPr/>
        </p:nvSpPr>
        <p:spPr>
          <a:xfrm>
            <a:off x="5168900" y="3207414"/>
            <a:ext cx="190982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Cerebro</a:t>
            </a:r>
            <a:endParaRPr lang="en-US" sz="2200" dirty="0"/>
          </a:p>
        </p:txBody>
      </p:sp>
      <p:sp>
        <p:nvSpPr>
          <p:cNvPr id="10" name="Text 6"/>
          <p:cNvSpPr/>
          <p:nvPr/>
        </p:nvSpPr>
        <p:spPr>
          <a:xfrm>
            <a:off x="5168900" y="3592184"/>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rover_ai.py · nunca para</a:t>
            </a:r>
            <a:endParaRPr lang="en-US" sz="1200" dirty="0"/>
          </a:p>
        </p:txBody>
      </p:sp>
      <p:sp>
        <p:nvSpPr>
          <p:cNvPr id="11" name="Shape 7"/>
          <p:cNvSpPr/>
          <p:nvPr/>
        </p:nvSpPr>
        <p:spPr>
          <a:xfrm>
            <a:off x="9099550" y="2655559"/>
            <a:ext cx="2273300" cy="1384300"/>
          </a:xfrm>
          <a:prstGeom prst="roundRect">
            <a:avLst>
              <a:gd name="adj" fmla="val 10550"/>
            </a:avLst>
          </a:prstGeom>
          <a:solidFill>
            <a:srgbClr val="141414"/>
          </a:solidFill>
          <a:ln w="12700">
            <a:solidFill>
              <a:srgbClr val="333333"/>
            </a:solidFill>
            <a:prstDash val="solid"/>
          </a:ln>
        </p:spPr>
      </p:sp>
      <p:pic>
        <p:nvPicPr>
          <p:cNvPr id="12" name="Image 2" descr="Cloud">    </p:cNvPr>
          <p:cNvPicPr>
            <a:picLocks noChangeAspect="1"/>
          </p:cNvPicPr>
          <p:nvPr/>
        </p:nvPicPr>
        <p:blipFill>
          <a:blip r:embed="rId3"/>
          <a:srcRect l="0" r="0" t="0" b="0"/>
          <a:stretch/>
        </p:blipFill>
        <p:spPr>
          <a:xfrm>
            <a:off x="9309100" y="2889914"/>
            <a:ext cx="254000" cy="254000"/>
          </a:xfrm>
          <a:prstGeom prst="rect">
            <a:avLst/>
          </a:prstGeom>
        </p:spPr>
      </p:pic>
      <p:sp>
        <p:nvSpPr>
          <p:cNvPr id="13" name="Text 8"/>
          <p:cNvSpPr/>
          <p:nvPr/>
        </p:nvSpPr>
        <p:spPr>
          <a:xfrm>
            <a:off x="9309100" y="3207414"/>
            <a:ext cx="190982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Jev</a:t>
            </a:r>
            <a:endParaRPr lang="en-US" sz="2200" dirty="0"/>
          </a:p>
        </p:txBody>
      </p:sp>
      <p:sp>
        <p:nvSpPr>
          <p:cNvPr id="14" name="Text 9"/>
          <p:cNvSpPr/>
          <p:nvPr/>
        </p:nvSpPr>
        <p:spPr>
          <a:xfrm>
            <a:off x="9309100" y="3592184"/>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vía OpenRouter · decide</a:t>
            </a:r>
            <a:endParaRPr lang="en-US" sz="1200" dirty="0"/>
          </a:p>
        </p:txBody>
      </p:sp>
      <p:pic>
        <p:nvPicPr>
          <p:cNvPr id="15" name="Image 3" descr="connector">    </p:cNvPr>
          <p:cNvPicPr>
            <a:picLocks noChangeAspect="1"/>
          </p:cNvPicPr>
          <p:nvPr/>
        </p:nvPicPr>
        <p:blipFill>
          <a:blip r:embed="rId4"/>
          <a:srcRect l="0" r="0" t="0" b="0"/>
          <a:stretch/>
        </p:blipFill>
        <p:spPr>
          <a:xfrm>
            <a:off x="3048000" y="2979409"/>
            <a:ext cx="1955800" cy="101600"/>
          </a:xfrm>
          <a:prstGeom prst="rect">
            <a:avLst/>
          </a:prstGeom>
        </p:spPr>
      </p:pic>
      <p:pic>
        <p:nvPicPr>
          <p:cNvPr id="16" name="Image 4" descr="connector">    </p:cNvPr>
          <p:cNvPicPr>
            <a:picLocks noChangeAspect="1"/>
          </p:cNvPicPr>
          <p:nvPr/>
        </p:nvPicPr>
        <p:blipFill>
          <a:blip r:embed="rId5"/>
          <a:srcRect l="0" r="0" t="0" b="0"/>
          <a:stretch/>
        </p:blipFill>
        <p:spPr>
          <a:xfrm>
            <a:off x="3048000" y="3614409"/>
            <a:ext cx="1955800" cy="101600"/>
          </a:xfrm>
          <a:prstGeom prst="rect">
            <a:avLst/>
          </a:prstGeom>
        </p:spPr>
      </p:pic>
      <p:pic>
        <p:nvPicPr>
          <p:cNvPr id="17" name="Image 5" descr="connector">    </p:cNvPr>
          <p:cNvPicPr>
            <a:picLocks noChangeAspect="1"/>
          </p:cNvPicPr>
          <p:nvPr/>
        </p:nvPicPr>
        <p:blipFill>
          <a:blip r:embed="rId6"/>
          <a:srcRect l="0" r="0" t="0" b="0"/>
          <a:stretch/>
        </p:blipFill>
        <p:spPr>
          <a:xfrm>
            <a:off x="7188200" y="2979409"/>
            <a:ext cx="1955800" cy="101600"/>
          </a:xfrm>
          <a:prstGeom prst="rect">
            <a:avLst/>
          </a:prstGeom>
        </p:spPr>
      </p:pic>
      <p:pic>
        <p:nvPicPr>
          <p:cNvPr id="18" name="Image 6" descr="connector">    </p:cNvPr>
          <p:cNvPicPr>
            <a:picLocks noChangeAspect="1"/>
          </p:cNvPicPr>
          <p:nvPr/>
        </p:nvPicPr>
        <p:blipFill>
          <a:blip r:embed="rId7"/>
          <a:srcRect l="0" r="0" t="0" b="0"/>
          <a:stretch/>
        </p:blipFill>
        <p:spPr>
          <a:xfrm>
            <a:off x="7188200" y="3614409"/>
            <a:ext cx="1955800" cy="101600"/>
          </a:xfrm>
          <a:prstGeom prst="rect">
            <a:avLst/>
          </a:prstGeom>
        </p:spPr>
      </p:pic>
      <p:sp>
        <p:nvSpPr>
          <p:cNvPr id="19" name="Text 10"/>
          <p:cNvSpPr/>
          <p:nvPr/>
        </p:nvSpPr>
        <p:spPr>
          <a:xfrm>
            <a:off x="3123311" y="3766809"/>
            <a:ext cx="1805178"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9FAFB"/>
                </a:solidFill>
                <a:latin typeface="Inter" pitchFamily="34" charset="0"/>
                <a:ea typeface="Inter" pitchFamily="34" charset="-122"/>
                <a:cs typeface="Inter" pitchFamily="34" charset="-120"/>
              </a:rPr>
              <a:t>1 · Percibe</a:t>
            </a:r>
            <a:endParaRPr lang="en-US" sz="1200" dirty="0"/>
          </a:p>
          <a:p>
            <a:pPr algn="ctr" indent="0" marL="0">
              <a:lnSpc>
                <a:spcPts val="1680"/>
              </a:lnSpc>
              <a:buNone/>
            </a:pPr>
            <a:r>
              <a:rPr lang="en-US" sz="1200" dirty="0">
                <a:solidFill>
                  <a:srgbClr val="A3A3A3"/>
                </a:solidFill>
                <a:latin typeface="Inter" pitchFamily="34" charset="0"/>
                <a:ea typeface="Inter" pitchFamily="34" charset="-122"/>
                <a:cs typeface="Inter" pitchFamily="34" charset="-120"/>
              </a:rPr>
              <a:t>GET /api/telemetry</a:t>
            </a:r>
            <a:endParaRPr lang="en-US" sz="1200" dirty="0"/>
          </a:p>
        </p:txBody>
      </p:sp>
      <p:sp>
        <p:nvSpPr>
          <p:cNvPr id="20" name="Text 11"/>
          <p:cNvSpPr/>
          <p:nvPr/>
        </p:nvSpPr>
        <p:spPr>
          <a:xfrm>
            <a:off x="7263511" y="2522209"/>
            <a:ext cx="1805178"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9FAFB"/>
                </a:solidFill>
                <a:latin typeface="Inter" pitchFamily="34" charset="0"/>
                <a:ea typeface="Inter" pitchFamily="34" charset="-122"/>
                <a:cs typeface="Inter" pitchFamily="34" charset="-120"/>
              </a:rPr>
              <a:t>2 · Pregunta</a:t>
            </a:r>
            <a:endParaRPr lang="en-US" sz="1200" dirty="0"/>
          </a:p>
          <a:p>
            <a:pPr algn="ctr" indent="0" marL="0">
              <a:lnSpc>
                <a:spcPts val="1680"/>
              </a:lnSpc>
              <a:buNone/>
            </a:pPr>
            <a:r>
              <a:rPr lang="en-US" sz="1200" dirty="0">
                <a:solidFill>
                  <a:srgbClr val="A3A3A3"/>
                </a:solidFill>
                <a:latin typeface="Inter" pitchFamily="34" charset="0"/>
                <a:ea typeface="Inter" pitchFamily="34" charset="-122"/>
                <a:cs typeface="Inter" pitchFamily="34" charset="-120"/>
              </a:rPr>
              <a:t>state + questions</a:t>
            </a:r>
            <a:endParaRPr lang="en-US" sz="1200" dirty="0"/>
          </a:p>
        </p:txBody>
      </p:sp>
      <p:sp>
        <p:nvSpPr>
          <p:cNvPr id="21" name="Text 12"/>
          <p:cNvSpPr/>
          <p:nvPr/>
        </p:nvSpPr>
        <p:spPr>
          <a:xfrm>
            <a:off x="7263511" y="3766809"/>
            <a:ext cx="1805178"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9FAFB"/>
                </a:solidFill>
                <a:latin typeface="Inter" pitchFamily="34" charset="0"/>
                <a:ea typeface="Inter" pitchFamily="34" charset="-122"/>
                <a:cs typeface="Inter" pitchFamily="34" charset="-120"/>
              </a:rPr>
              <a:t>3 · Decide</a:t>
            </a:r>
            <a:endParaRPr lang="en-US" sz="1200" dirty="0"/>
          </a:p>
          <a:p>
            <a:pPr algn="ctr" indent="0" marL="0">
              <a:lnSpc>
                <a:spcPts val="1680"/>
              </a:lnSpc>
              <a:buNone/>
            </a:pPr>
            <a:r>
              <a:rPr lang="en-US" sz="1200" dirty="0">
                <a:solidFill>
                  <a:srgbClr val="A3A3A3"/>
                </a:solidFill>
                <a:latin typeface="Inter" pitchFamily="34" charset="0"/>
                <a:ea typeface="Inter" pitchFamily="34" charset="-122"/>
                <a:cs typeface="Inter" pitchFamily="34" charset="-120"/>
              </a:rPr>
              <a:t>choice + confianza</a:t>
            </a:r>
            <a:endParaRPr lang="en-US" sz="1200" dirty="0"/>
          </a:p>
        </p:txBody>
      </p:sp>
      <p:sp>
        <p:nvSpPr>
          <p:cNvPr id="22" name="Text 13"/>
          <p:cNvSpPr/>
          <p:nvPr/>
        </p:nvSpPr>
        <p:spPr>
          <a:xfrm>
            <a:off x="3123311" y="2522209"/>
            <a:ext cx="1805178"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9FAFB"/>
                </a:solidFill>
                <a:latin typeface="Inter" pitchFamily="34" charset="0"/>
                <a:ea typeface="Inter" pitchFamily="34" charset="-122"/>
                <a:cs typeface="Inter" pitchFamily="34" charset="-120"/>
              </a:rPr>
              <a:t>4 · Actúa</a:t>
            </a:r>
            <a:endParaRPr lang="en-US" sz="1200" dirty="0"/>
          </a:p>
          <a:p>
            <a:pPr algn="ctr" indent="0" marL="0">
              <a:lnSpc>
                <a:spcPts val="1680"/>
              </a:lnSpc>
              <a:buNone/>
            </a:pPr>
            <a:r>
              <a:rPr lang="en-US" sz="1200" dirty="0">
                <a:solidFill>
                  <a:srgbClr val="A3A3A3"/>
                </a:solidFill>
                <a:latin typeface="Inter" pitchFamily="34" charset="0"/>
                <a:ea typeface="Inter" pitchFamily="34" charset="-122"/>
                <a:cs typeface="Inter" pitchFamily="34" charset="-120"/>
              </a:rPr>
              <a:t>POST /api/control</a:t>
            </a:r>
            <a:endParaRPr lang="en-US" sz="1200" dirty="0"/>
          </a:p>
        </p:txBody>
      </p:sp>
      <p:sp>
        <p:nvSpPr>
          <p:cNvPr id="23" name="Text 14"/>
          <p:cNvSpPr/>
          <p:nvPr/>
        </p:nvSpPr>
        <p:spPr>
          <a:xfrm>
            <a:off x="4765675" y="4366884"/>
            <a:ext cx="2660650" cy="367837"/>
          </a:xfrm>
          <a:prstGeom prst="roundRect">
            <a:avLst>
              <a:gd name="adj" fmla="val 50000"/>
            </a:avLst>
          </a:prstGeom>
          <a:solidFill>
            <a:srgbClr val="0C2418"/>
          </a:solidFill>
          <a:ln w="6350">
            <a:solidFill>
              <a:srgbClr val="333333"/>
            </a:solidFill>
            <a:prstDash val="solid"/>
          </a:ln>
        </p:spPr>
        <p:txBody>
          <a:bodyPr wrap="square" lIns="64284" tIns="23390" rIns="64284" bIns="0" rtlCol="0" anchor="t">
            <a:normAutofit/>
          </a:bodyPr>
          <a:lstStyle/>
          <a:p>
            <a:pPr algn="ctr" indent="0" marL="0">
              <a:lnSpc>
                <a:spcPts val="1680"/>
              </a:lnSpc>
              <a:buNone/>
            </a:pPr>
            <a:r>
              <a:rPr lang="en-US" sz="1200" dirty="0">
                <a:solidFill>
                  <a:srgbClr val="B9F5D3"/>
                </a:solidFill>
                <a:latin typeface="Inter" pitchFamily="34" charset="0"/>
                <a:ea typeface="Inter" pitchFamily="34" charset="-122"/>
                <a:cs typeface="Inter" pitchFamily="34" charset="-120"/>
              </a:rPr>
              <a:t>while True · cada ~300 ms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p:bgPr>
    </p:bg>
    <p:spTree>
      <p:nvGrpSpPr>
        <p:cNvPr id="1" name=""/>
        <p:cNvGrpSpPr/>
        <p:nvPr/>
      </p:nvGrpSpPr>
      <p:grpSpPr>
        <a:xfrm>
          <a:off x="0" y="0"/>
          <a:ext cx="0" cy="0"/>
          <a:chOff x="0" y="0"/>
          <a:chExt cx="0" cy="0"/>
        </a:xfrm>
      </p:grpSpPr>
      <p:pic>
        <p:nvPicPr>
          <p:cNvPr id="2" name="Image 0" descr="El rover frente a una roca: el camino por la izquierda es seguro pero más largo; el de la derecha es seguro y más corto hasta la meta B">    </p:cNvPr>
          <p:cNvPicPr>
            <a:picLocks noChangeAspect="1"/>
          </p:cNvPicPr>
          <p:nvPr/>
        </p:nvPicPr>
        <p:blipFill>
          <a:blip r:embed="rId1"/>
          <a:srcRect l="0" r="0" t="0" b="0"/>
          <a:stretch/>
        </p:blipFill>
        <p:spPr>
          <a:xfrm>
            <a:off x="812800" y="1524000"/>
            <a:ext cx="6350000" cy="3810000"/>
          </a:xfrm>
          <a:prstGeom prst="rect">
            <a:avLst/>
          </a:prstGeom>
        </p:spPr>
      </p:pic>
      <p:sp>
        <p:nvSpPr>
          <p:cNvPr id="3" name="Text 0"/>
          <p:cNvSpPr/>
          <p:nvPr/>
        </p:nvSpPr>
        <p:spPr>
          <a:xfrm>
            <a:off x="3581400" y="34417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3E9E2"/>
                </a:solidFill>
                <a:latin typeface="Inter" pitchFamily="34" charset="0"/>
                <a:ea typeface="Inter" pitchFamily="34" charset="-122"/>
                <a:cs typeface="Inter" pitchFamily="34" charset="-120"/>
              </a:rPr>
              <a:t>Roca</a:t>
            </a:r>
            <a:endParaRPr lang="en-US" sz="1200" dirty="0"/>
          </a:p>
        </p:txBody>
      </p:sp>
      <p:sp>
        <p:nvSpPr>
          <p:cNvPr id="4" name="Text 1"/>
          <p:cNvSpPr/>
          <p:nvPr/>
        </p:nvSpPr>
        <p:spPr>
          <a:xfrm>
            <a:off x="4267200" y="485775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9FAFB"/>
                </a:solidFill>
                <a:latin typeface="Inter" pitchFamily="34" charset="0"/>
                <a:ea typeface="Inter" pitchFamily="34" charset="-122"/>
                <a:cs typeface="Inter" pitchFamily="34" charset="-120"/>
              </a:rPr>
              <a:t>Rover</a:t>
            </a:r>
            <a:endParaRPr lang="en-US" sz="1200" dirty="0"/>
          </a:p>
        </p:txBody>
      </p:sp>
      <p:sp>
        <p:nvSpPr>
          <p:cNvPr id="5" name="Text 2"/>
          <p:cNvSpPr/>
          <p:nvPr/>
        </p:nvSpPr>
        <p:spPr>
          <a:xfrm>
            <a:off x="6248400" y="1987550"/>
            <a:ext cx="876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80"/>
                </a:solidFill>
                <a:latin typeface="Inter" pitchFamily="34" charset="0"/>
                <a:ea typeface="Inter" pitchFamily="34" charset="-122"/>
                <a:cs typeface="Inter" pitchFamily="34" charset="-120"/>
              </a:rPr>
              <a:t>Meta B</a:t>
            </a:r>
            <a:endParaRPr lang="en-US" sz="1200" dirty="0"/>
          </a:p>
        </p:txBody>
      </p:sp>
      <p:sp>
        <p:nvSpPr>
          <p:cNvPr id="6" name="Text 3"/>
          <p:cNvSpPr/>
          <p:nvPr/>
        </p:nvSpPr>
        <p:spPr>
          <a:xfrm>
            <a:off x="1066800" y="3429000"/>
            <a:ext cx="196215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A3A3"/>
                </a:solidFill>
                <a:latin typeface="Inter" pitchFamily="34" charset="0"/>
                <a:ea typeface="Inter" pitchFamily="34" charset="-122"/>
                <a:cs typeface="Inter" pitchFamily="34" charset="-120"/>
              </a:rPr>
              <a:t>Izquierda</a:t>
            </a:r>
            <a:endParaRPr lang="en-US" sz="1200" dirty="0"/>
          </a:p>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segura · más larga</a:t>
            </a:r>
            <a:endParaRPr lang="en-US" sz="1200" dirty="0"/>
          </a:p>
        </p:txBody>
      </p:sp>
      <p:sp>
        <p:nvSpPr>
          <p:cNvPr id="7" name="Text 4"/>
          <p:cNvSpPr/>
          <p:nvPr/>
        </p:nvSpPr>
        <p:spPr>
          <a:xfrm>
            <a:off x="5384800" y="3429000"/>
            <a:ext cx="1701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4BF63"/>
                </a:solidFill>
                <a:latin typeface="Inter" pitchFamily="34" charset="0"/>
                <a:ea typeface="Inter" pitchFamily="34" charset="-122"/>
                <a:cs typeface="Inter" pitchFamily="34" charset="-120"/>
              </a:rPr>
              <a:t>Derecha</a:t>
            </a:r>
            <a:endParaRPr lang="en-US" sz="1200" dirty="0"/>
          </a:p>
          <a:p>
            <a:pPr algn="l" indent="0" marL="0">
              <a:lnSpc>
                <a:spcPts val="1680"/>
              </a:lnSpc>
              <a:buNone/>
            </a:pPr>
            <a:r>
              <a:rPr lang="en-US" sz="1200" dirty="0">
                <a:solidFill>
                  <a:srgbClr val="04BF63"/>
                </a:solidFill>
                <a:latin typeface="Inter" pitchFamily="34" charset="0"/>
                <a:ea typeface="Inter" pitchFamily="34" charset="-122"/>
                <a:cs typeface="Inter" pitchFamily="34" charset="-120"/>
              </a:rPr>
              <a:t>segura · más corta</a:t>
            </a:r>
            <a:endParaRPr lang="en-US" sz="1200" dirty="0"/>
          </a:p>
        </p:txBody>
      </p:sp>
      <p:sp>
        <p:nvSpPr>
          <p:cNvPr id="8" name="Text 5"/>
          <p:cNvSpPr/>
          <p:nvPr/>
        </p:nvSpPr>
        <p:spPr>
          <a:xfrm>
            <a:off x="7569200" y="2392828"/>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4BF63"/>
                </a:solidFill>
                <a:latin typeface="Inter" pitchFamily="34" charset="0"/>
                <a:ea typeface="Inter" pitchFamily="34" charset="-122"/>
                <a:cs typeface="Inter" pitchFamily="34" charset="-120"/>
              </a:rPr>
              <a:t>LOCAL</a:t>
            </a:r>
            <a:endParaRPr lang="en-US" sz="1200" dirty="0"/>
          </a:p>
        </p:txBody>
      </p:sp>
      <p:sp>
        <p:nvSpPr>
          <p:cNvPr id="9" name="Text 6"/>
          <p:cNvSpPr/>
          <p:nvPr/>
        </p:nvSpPr>
        <p:spPr>
          <a:xfrm>
            <a:off x="7569200" y="2733148"/>
            <a:ext cx="39243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¿Hay una roca adelante? Esquívala.</a:t>
            </a:r>
            <a:endParaRPr lang="en-US" sz="1600" dirty="0"/>
          </a:p>
        </p:txBody>
      </p:sp>
      <p:sp>
        <p:nvSpPr>
          <p:cNvPr id="10" name="Text 7"/>
          <p:cNvSpPr/>
          <p:nvPr/>
        </p:nvSpPr>
        <p:spPr>
          <a:xfrm>
            <a:off x="7569200" y="3144577"/>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4BF63"/>
                </a:solidFill>
                <a:latin typeface="Inter" pitchFamily="34" charset="0"/>
                <a:ea typeface="Inter" pitchFamily="34" charset="-122"/>
                <a:cs typeface="Inter" pitchFamily="34" charset="-120"/>
              </a:rPr>
              <a:t>GLOBAL</a:t>
            </a:r>
            <a:endParaRPr lang="en-US" sz="1200" dirty="0"/>
          </a:p>
        </p:txBody>
      </p:sp>
      <p:sp>
        <p:nvSpPr>
          <p:cNvPr id="11" name="Text 8"/>
          <p:cNvSpPr/>
          <p:nvPr/>
        </p:nvSpPr>
        <p:spPr>
          <a:xfrm>
            <a:off x="7569200" y="3484897"/>
            <a:ext cx="392430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¿Por qué lado llego antes a B? Por la derecha.</a:t>
            </a:r>
            <a:endParaRPr lang="en-US" sz="1600" dirty="0"/>
          </a:p>
        </p:txBody>
      </p:sp>
      <p:sp>
        <p:nvSpPr>
          <p:cNvPr id="12" name="Text 9"/>
          <p:cNvSpPr/>
          <p:nvPr/>
        </p:nvSpPr>
        <p:spPr>
          <a:xfrm>
            <a:off x="7569200" y="4180749"/>
            <a:ext cx="39243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B880"/>
                </a:solidFill>
                <a:latin typeface="Inter" pitchFamily="34" charset="0"/>
                <a:ea typeface="Inter" pitchFamily="34" charset="-122"/>
                <a:cs typeface="Inter" pitchFamily="34" charset="-120"/>
              </a:rPr>
              <a:t>El rover tiene que pensar en las dos.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Decisión global y local</a:t>
            </a:r>
            <a:endParaRPr lang="en-US" sz="3600" dirty="0"/>
          </a:p>
        </p:txBody>
      </p:sp>
      <p:sp>
        <p:nvSpPr>
          <p:cNvPr id="3" name="Shape 1"/>
          <p:cNvSpPr/>
          <p:nvPr/>
        </p:nvSpPr>
        <p:spPr>
          <a:xfrm>
            <a:off x="815975" y="1572884"/>
            <a:ext cx="10560050" cy="1223764"/>
          </a:xfrm>
          <a:prstGeom prst="roundRect">
            <a:avLst>
              <a:gd name="adj" fmla="val 12194"/>
            </a:avLst>
          </a:prstGeom>
          <a:solidFill>
            <a:srgbClr val="101010"/>
          </a:solidFill>
          <a:ln w="6350">
            <a:solidFill>
              <a:srgbClr val="262626"/>
            </a:solidFill>
            <a:prstDash val="solid"/>
          </a:ln>
        </p:spPr>
      </p:sp>
      <p:sp>
        <p:nvSpPr>
          <p:cNvPr id="4" name="Text 2"/>
          <p:cNvSpPr/>
          <p:nvPr/>
        </p:nvSpPr>
        <p:spPr>
          <a:xfrm>
            <a:off x="1020233" y="1817756"/>
            <a:ext cx="1447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4BF63"/>
                </a:solidFill>
                <a:latin typeface="Inter" pitchFamily="34" charset="0"/>
                <a:ea typeface="Inter" pitchFamily="34" charset="-122"/>
                <a:cs typeface="Inter" pitchFamily="34" charset="-120"/>
              </a:rPr>
              <a:t>Global</a:t>
            </a:r>
            <a:endParaRPr lang="en-US" sz="1600" dirty="0"/>
          </a:p>
        </p:txBody>
      </p:sp>
      <p:sp>
        <p:nvSpPr>
          <p:cNvPr id="5" name="Text 3"/>
          <p:cNvSpPr/>
          <p:nvPr/>
        </p:nvSpPr>
        <p:spPr>
          <a:xfrm>
            <a:off x="1020233" y="2140285"/>
            <a:ext cx="14478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3A3A3"/>
                </a:solidFill>
                <a:latin typeface="Inter" pitchFamily="34" charset="0"/>
                <a:ea typeface="Inter" pitchFamily="34" charset="-122"/>
                <a:cs typeface="Inter" pitchFamily="34" charset="-120"/>
              </a:rPr>
              <a:t>una vez, al arrancar</a:t>
            </a:r>
            <a:endParaRPr lang="en-US" sz="1200" dirty="0"/>
          </a:p>
        </p:txBody>
      </p:sp>
      <p:sp>
        <p:nvSpPr>
          <p:cNvPr id="6" name="Shape 4"/>
          <p:cNvSpPr/>
          <p:nvPr/>
        </p:nvSpPr>
        <p:spPr>
          <a:xfrm>
            <a:off x="2550583" y="1783494"/>
            <a:ext cx="2524456" cy="802547"/>
          </a:xfrm>
          <a:prstGeom prst="roundRect">
            <a:avLst>
              <a:gd name="adj" fmla="val 13451"/>
            </a:avLst>
          </a:prstGeom>
          <a:solidFill>
            <a:srgbClr val="0E0E0E"/>
          </a:solidFill>
          <a:ln w="12700">
            <a:solidFill>
              <a:srgbClr val="333333"/>
            </a:solidFill>
            <a:prstDash val="solid"/>
          </a:ln>
        </p:spPr>
      </p:sp>
      <p:sp>
        <p:nvSpPr>
          <p:cNvPr id="7" name="Text 5"/>
          <p:cNvSpPr/>
          <p:nvPr/>
        </p:nvSpPr>
        <p:spPr>
          <a:xfrm>
            <a:off x="2709333" y="1916844"/>
            <a:ext cx="2273164"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Lee el mapa</a:t>
            </a:r>
            <a:endParaRPr lang="en-US" sz="1600" dirty="0"/>
          </a:p>
        </p:txBody>
      </p:sp>
      <p:sp>
        <p:nvSpPr>
          <p:cNvPr id="8" name="Text 6"/>
          <p:cNvSpPr/>
          <p:nvPr/>
        </p:nvSpPr>
        <p:spPr>
          <a:xfrm>
            <a:off x="2709333" y="2239367"/>
            <a:ext cx="2273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JetBrains Mono" pitchFamily="49" charset="0"/>
                <a:ea typeface="JetBrains Mono" pitchFamily="49" charset="-122"/>
                <a:cs typeface="JetBrains Mono" pitchFamily="49" charset="-120"/>
              </a:rPr>
              <a:t>GET /api/world</a:t>
            </a:r>
            <a:endParaRPr lang="en-US" sz="1200" dirty="0"/>
          </a:p>
        </p:txBody>
      </p:sp>
      <p:pic>
        <p:nvPicPr>
          <p:cNvPr id="9" name="Image 0" descr="connector">    </p:cNvPr>
          <p:cNvPicPr>
            <a:picLocks noChangeAspect="1"/>
          </p:cNvPicPr>
          <p:nvPr/>
        </p:nvPicPr>
        <p:blipFill>
          <a:blip r:embed="rId1"/>
          <a:srcRect l="0" r="0" t="0" b="0"/>
          <a:stretch/>
        </p:blipFill>
        <p:spPr>
          <a:xfrm>
            <a:off x="5208389" y="2133935"/>
            <a:ext cx="254000" cy="101600"/>
          </a:xfrm>
          <a:prstGeom prst="rect">
            <a:avLst/>
          </a:prstGeom>
        </p:spPr>
      </p:pic>
      <p:sp>
        <p:nvSpPr>
          <p:cNvPr id="10" name="Shape 7"/>
          <p:cNvSpPr/>
          <p:nvPr/>
        </p:nvSpPr>
        <p:spPr>
          <a:xfrm>
            <a:off x="5595739" y="1783494"/>
            <a:ext cx="2524522" cy="802547"/>
          </a:xfrm>
          <a:prstGeom prst="roundRect">
            <a:avLst>
              <a:gd name="adj" fmla="val 13451"/>
            </a:avLst>
          </a:prstGeom>
          <a:solidFill>
            <a:srgbClr val="0E0E0E"/>
          </a:solidFill>
          <a:ln w="12700">
            <a:solidFill>
              <a:srgbClr val="333333"/>
            </a:solidFill>
            <a:prstDash val="solid"/>
          </a:ln>
        </p:spPr>
      </p:sp>
      <p:sp>
        <p:nvSpPr>
          <p:cNvPr id="11" name="Text 8"/>
          <p:cNvSpPr/>
          <p:nvPr/>
        </p:nvSpPr>
        <p:spPr>
          <a:xfrm>
            <a:off x="5754489" y="1916844"/>
            <a:ext cx="227323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Planifica</a:t>
            </a:r>
            <a:endParaRPr lang="en-US" sz="1600" dirty="0"/>
          </a:p>
        </p:txBody>
      </p:sp>
      <p:sp>
        <p:nvSpPr>
          <p:cNvPr id="12" name="Text 9"/>
          <p:cNvSpPr/>
          <p:nvPr/>
        </p:nvSpPr>
        <p:spPr>
          <a:xfrm>
            <a:off x="5754489" y="2239367"/>
            <a:ext cx="2273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ruta más corta A→B</a:t>
            </a:r>
            <a:endParaRPr lang="en-US" sz="1200" dirty="0"/>
          </a:p>
        </p:txBody>
      </p:sp>
      <p:pic>
        <p:nvPicPr>
          <p:cNvPr id="13" name="Image 1" descr="connector">    </p:cNvPr>
          <p:cNvPicPr>
            <a:picLocks noChangeAspect="1"/>
          </p:cNvPicPr>
          <p:nvPr/>
        </p:nvPicPr>
        <p:blipFill>
          <a:blip r:embed="rId2"/>
          <a:srcRect l="0" r="0" t="0" b="0"/>
          <a:stretch/>
        </p:blipFill>
        <p:spPr>
          <a:xfrm>
            <a:off x="8253611" y="2133935"/>
            <a:ext cx="254000" cy="101600"/>
          </a:xfrm>
          <a:prstGeom prst="rect">
            <a:avLst/>
          </a:prstGeom>
        </p:spPr>
      </p:pic>
      <p:sp>
        <p:nvSpPr>
          <p:cNvPr id="14" name="Shape 10"/>
          <p:cNvSpPr/>
          <p:nvPr/>
        </p:nvSpPr>
        <p:spPr>
          <a:xfrm>
            <a:off x="8640961" y="1783494"/>
            <a:ext cx="2524456" cy="802547"/>
          </a:xfrm>
          <a:prstGeom prst="roundRect">
            <a:avLst>
              <a:gd name="adj" fmla="val 13451"/>
            </a:avLst>
          </a:prstGeom>
          <a:solidFill>
            <a:srgbClr val="0E0E0E"/>
          </a:solidFill>
          <a:ln w="12700">
            <a:solidFill>
              <a:srgbClr val="333333"/>
            </a:solidFill>
            <a:prstDash val="solid"/>
          </a:ln>
        </p:spPr>
      </p:sp>
      <p:sp>
        <p:nvSpPr>
          <p:cNvPr id="15" name="Text 11"/>
          <p:cNvSpPr/>
          <p:nvPr/>
        </p:nvSpPr>
        <p:spPr>
          <a:xfrm>
            <a:off x="8799711" y="1916844"/>
            <a:ext cx="2273164"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Waypoints</a:t>
            </a:r>
            <a:endParaRPr lang="en-US" sz="1600" dirty="0"/>
          </a:p>
        </p:txBody>
      </p:sp>
      <p:sp>
        <p:nvSpPr>
          <p:cNvPr id="16" name="Text 12"/>
          <p:cNvSpPr/>
          <p:nvPr/>
        </p:nvSpPr>
        <p:spPr>
          <a:xfrm>
            <a:off x="8799711" y="2239367"/>
            <a:ext cx="2273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la lista a seguir</a:t>
            </a:r>
            <a:endParaRPr lang="en-US" sz="1200" dirty="0"/>
          </a:p>
        </p:txBody>
      </p:sp>
      <p:pic>
        <p:nvPicPr>
          <p:cNvPr id="17" name="Image 2" descr="arrow-down">    </p:cNvPr>
          <p:cNvPicPr>
            <a:picLocks noChangeAspect="1"/>
          </p:cNvPicPr>
          <p:nvPr/>
        </p:nvPicPr>
        <p:blipFill>
          <a:blip r:embed="rId3"/>
          <a:srcRect l="0" r="0" t="0" b="0"/>
          <a:stretch/>
        </p:blipFill>
        <p:spPr>
          <a:xfrm>
            <a:off x="3066653" y="2952223"/>
            <a:ext cx="203200" cy="406400"/>
          </a:xfrm>
          <a:prstGeom prst="rect">
            <a:avLst/>
          </a:prstGeom>
        </p:spPr>
      </p:pic>
      <p:sp>
        <p:nvSpPr>
          <p:cNvPr id="18" name="Text 13"/>
          <p:cNvSpPr/>
          <p:nvPr/>
        </p:nvSpPr>
        <p:spPr>
          <a:xfrm>
            <a:off x="3396853" y="3013211"/>
            <a:ext cx="687419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Los waypoints le dicen a cada decisión local hacia dónde ir.</a:t>
            </a:r>
            <a:endParaRPr lang="en-US" sz="1600" dirty="0"/>
          </a:p>
        </p:txBody>
      </p:sp>
      <p:sp>
        <p:nvSpPr>
          <p:cNvPr id="19" name="Shape 14"/>
          <p:cNvSpPr/>
          <p:nvPr/>
        </p:nvSpPr>
        <p:spPr>
          <a:xfrm>
            <a:off x="815975" y="3514198"/>
            <a:ext cx="10560050" cy="1223764"/>
          </a:xfrm>
          <a:prstGeom prst="roundRect">
            <a:avLst>
              <a:gd name="adj" fmla="val 12194"/>
            </a:avLst>
          </a:prstGeom>
          <a:solidFill>
            <a:srgbClr val="101010"/>
          </a:solidFill>
          <a:ln w="6350">
            <a:solidFill>
              <a:srgbClr val="262626"/>
            </a:solidFill>
            <a:prstDash val="solid"/>
          </a:ln>
        </p:spPr>
      </p:sp>
      <p:sp>
        <p:nvSpPr>
          <p:cNvPr id="20" name="Text 15"/>
          <p:cNvSpPr/>
          <p:nvPr/>
        </p:nvSpPr>
        <p:spPr>
          <a:xfrm>
            <a:off x="1020233" y="3861929"/>
            <a:ext cx="1447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B880"/>
                </a:solidFill>
                <a:latin typeface="Inter" pitchFamily="34" charset="0"/>
                <a:ea typeface="Inter" pitchFamily="34" charset="-122"/>
                <a:cs typeface="Inter" pitchFamily="34" charset="-120"/>
              </a:rPr>
              <a:t>Local</a:t>
            </a:r>
            <a:endParaRPr lang="en-US" sz="1600" dirty="0"/>
          </a:p>
        </p:txBody>
      </p:sp>
      <p:sp>
        <p:nvSpPr>
          <p:cNvPr id="21" name="Text 16"/>
          <p:cNvSpPr/>
          <p:nvPr/>
        </p:nvSpPr>
        <p:spPr>
          <a:xfrm>
            <a:off x="1020233" y="4184452"/>
            <a:ext cx="15240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3A3A3"/>
                </a:solidFill>
                <a:latin typeface="Inter" pitchFamily="34" charset="0"/>
                <a:ea typeface="Inter" pitchFamily="34" charset="-122"/>
                <a:cs typeface="Inter" pitchFamily="34" charset="-120"/>
              </a:rPr>
              <a:t>cada tick, ~300 ms</a:t>
            </a:r>
            <a:endParaRPr lang="en-US" sz="1200" dirty="0"/>
          </a:p>
        </p:txBody>
      </p:sp>
      <p:sp>
        <p:nvSpPr>
          <p:cNvPr id="22" name="Shape 17"/>
          <p:cNvSpPr/>
          <p:nvPr/>
        </p:nvSpPr>
        <p:spPr>
          <a:xfrm>
            <a:off x="2550583" y="3724808"/>
            <a:ext cx="2524456" cy="802547"/>
          </a:xfrm>
          <a:prstGeom prst="roundRect">
            <a:avLst>
              <a:gd name="adj" fmla="val 13451"/>
            </a:avLst>
          </a:prstGeom>
          <a:solidFill>
            <a:srgbClr val="0E0E0E"/>
          </a:solidFill>
          <a:ln w="12700">
            <a:solidFill>
              <a:srgbClr val="333333"/>
            </a:solidFill>
            <a:prstDash val="solid"/>
          </a:ln>
        </p:spPr>
      </p:sp>
      <p:sp>
        <p:nvSpPr>
          <p:cNvPr id="23" name="Text 18"/>
          <p:cNvSpPr/>
          <p:nvPr/>
        </p:nvSpPr>
        <p:spPr>
          <a:xfrm>
            <a:off x="2709333" y="3858158"/>
            <a:ext cx="2273164"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Percibe</a:t>
            </a:r>
            <a:endParaRPr lang="en-US" sz="1600" dirty="0"/>
          </a:p>
        </p:txBody>
      </p:sp>
      <p:sp>
        <p:nvSpPr>
          <p:cNvPr id="24" name="Text 19"/>
          <p:cNvSpPr/>
          <p:nvPr/>
        </p:nvSpPr>
        <p:spPr>
          <a:xfrm>
            <a:off x="2709333" y="4180681"/>
            <a:ext cx="2273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JetBrains Mono" pitchFamily="49" charset="0"/>
                <a:ea typeface="JetBrains Mono" pitchFamily="49" charset="-122"/>
                <a:cs typeface="JetBrains Mono" pitchFamily="49" charset="-120"/>
              </a:rPr>
              <a:t>GET /api/telemetry</a:t>
            </a:r>
            <a:endParaRPr lang="en-US" sz="1200" dirty="0"/>
          </a:p>
        </p:txBody>
      </p:sp>
      <p:pic>
        <p:nvPicPr>
          <p:cNvPr id="25" name="Image 3" descr="connector">    </p:cNvPr>
          <p:cNvPicPr>
            <a:picLocks noChangeAspect="1"/>
          </p:cNvPicPr>
          <p:nvPr/>
        </p:nvPicPr>
        <p:blipFill>
          <a:blip r:embed="rId4"/>
          <a:srcRect l="0" r="0" t="0" b="0"/>
          <a:stretch/>
        </p:blipFill>
        <p:spPr>
          <a:xfrm>
            <a:off x="5208389" y="4075249"/>
            <a:ext cx="254000" cy="101600"/>
          </a:xfrm>
          <a:prstGeom prst="rect">
            <a:avLst/>
          </a:prstGeom>
        </p:spPr>
      </p:pic>
      <p:sp>
        <p:nvSpPr>
          <p:cNvPr id="26" name="Shape 20"/>
          <p:cNvSpPr/>
          <p:nvPr/>
        </p:nvSpPr>
        <p:spPr>
          <a:xfrm>
            <a:off x="5595739" y="3724808"/>
            <a:ext cx="2524522" cy="802547"/>
          </a:xfrm>
          <a:prstGeom prst="roundRect">
            <a:avLst>
              <a:gd name="adj" fmla="val 13451"/>
            </a:avLst>
          </a:prstGeom>
          <a:solidFill>
            <a:srgbClr val="0E0E0E"/>
          </a:solidFill>
          <a:ln w="12700">
            <a:solidFill>
              <a:srgbClr val="333333"/>
            </a:solidFill>
            <a:prstDash val="solid"/>
          </a:ln>
        </p:spPr>
      </p:sp>
      <p:sp>
        <p:nvSpPr>
          <p:cNvPr id="27" name="Text 21"/>
          <p:cNvSpPr/>
          <p:nvPr/>
        </p:nvSpPr>
        <p:spPr>
          <a:xfrm>
            <a:off x="5754489" y="3858158"/>
            <a:ext cx="227323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Decide</a:t>
            </a:r>
            <a:endParaRPr lang="en-US" sz="1600" dirty="0"/>
          </a:p>
        </p:txBody>
      </p:sp>
      <p:sp>
        <p:nvSpPr>
          <p:cNvPr id="28" name="Text 22"/>
          <p:cNvSpPr/>
          <p:nvPr/>
        </p:nvSpPr>
        <p:spPr>
          <a:xfrm>
            <a:off x="5754489" y="4180681"/>
            <a:ext cx="2273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Jev vía OpenRouter</a:t>
            </a:r>
            <a:endParaRPr lang="en-US" sz="1200" dirty="0"/>
          </a:p>
        </p:txBody>
      </p:sp>
      <p:pic>
        <p:nvPicPr>
          <p:cNvPr id="29" name="Image 4" descr="connector">    </p:cNvPr>
          <p:cNvPicPr>
            <a:picLocks noChangeAspect="1"/>
          </p:cNvPicPr>
          <p:nvPr/>
        </p:nvPicPr>
        <p:blipFill>
          <a:blip r:embed="rId5"/>
          <a:srcRect l="0" r="0" t="0" b="0"/>
          <a:stretch/>
        </p:blipFill>
        <p:spPr>
          <a:xfrm>
            <a:off x="8253611" y="4075249"/>
            <a:ext cx="254000" cy="101600"/>
          </a:xfrm>
          <a:prstGeom prst="rect">
            <a:avLst/>
          </a:prstGeom>
        </p:spPr>
      </p:pic>
      <p:sp>
        <p:nvSpPr>
          <p:cNvPr id="30" name="Shape 23"/>
          <p:cNvSpPr/>
          <p:nvPr/>
        </p:nvSpPr>
        <p:spPr>
          <a:xfrm>
            <a:off x="8640961" y="3724808"/>
            <a:ext cx="2524456" cy="802547"/>
          </a:xfrm>
          <a:prstGeom prst="roundRect">
            <a:avLst>
              <a:gd name="adj" fmla="val 13451"/>
            </a:avLst>
          </a:prstGeom>
          <a:solidFill>
            <a:srgbClr val="0E0E0E"/>
          </a:solidFill>
          <a:ln w="12700">
            <a:solidFill>
              <a:srgbClr val="333333"/>
            </a:solidFill>
            <a:prstDash val="solid"/>
          </a:ln>
        </p:spPr>
      </p:sp>
      <p:sp>
        <p:nvSpPr>
          <p:cNvPr id="31" name="Text 24"/>
          <p:cNvSpPr/>
          <p:nvPr/>
        </p:nvSpPr>
        <p:spPr>
          <a:xfrm>
            <a:off x="8799711" y="3858158"/>
            <a:ext cx="2273164"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Actúa</a:t>
            </a:r>
            <a:endParaRPr lang="en-US" sz="1600" dirty="0"/>
          </a:p>
        </p:txBody>
      </p:sp>
      <p:sp>
        <p:nvSpPr>
          <p:cNvPr id="32" name="Text 25"/>
          <p:cNvSpPr/>
          <p:nvPr/>
        </p:nvSpPr>
        <p:spPr>
          <a:xfrm>
            <a:off x="8799711" y="4180681"/>
            <a:ext cx="2273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JetBrains Mono" pitchFamily="49" charset="0"/>
                <a:ea typeface="JetBrains Mono" pitchFamily="49" charset="-122"/>
                <a:cs typeface="JetBrains Mono" pitchFamily="49" charset="-120"/>
              </a:rPr>
              <a:t>POST /api/control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¿Qué es un SDK?</a:t>
            </a:r>
            <a:endParaRPr lang="en-US" sz="3600" dirty="0"/>
          </a:p>
        </p:txBody>
      </p:sp>
      <p:sp>
        <p:nvSpPr>
          <p:cNvPr id="3" name="Text 1"/>
          <p:cNvSpPr/>
          <p:nvPr/>
        </p:nvSpPr>
        <p:spPr>
          <a:xfrm>
            <a:off x="812800" y="1569709"/>
            <a:ext cx="1046480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SDK = Software Development Kit.</a:t>
            </a:r>
            <a:r>
              <a:rPr lang="en-US" sz="1600" dirty="0">
                <a:solidFill>
                  <a:srgbClr val="A3A3A3"/>
                </a:solidFill>
                <a:latin typeface="Inter" pitchFamily="34" charset="0"/>
                <a:ea typeface="Inter" pitchFamily="34" charset="-122"/>
                <a:cs typeface="Inter" pitchFamily="34" charset="-120"/>
              </a:rPr>
              <a:t> Es una librería que envuelve una API: en vez de armar la petición HTTP a mano, llamas una función.</a:t>
            </a:r>
            <a:endParaRPr lang="en-US" sz="1600" dirty="0"/>
          </a:p>
        </p:txBody>
      </p:sp>
      <p:sp>
        <p:nvSpPr>
          <p:cNvPr id="4" name="Shape 2"/>
          <p:cNvSpPr/>
          <p:nvPr/>
        </p:nvSpPr>
        <p:spPr>
          <a:xfrm>
            <a:off x="815975" y="2395736"/>
            <a:ext cx="5115983" cy="2298237"/>
          </a:xfrm>
          <a:prstGeom prst="roundRect">
            <a:avLst>
              <a:gd name="adj" fmla="val 6493"/>
            </a:avLst>
          </a:prstGeom>
          <a:solidFill>
            <a:srgbClr val="101010"/>
          </a:solidFill>
          <a:ln w="6350">
            <a:solidFill>
              <a:srgbClr val="262626"/>
            </a:solidFill>
            <a:prstDash val="solid"/>
          </a:ln>
        </p:spPr>
      </p:sp>
      <p:sp>
        <p:nvSpPr>
          <p:cNvPr id="5" name="Text 3"/>
          <p:cNvSpPr/>
          <p:nvPr/>
        </p:nvSpPr>
        <p:spPr>
          <a:xfrm>
            <a:off x="1020233" y="2599996"/>
            <a:ext cx="48486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A3A3"/>
                </a:solidFill>
                <a:latin typeface="Inter" pitchFamily="34" charset="0"/>
                <a:ea typeface="Inter" pitchFamily="34" charset="-122"/>
                <a:cs typeface="Inter" pitchFamily="34" charset="-120"/>
              </a:rPr>
              <a:t>Sin SDK: HTTP a mano</a:t>
            </a:r>
            <a:endParaRPr lang="en-US" sz="1200" dirty="0"/>
          </a:p>
        </p:txBody>
      </p:sp>
      <p:sp>
        <p:nvSpPr>
          <p:cNvPr id="6" name="Text 4"/>
          <p:cNvSpPr/>
          <p:nvPr/>
        </p:nvSpPr>
        <p:spPr>
          <a:xfrm>
            <a:off x="1020233" y="2927617"/>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resp = requests.post(</a:t>
            </a:r>
            <a:endParaRPr lang="en-US" sz="1200" dirty="0"/>
          </a:p>
        </p:txBody>
      </p:sp>
      <p:sp>
        <p:nvSpPr>
          <p:cNvPr id="7" name="Text 5"/>
          <p:cNvSpPr/>
          <p:nvPr/>
        </p:nvSpPr>
        <p:spPr>
          <a:xfrm>
            <a:off x="1388533" y="3194317"/>
            <a:ext cx="446934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URL_DECISIONES,</a:t>
            </a:r>
            <a:endParaRPr lang="en-US" sz="1200" dirty="0"/>
          </a:p>
        </p:txBody>
      </p:sp>
      <p:sp>
        <p:nvSpPr>
          <p:cNvPr id="8" name="Text 6"/>
          <p:cNvSpPr/>
          <p:nvPr/>
        </p:nvSpPr>
        <p:spPr>
          <a:xfrm>
            <a:off x="1388533" y="3461017"/>
            <a:ext cx="446934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headers={</a:t>
            </a:r>
            <a:r>
              <a:rPr lang="en-US" sz="1200" dirty="0">
                <a:solidFill>
                  <a:srgbClr val="F2B880"/>
                </a:solidFill>
                <a:latin typeface="JetBrains Mono" pitchFamily="49" charset="0"/>
                <a:ea typeface="JetBrains Mono" pitchFamily="49" charset="-122"/>
                <a:cs typeface="JetBrains Mono" pitchFamily="49" charset="-120"/>
              </a:rPr>
              <a:t>"Authorization"</a:t>
            </a:r>
            <a:r>
              <a:rPr lang="en-US" sz="1200" dirty="0">
                <a:solidFill>
                  <a:srgbClr val="EDEDED"/>
                </a:solidFill>
                <a:latin typeface="JetBrains Mono" pitchFamily="49" charset="0"/>
                <a:ea typeface="JetBrains Mono" pitchFamily="49" charset="-122"/>
                <a:cs typeface="JetBrains Mono" pitchFamily="49" charset="-120"/>
              </a:rPr>
              <a:t>: </a:t>
            </a:r>
            <a:r>
              <a:rPr lang="en-US" sz="1200" dirty="0">
                <a:solidFill>
                  <a:srgbClr val="F2B880"/>
                </a:solidFill>
                <a:latin typeface="JetBrains Mono" pitchFamily="49" charset="0"/>
                <a:ea typeface="JetBrains Mono" pitchFamily="49" charset="-122"/>
                <a:cs typeface="JetBrains Mono" pitchFamily="49" charset="-120"/>
              </a:rPr>
              <a:t>f"Bearer {KEY}"</a:t>
            </a:r>
            <a:r>
              <a:rPr lang="en-US" sz="1200" dirty="0">
                <a:solidFill>
                  <a:srgbClr val="EDEDED"/>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1388533" y="3727717"/>
            <a:ext cx="446934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json={...}, </a:t>
            </a:r>
            <a:r>
              <a:rPr lang="en-US" sz="1200" dirty="0">
                <a:solidFill>
                  <a:srgbClr val="8F8F8F"/>
                </a:solidFill>
                <a:latin typeface="JetBrains Mono" pitchFamily="49" charset="0"/>
                <a:ea typeface="JetBrains Mono" pitchFamily="49" charset="-122"/>
                <a:cs typeface="JetBrains Mono" pitchFamily="49" charset="-120"/>
              </a:rPr>
              <a:t># model, state, questions</a:t>
            </a:r>
            <a:endParaRPr lang="en-US" sz="1200" dirty="0"/>
          </a:p>
        </p:txBody>
      </p:sp>
      <p:sp>
        <p:nvSpPr>
          <p:cNvPr id="10" name="Text 8"/>
          <p:cNvSpPr/>
          <p:nvPr/>
        </p:nvSpPr>
        <p:spPr>
          <a:xfrm>
            <a:off x="1020233" y="3994417"/>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a:t>
            </a:r>
            <a:endParaRPr lang="en-US" sz="1200" dirty="0"/>
          </a:p>
        </p:txBody>
      </p:sp>
      <p:sp>
        <p:nvSpPr>
          <p:cNvPr id="11" name="Text 9"/>
          <p:cNvSpPr/>
          <p:nvPr/>
        </p:nvSpPr>
        <p:spPr>
          <a:xfrm>
            <a:off x="1020233" y="4261117"/>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resp.json()[</a:t>
            </a:r>
            <a:r>
              <a:rPr lang="en-US" sz="1200" dirty="0">
                <a:solidFill>
                  <a:srgbClr val="F2B880"/>
                </a:solidFill>
                <a:latin typeface="JetBrains Mono" pitchFamily="49" charset="0"/>
                <a:ea typeface="JetBrains Mono" pitchFamily="49" charset="-122"/>
                <a:cs typeface="JetBrains Mono" pitchFamily="49" charset="-120"/>
              </a:rPr>
              <a:t>"answers"</a:t>
            </a:r>
            <a:r>
              <a:rPr lang="en-US" sz="1200" dirty="0">
                <a:solidFill>
                  <a:srgbClr val="EDEDED"/>
                </a:solidFill>
                <a:latin typeface="JetBrains Mono" pitchFamily="49" charset="0"/>
                <a:ea typeface="JetBrains Mono" pitchFamily="49" charset="-122"/>
                <a:cs typeface="JetBrains Mono" pitchFamily="49" charset="-120"/>
              </a:rPr>
              <a:t>]</a:t>
            </a:r>
            <a:endParaRPr lang="en-US" sz="1200" dirty="0"/>
          </a:p>
        </p:txBody>
      </p:sp>
      <p:sp>
        <p:nvSpPr>
          <p:cNvPr id="12" name="Shape 10"/>
          <p:cNvSpPr/>
          <p:nvPr/>
        </p:nvSpPr>
        <p:spPr>
          <a:xfrm>
            <a:off x="6246283" y="2398911"/>
            <a:ext cx="5126567" cy="2291887"/>
          </a:xfrm>
          <a:prstGeom prst="roundRect">
            <a:avLst>
              <a:gd name="adj" fmla="val 6372"/>
            </a:avLst>
          </a:prstGeom>
          <a:solidFill>
            <a:srgbClr val="101010"/>
          </a:solidFill>
          <a:ln w="12700">
            <a:solidFill>
              <a:srgbClr val="04BF63"/>
            </a:solidFill>
            <a:prstDash val="solid"/>
          </a:ln>
        </p:spPr>
      </p:sp>
      <p:sp>
        <p:nvSpPr>
          <p:cNvPr id="13" name="Text 11"/>
          <p:cNvSpPr/>
          <p:nvPr/>
        </p:nvSpPr>
        <p:spPr>
          <a:xfrm>
            <a:off x="6455833" y="2608461"/>
            <a:ext cx="48486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4BF63"/>
                </a:solidFill>
                <a:latin typeface="Inter" pitchFamily="34" charset="0"/>
                <a:ea typeface="Inter" pitchFamily="34" charset="-122"/>
                <a:cs typeface="Inter" pitchFamily="34" charset="-120"/>
              </a:rPr>
              <a:t>Con el SDK de TypeSafe</a:t>
            </a:r>
            <a:endParaRPr lang="en-US" sz="1200" dirty="0"/>
          </a:p>
        </p:txBody>
      </p:sp>
      <p:sp>
        <p:nvSpPr>
          <p:cNvPr id="14" name="Text 12"/>
          <p:cNvSpPr/>
          <p:nvPr/>
        </p:nvSpPr>
        <p:spPr>
          <a:xfrm>
            <a:off x="6455833" y="2936081"/>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jev = TypeSafeClient(api_key=KEY, ...)</a:t>
            </a:r>
            <a:endParaRPr lang="en-US" sz="1200" dirty="0"/>
          </a:p>
        </p:txBody>
      </p:sp>
      <p:sp>
        <p:nvSpPr>
          <p:cNvPr id="15" name="Text 13"/>
          <p:cNvSpPr/>
          <p:nvPr/>
        </p:nvSpPr>
        <p:spPr>
          <a:xfrm>
            <a:off x="6455833" y="3202781"/>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result = jev.system_one(</a:t>
            </a:r>
            <a:endParaRPr lang="en-US" sz="1200" dirty="0"/>
          </a:p>
        </p:txBody>
      </p:sp>
      <p:sp>
        <p:nvSpPr>
          <p:cNvPr id="16" name="Text 14"/>
          <p:cNvSpPr/>
          <p:nvPr/>
        </p:nvSpPr>
        <p:spPr>
          <a:xfrm>
            <a:off x="6824133" y="3469481"/>
            <a:ext cx="4469342"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model=..., state=..., questions=...,</a:t>
            </a:r>
            <a:endParaRPr lang="en-US" sz="1200" dirty="0"/>
          </a:p>
        </p:txBody>
      </p:sp>
      <p:sp>
        <p:nvSpPr>
          <p:cNvPr id="17" name="Text 15"/>
          <p:cNvSpPr/>
          <p:nvPr/>
        </p:nvSpPr>
        <p:spPr>
          <a:xfrm>
            <a:off x="6455833" y="3736181"/>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a:t>
            </a:r>
            <a:endParaRPr lang="en-US" sz="1200" dirty="0"/>
          </a:p>
        </p:txBody>
      </p:sp>
      <p:sp>
        <p:nvSpPr>
          <p:cNvPr id="18" name="Text 16"/>
          <p:cNvSpPr/>
          <p:nvPr/>
        </p:nvSpPr>
        <p:spPr>
          <a:xfrm>
            <a:off x="6455833" y="4002881"/>
            <a:ext cx="484869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DEDED"/>
                </a:solidFill>
                <a:latin typeface="JetBrains Mono" pitchFamily="49" charset="0"/>
                <a:ea typeface="JetBrains Mono" pitchFamily="49" charset="-122"/>
                <a:cs typeface="JetBrains Mono" pitchFamily="49" charset="-120"/>
              </a:rPr>
              <a:t>result.answers</a:t>
            </a:r>
            <a:endParaRPr lang="en-US" sz="1200" dirty="0"/>
          </a:p>
        </p:txBody>
      </p:sp>
      <p:sp>
        <p:nvSpPr>
          <p:cNvPr id="19" name="Text 17"/>
          <p:cNvSpPr/>
          <p:nvPr/>
        </p:nvSpPr>
        <p:spPr>
          <a:xfrm>
            <a:off x="812800" y="4951152"/>
            <a:ext cx="113792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Por dentro es la misma petición HTTP que ya conoces. </a:t>
            </a:r>
            <a:r>
              <a:rPr lang="en-US" sz="1600" dirty="0">
                <a:solidFill>
                  <a:srgbClr val="F9FAFB"/>
                </a:solidFill>
                <a:latin typeface="Inter" pitchFamily="34" charset="0"/>
                <a:ea typeface="Inter" pitchFamily="34" charset="-122"/>
                <a:cs typeface="Inter" pitchFamily="34" charset="-120"/>
              </a:rPr>
              <a:t>El SDK la arma por ti: menos código y menos errores.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El SDK de TypeSafe</a:t>
            </a:r>
            <a:endParaRPr lang="en-US" sz="3600" dirty="0"/>
          </a:p>
        </p:txBody>
      </p:sp>
      <p:sp>
        <p:nvSpPr>
          <p:cNvPr id="3" name="Shape 1"/>
          <p:cNvSpPr/>
          <p:nvPr/>
        </p:nvSpPr>
        <p:spPr>
          <a:xfrm>
            <a:off x="815975" y="1572884"/>
            <a:ext cx="7105650" cy="3593240"/>
          </a:xfrm>
          <a:prstGeom prst="roundRect">
            <a:avLst>
              <a:gd name="adj" fmla="val 4153"/>
            </a:avLst>
          </a:prstGeom>
          <a:solidFill>
            <a:srgbClr val="101010"/>
          </a:solidFill>
          <a:ln w="6350">
            <a:solidFill>
              <a:srgbClr val="262626"/>
            </a:solidFill>
            <a:prstDash val="solid"/>
          </a:ln>
        </p:spPr>
      </p:sp>
      <p:sp>
        <p:nvSpPr>
          <p:cNvPr id="4" name="Text 2"/>
          <p:cNvSpPr/>
          <p:nvPr/>
        </p:nvSpPr>
        <p:spPr>
          <a:xfrm>
            <a:off x="1007533" y="1739044"/>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464733" y="1739044"/>
            <a:ext cx="489760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6EE7A8"/>
                </a:solidFill>
                <a:latin typeface="JetBrains Mono" pitchFamily="49" charset="0"/>
                <a:ea typeface="JetBrains Mono" pitchFamily="49" charset="-122"/>
                <a:cs typeface="JetBrains Mono" pitchFamily="49" charset="-120"/>
              </a:rPr>
              <a:t>from</a:t>
            </a:r>
            <a:r>
              <a:rPr lang="en-US" sz="1600" dirty="0">
                <a:solidFill>
                  <a:srgbClr val="EDEDED"/>
                </a:solidFill>
                <a:latin typeface="JetBrains Mono" pitchFamily="49" charset="0"/>
                <a:ea typeface="JetBrains Mono" pitchFamily="49" charset="-122"/>
                <a:cs typeface="JetBrains Mono" pitchFamily="49" charset="-120"/>
              </a:rPr>
              <a:t> typesafe_sdk </a:t>
            </a:r>
            <a:r>
              <a:rPr lang="en-US" sz="1600" dirty="0">
                <a:solidFill>
                  <a:srgbClr val="6EE7A8"/>
                </a:solidFill>
                <a:latin typeface="JetBrains Mono" pitchFamily="49" charset="0"/>
                <a:ea typeface="JetBrains Mono" pitchFamily="49" charset="-122"/>
                <a:cs typeface="JetBrains Mono" pitchFamily="49" charset="-120"/>
              </a:rPr>
              <a:t>import</a:t>
            </a:r>
            <a:r>
              <a:rPr lang="en-US" sz="1600" dirty="0">
                <a:solidFill>
                  <a:srgbClr val="EDEDED"/>
                </a:solidFill>
                <a:latin typeface="JetBrains Mono" pitchFamily="49" charset="0"/>
                <a:ea typeface="JetBrains Mono" pitchFamily="49" charset="-122"/>
                <a:cs typeface="JetBrains Mono" pitchFamily="49" charset="-120"/>
              </a:rPr>
              <a:t> TypeSafeClient</a:t>
            </a:r>
            <a:endParaRPr lang="en-US" sz="1600" dirty="0"/>
          </a:p>
        </p:txBody>
      </p:sp>
      <p:sp>
        <p:nvSpPr>
          <p:cNvPr id="6" name="Shape 4"/>
          <p:cNvSpPr/>
          <p:nvPr/>
        </p:nvSpPr>
        <p:spPr>
          <a:xfrm>
            <a:off x="975783" y="2022215"/>
            <a:ext cx="6786034" cy="1170781"/>
          </a:xfrm>
          <a:prstGeom prst="roundRect">
            <a:avLst>
              <a:gd name="adj" fmla="val 5966"/>
            </a:avLst>
          </a:prstGeom>
          <a:solidFill>
            <a:srgbClr val="0C2418"/>
          </a:solidFill>
          <a:ln w="12700">
            <a:solidFill>
              <a:srgbClr val="04BF63"/>
            </a:solidFill>
            <a:prstDash val="solid"/>
          </a:ln>
        </p:spPr>
      </p:sp>
      <p:sp>
        <p:nvSpPr>
          <p:cNvPr id="7" name="Text 5"/>
          <p:cNvSpPr/>
          <p:nvPr/>
        </p:nvSpPr>
        <p:spPr>
          <a:xfrm>
            <a:off x="1007533" y="204126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2</a:t>
            </a:r>
            <a:endParaRPr lang="en-US" sz="1600" dirty="0"/>
          </a:p>
        </p:txBody>
      </p:sp>
      <p:sp>
        <p:nvSpPr>
          <p:cNvPr id="8" name="Text 6"/>
          <p:cNvSpPr/>
          <p:nvPr/>
        </p:nvSpPr>
        <p:spPr>
          <a:xfrm>
            <a:off x="1464733" y="2041265"/>
            <a:ext cx="263718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jev = TypeSafeClient(</a:t>
            </a:r>
            <a:endParaRPr lang="en-US" sz="1600" dirty="0"/>
          </a:p>
        </p:txBody>
      </p:sp>
      <p:sp>
        <p:nvSpPr>
          <p:cNvPr id="9" name="Text 7"/>
          <p:cNvSpPr/>
          <p:nvPr/>
        </p:nvSpPr>
        <p:spPr>
          <a:xfrm>
            <a:off x="1007533" y="233078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3</a:t>
            </a:r>
            <a:endParaRPr lang="en-US" sz="1600" dirty="0"/>
          </a:p>
        </p:txBody>
      </p:sp>
      <p:sp>
        <p:nvSpPr>
          <p:cNvPr id="10" name="Text 8"/>
          <p:cNvSpPr/>
          <p:nvPr/>
        </p:nvSpPr>
        <p:spPr>
          <a:xfrm>
            <a:off x="1953683" y="2330785"/>
            <a:ext cx="401852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api_key=API_KEY, </a:t>
            </a:r>
            <a:r>
              <a:rPr lang="en-US" sz="1600" dirty="0">
                <a:solidFill>
                  <a:srgbClr val="8F8F8F"/>
                </a:solidFill>
                <a:latin typeface="JetBrains Mono" pitchFamily="49" charset="0"/>
                <a:ea typeface="JetBrains Mono" pitchFamily="49" charset="-122"/>
                <a:cs typeface="JetBrains Mono" pitchFamily="49" charset="-120"/>
              </a:rPr>
              <a:t># sale del .env</a:t>
            </a:r>
            <a:endParaRPr lang="en-US" sz="1600" dirty="0"/>
          </a:p>
        </p:txBody>
      </p:sp>
      <p:sp>
        <p:nvSpPr>
          <p:cNvPr id="11" name="Text 9"/>
          <p:cNvSpPr/>
          <p:nvPr/>
        </p:nvSpPr>
        <p:spPr>
          <a:xfrm>
            <a:off x="1007533" y="262030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4</a:t>
            </a:r>
            <a:endParaRPr lang="en-US" sz="1600" dirty="0"/>
          </a:p>
        </p:txBody>
      </p:sp>
      <p:sp>
        <p:nvSpPr>
          <p:cNvPr id="12" name="Text 10"/>
          <p:cNvSpPr/>
          <p:nvPr/>
        </p:nvSpPr>
        <p:spPr>
          <a:xfrm>
            <a:off x="1953683" y="2620305"/>
            <a:ext cx="464648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base_url=</a:t>
            </a:r>
            <a:r>
              <a:rPr lang="en-US" sz="1600" dirty="0">
                <a:solidFill>
                  <a:srgbClr val="F2B880"/>
                </a:solidFill>
                <a:latin typeface="JetBrains Mono" pitchFamily="49" charset="0"/>
                <a:ea typeface="JetBrains Mono" pitchFamily="49" charset="-122"/>
                <a:cs typeface="JetBrains Mono" pitchFamily="49" charset="-120"/>
              </a:rPr>
              <a:t>"https://openrouter.ai/api"</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3" name="Text 11"/>
          <p:cNvSpPr/>
          <p:nvPr/>
        </p:nvSpPr>
        <p:spPr>
          <a:xfrm>
            <a:off x="1007533" y="290982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5</a:t>
            </a:r>
            <a:endParaRPr lang="en-US" sz="1600" dirty="0"/>
          </a:p>
        </p:txBody>
      </p:sp>
      <p:sp>
        <p:nvSpPr>
          <p:cNvPr id="14" name="Text 12"/>
          <p:cNvSpPr/>
          <p:nvPr/>
        </p:nvSpPr>
        <p:spPr>
          <a:xfrm>
            <a:off x="1464733" y="2909825"/>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5" name="Text 13"/>
          <p:cNvSpPr/>
          <p:nvPr/>
        </p:nvSpPr>
        <p:spPr>
          <a:xfrm>
            <a:off x="1007533" y="321204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6</a:t>
            </a:r>
            <a:endParaRPr lang="en-US" sz="1600" dirty="0"/>
          </a:p>
        </p:txBody>
      </p:sp>
      <p:sp>
        <p:nvSpPr>
          <p:cNvPr id="16" name="Text 14"/>
          <p:cNvSpPr/>
          <p:nvPr/>
        </p:nvSpPr>
        <p:spPr>
          <a:xfrm>
            <a:off x="1464733" y="3212046"/>
            <a:ext cx="3013876"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 = jev.system_one(</a:t>
            </a:r>
            <a:endParaRPr lang="en-US" sz="1600" dirty="0"/>
          </a:p>
        </p:txBody>
      </p:sp>
      <p:sp>
        <p:nvSpPr>
          <p:cNvPr id="17" name="Text 15"/>
          <p:cNvSpPr/>
          <p:nvPr/>
        </p:nvSpPr>
        <p:spPr>
          <a:xfrm>
            <a:off x="1007533" y="350156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7</a:t>
            </a:r>
            <a:endParaRPr lang="en-US" sz="1600" dirty="0"/>
          </a:p>
        </p:txBody>
      </p:sp>
      <p:sp>
        <p:nvSpPr>
          <p:cNvPr id="18" name="Text 16"/>
          <p:cNvSpPr/>
          <p:nvPr/>
        </p:nvSpPr>
        <p:spPr>
          <a:xfrm>
            <a:off x="1953683" y="3501566"/>
            <a:ext cx="213492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model=</a:t>
            </a:r>
            <a:r>
              <a:rPr lang="en-US" sz="1600" dirty="0">
                <a:solidFill>
                  <a:srgbClr val="F2B880"/>
                </a:solidFill>
                <a:latin typeface="JetBrains Mono" pitchFamily="49" charset="0"/>
                <a:ea typeface="JetBrains Mono" pitchFamily="49" charset="-122"/>
                <a:cs typeface="JetBrains Mono" pitchFamily="49" charset="-120"/>
              </a:rPr>
              <a:t>"jev-1.13"</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9" name="Shape 17"/>
          <p:cNvSpPr/>
          <p:nvPr/>
        </p:nvSpPr>
        <p:spPr>
          <a:xfrm>
            <a:off x="975783" y="3784736"/>
            <a:ext cx="6786034" cy="302220"/>
          </a:xfrm>
          <a:prstGeom prst="roundRect">
            <a:avLst>
              <a:gd name="adj" fmla="val 23112"/>
            </a:avLst>
          </a:prstGeom>
          <a:noFill/>
          <a:ln w="12700">
            <a:solidFill>
              <a:srgbClr val="101010"/>
            </a:solidFill>
            <a:prstDash val="solid"/>
          </a:ln>
        </p:spPr>
      </p:sp>
      <p:sp>
        <p:nvSpPr>
          <p:cNvPr id="20" name="Text 18"/>
          <p:cNvSpPr/>
          <p:nvPr/>
        </p:nvSpPr>
        <p:spPr>
          <a:xfrm>
            <a:off x="1007533" y="380378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8</a:t>
            </a:r>
            <a:endParaRPr lang="en-US" sz="1600" dirty="0"/>
          </a:p>
        </p:txBody>
      </p:sp>
      <p:sp>
        <p:nvSpPr>
          <p:cNvPr id="21" name="Text 19"/>
          <p:cNvSpPr/>
          <p:nvPr/>
        </p:nvSpPr>
        <p:spPr>
          <a:xfrm>
            <a:off x="1953683" y="3803786"/>
            <a:ext cx="464641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state=telemetria, </a:t>
            </a:r>
            <a:r>
              <a:rPr lang="en-US" sz="1600" dirty="0">
                <a:solidFill>
                  <a:srgbClr val="8F8F8F"/>
                </a:solidFill>
                <a:latin typeface="JetBrains Mono" pitchFamily="49" charset="0"/>
                <a:ea typeface="JetBrains Mono" pitchFamily="49" charset="-122"/>
                <a:cs typeface="JetBrains Mono" pitchFamily="49" charset="-120"/>
              </a:rPr>
              <a:t># lo que sabe ahora</a:t>
            </a:r>
            <a:endParaRPr lang="en-US" sz="1600" dirty="0"/>
          </a:p>
        </p:txBody>
      </p:sp>
      <p:sp>
        <p:nvSpPr>
          <p:cNvPr id="22" name="Shape 20"/>
          <p:cNvSpPr/>
          <p:nvPr/>
        </p:nvSpPr>
        <p:spPr>
          <a:xfrm>
            <a:off x="975783" y="4099657"/>
            <a:ext cx="6786034" cy="302220"/>
          </a:xfrm>
          <a:prstGeom prst="roundRect">
            <a:avLst>
              <a:gd name="adj" fmla="val 23112"/>
            </a:avLst>
          </a:prstGeom>
          <a:noFill/>
          <a:ln w="12700">
            <a:solidFill>
              <a:srgbClr val="101010"/>
            </a:solidFill>
            <a:prstDash val="solid"/>
          </a:ln>
        </p:spPr>
      </p:sp>
      <p:sp>
        <p:nvSpPr>
          <p:cNvPr id="23" name="Text 21"/>
          <p:cNvSpPr/>
          <p:nvPr/>
        </p:nvSpPr>
        <p:spPr>
          <a:xfrm>
            <a:off x="1007533" y="411870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9</a:t>
            </a:r>
            <a:endParaRPr lang="en-US" sz="1600" dirty="0"/>
          </a:p>
        </p:txBody>
      </p:sp>
      <p:sp>
        <p:nvSpPr>
          <p:cNvPr id="24" name="Text 22"/>
          <p:cNvSpPr/>
          <p:nvPr/>
        </p:nvSpPr>
        <p:spPr>
          <a:xfrm>
            <a:off x="1953683" y="4118707"/>
            <a:ext cx="502317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questions=ACTION_QUESTION, </a:t>
            </a:r>
            <a:r>
              <a:rPr lang="en-US" sz="1600" dirty="0">
                <a:solidFill>
                  <a:srgbClr val="8F8F8F"/>
                </a:solidFill>
                <a:latin typeface="JetBrains Mono" pitchFamily="49" charset="0"/>
                <a:ea typeface="JetBrains Mono" pitchFamily="49" charset="-122"/>
                <a:cs typeface="JetBrains Mono" pitchFamily="49" charset="-120"/>
              </a:rPr>
              <a:t># qué decidir</a:t>
            </a:r>
            <a:endParaRPr lang="en-US" sz="1600" dirty="0"/>
          </a:p>
        </p:txBody>
      </p:sp>
      <p:sp>
        <p:nvSpPr>
          <p:cNvPr id="25" name="Text 23"/>
          <p:cNvSpPr/>
          <p:nvPr/>
        </p:nvSpPr>
        <p:spPr>
          <a:xfrm>
            <a:off x="1007533" y="442092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10</a:t>
            </a:r>
            <a:endParaRPr lang="en-US" sz="1600" dirty="0"/>
          </a:p>
        </p:txBody>
      </p:sp>
      <p:sp>
        <p:nvSpPr>
          <p:cNvPr id="26" name="Text 24"/>
          <p:cNvSpPr/>
          <p:nvPr/>
        </p:nvSpPr>
        <p:spPr>
          <a:xfrm>
            <a:off x="1464733" y="4420927"/>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27" name="Shape 25"/>
          <p:cNvSpPr/>
          <p:nvPr/>
        </p:nvSpPr>
        <p:spPr>
          <a:xfrm>
            <a:off x="975783" y="4704097"/>
            <a:ext cx="6786034" cy="302220"/>
          </a:xfrm>
          <a:prstGeom prst="roundRect">
            <a:avLst>
              <a:gd name="adj" fmla="val 23112"/>
            </a:avLst>
          </a:prstGeom>
          <a:noFill/>
          <a:ln w="12700">
            <a:solidFill>
              <a:srgbClr val="101010"/>
            </a:solidFill>
            <a:prstDash val="solid"/>
          </a:ln>
        </p:spPr>
      </p:sp>
      <p:sp>
        <p:nvSpPr>
          <p:cNvPr id="28" name="Text 26"/>
          <p:cNvSpPr/>
          <p:nvPr/>
        </p:nvSpPr>
        <p:spPr>
          <a:xfrm>
            <a:off x="1007533" y="472314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11</a:t>
            </a:r>
            <a:endParaRPr lang="en-US" sz="1600" dirty="0"/>
          </a:p>
        </p:txBody>
      </p:sp>
      <p:sp>
        <p:nvSpPr>
          <p:cNvPr id="29" name="Text 27"/>
          <p:cNvSpPr/>
          <p:nvPr/>
        </p:nvSpPr>
        <p:spPr>
          <a:xfrm>
            <a:off x="1464733" y="4723147"/>
            <a:ext cx="565106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result.answers[</a:t>
            </a:r>
            <a:r>
              <a:rPr lang="en-US" sz="1600" dirty="0">
                <a:solidFill>
                  <a:srgbClr val="F2B880"/>
                </a:solidFill>
                <a:latin typeface="JetBrains Mono" pitchFamily="49" charset="0"/>
                <a:ea typeface="JetBrains Mono" pitchFamily="49" charset="-122"/>
                <a:cs typeface="JetBrains Mono" pitchFamily="49" charset="-120"/>
              </a:rPr>
              <a:t>"action"</a:t>
            </a:r>
            <a:r>
              <a:rPr lang="en-US" sz="1600" dirty="0">
                <a:solidFill>
                  <a:srgbClr val="EDEDED"/>
                </a:solidFill>
                <a:latin typeface="JetBrains Mono" pitchFamily="49" charset="0"/>
                <a:ea typeface="JetBrains Mono" pitchFamily="49" charset="-122"/>
                <a:cs typeface="JetBrains Mono" pitchFamily="49" charset="-120"/>
              </a:rPr>
              <a:t>].choice </a:t>
            </a:r>
            <a:r>
              <a:rPr lang="en-US" sz="1600" dirty="0">
                <a:solidFill>
                  <a:srgbClr val="8F8F8F"/>
                </a:solidFill>
                <a:latin typeface="JetBrains Mono" pitchFamily="49" charset="0"/>
                <a:ea typeface="JetBrains Mono" pitchFamily="49" charset="-122"/>
                <a:cs typeface="JetBrains Mono" pitchFamily="49" charset="-120"/>
              </a:rPr>
              <a:t># "turn_left"</a:t>
            </a:r>
            <a:endParaRPr lang="en-US" sz="1600" dirty="0"/>
          </a:p>
        </p:txBody>
      </p:sp>
      <p:sp>
        <p:nvSpPr>
          <p:cNvPr id="30" name="Text 28"/>
          <p:cNvSpPr/>
          <p:nvPr/>
        </p:nvSpPr>
        <p:spPr>
          <a:xfrm>
            <a:off x="8229600" y="1857710"/>
            <a:ext cx="32440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4BF63"/>
                </a:solidFill>
                <a:latin typeface="Inter" pitchFamily="34" charset="0"/>
                <a:ea typeface="Inter" pitchFamily="34" charset="-122"/>
                <a:cs typeface="Inter" pitchFamily="34" charset="-120"/>
              </a:rPr>
              <a:t>1</a:t>
            </a:r>
            <a:endParaRPr lang="en-US" sz="6000" dirty="0"/>
          </a:p>
        </p:txBody>
      </p:sp>
      <p:sp>
        <p:nvSpPr>
          <p:cNvPr id="31" name="Text 29"/>
          <p:cNvSpPr/>
          <p:nvPr/>
        </p:nvSpPr>
        <p:spPr>
          <a:xfrm>
            <a:off x="8229600" y="2772110"/>
            <a:ext cx="32440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El cliente</a:t>
            </a:r>
            <a:endParaRPr lang="en-US" sz="2200" dirty="0"/>
          </a:p>
        </p:txBody>
      </p:sp>
      <p:sp>
        <p:nvSpPr>
          <p:cNvPr id="32" name="Text 30"/>
          <p:cNvSpPr/>
          <p:nvPr/>
        </p:nvSpPr>
        <p:spPr>
          <a:xfrm>
            <a:off x="8229600" y="3245780"/>
            <a:ext cx="324408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TypeSafeClient se conecta a OpenRouter. La key sale del .env: nunca escrita en el código.</a:t>
            </a:r>
            <a:endParaRPr lang="en-US" sz="1600" dirty="0"/>
          </a:p>
        </p:txBody>
      </p:sp>
      <p:sp>
        <p:nvSpPr>
          <p:cNvPr id="33" name="Text 31"/>
          <p:cNvSpPr/>
          <p:nvPr/>
        </p:nvSpPr>
        <p:spPr>
          <a:xfrm>
            <a:off x="8229600" y="4251461"/>
            <a:ext cx="3149600" cy="629841"/>
          </a:xfrm>
          <a:prstGeom prst="roundRect">
            <a:avLst>
              <a:gd name="adj" fmla="val 16131"/>
            </a:avLst>
          </a:prstGeom>
          <a:solidFill>
            <a:srgbClr val="0C2418"/>
          </a:solidFill>
          <a:ln/>
        </p:spPr>
        <p:txBody>
          <a:bodyPr wrap="square" lIns="97242" tIns="71842" rIns="10374" bIns="46442" rtlCol="0" anchor="t">
            <a:normAutofit/>
          </a:bodyPr>
          <a:lstStyle/>
          <a:p>
            <a:pPr algn="l" indent="0" marL="0">
              <a:lnSpc>
                <a:spcPts val="1680"/>
              </a:lnSpc>
              <a:buNone/>
            </a:pPr>
            <a:r>
              <a:rPr lang="en-US" sz="1200" dirty="0">
                <a:solidFill>
                  <a:srgbClr val="B9F5D3"/>
                </a:solidFill>
                <a:latin typeface="Inter" pitchFamily="34" charset="0"/>
                <a:ea typeface="Inter" pitchFamily="34" charset="-122"/>
                <a:cs typeface="Inter" pitchFamily="34" charset="-120"/>
              </a:rPr>
              <a:t>Pregunta: ¿por qué la key va en un .env y no en el código?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El SDK de TypeSafe</a:t>
            </a:r>
            <a:endParaRPr lang="en-US" sz="3600" dirty="0"/>
          </a:p>
        </p:txBody>
      </p:sp>
      <p:sp>
        <p:nvSpPr>
          <p:cNvPr id="3" name="Shape 1"/>
          <p:cNvSpPr/>
          <p:nvPr/>
        </p:nvSpPr>
        <p:spPr>
          <a:xfrm>
            <a:off x="815975" y="1572884"/>
            <a:ext cx="7105650" cy="3593240"/>
          </a:xfrm>
          <a:prstGeom prst="roundRect">
            <a:avLst>
              <a:gd name="adj" fmla="val 4153"/>
            </a:avLst>
          </a:prstGeom>
          <a:solidFill>
            <a:srgbClr val="101010"/>
          </a:solidFill>
          <a:ln w="6350">
            <a:solidFill>
              <a:srgbClr val="262626"/>
            </a:solidFill>
            <a:prstDash val="solid"/>
          </a:ln>
        </p:spPr>
      </p:sp>
      <p:sp>
        <p:nvSpPr>
          <p:cNvPr id="4" name="Text 2"/>
          <p:cNvSpPr/>
          <p:nvPr/>
        </p:nvSpPr>
        <p:spPr>
          <a:xfrm>
            <a:off x="1007533" y="1739044"/>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464733" y="1739044"/>
            <a:ext cx="489760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6EE7A8"/>
                </a:solidFill>
                <a:latin typeface="JetBrains Mono" pitchFamily="49" charset="0"/>
                <a:ea typeface="JetBrains Mono" pitchFamily="49" charset="-122"/>
                <a:cs typeface="JetBrains Mono" pitchFamily="49" charset="-120"/>
              </a:rPr>
              <a:t>from</a:t>
            </a:r>
            <a:r>
              <a:rPr lang="en-US" sz="1600" dirty="0">
                <a:solidFill>
                  <a:srgbClr val="EDEDED"/>
                </a:solidFill>
                <a:latin typeface="JetBrains Mono" pitchFamily="49" charset="0"/>
                <a:ea typeface="JetBrains Mono" pitchFamily="49" charset="-122"/>
                <a:cs typeface="JetBrains Mono" pitchFamily="49" charset="-120"/>
              </a:rPr>
              <a:t> typesafe_sdk </a:t>
            </a:r>
            <a:r>
              <a:rPr lang="en-US" sz="1600" dirty="0">
                <a:solidFill>
                  <a:srgbClr val="6EE7A8"/>
                </a:solidFill>
                <a:latin typeface="JetBrains Mono" pitchFamily="49" charset="0"/>
                <a:ea typeface="JetBrains Mono" pitchFamily="49" charset="-122"/>
                <a:cs typeface="JetBrains Mono" pitchFamily="49" charset="-120"/>
              </a:rPr>
              <a:t>import</a:t>
            </a:r>
            <a:r>
              <a:rPr lang="en-US" sz="1600" dirty="0">
                <a:solidFill>
                  <a:srgbClr val="EDEDED"/>
                </a:solidFill>
                <a:latin typeface="JetBrains Mono" pitchFamily="49" charset="0"/>
                <a:ea typeface="JetBrains Mono" pitchFamily="49" charset="-122"/>
                <a:cs typeface="JetBrains Mono" pitchFamily="49" charset="-120"/>
              </a:rPr>
              <a:t> TypeSafeClient</a:t>
            </a:r>
            <a:endParaRPr lang="en-US" sz="1600" dirty="0"/>
          </a:p>
        </p:txBody>
      </p:sp>
      <p:sp>
        <p:nvSpPr>
          <p:cNvPr id="6" name="Shape 4"/>
          <p:cNvSpPr/>
          <p:nvPr/>
        </p:nvSpPr>
        <p:spPr>
          <a:xfrm>
            <a:off x="975783" y="2022215"/>
            <a:ext cx="6786034" cy="1170781"/>
          </a:xfrm>
          <a:prstGeom prst="roundRect">
            <a:avLst>
              <a:gd name="adj" fmla="val 5966"/>
            </a:avLst>
          </a:prstGeom>
          <a:noFill/>
          <a:ln w="12700">
            <a:solidFill>
              <a:srgbClr val="101010"/>
            </a:solidFill>
            <a:prstDash val="solid"/>
          </a:ln>
        </p:spPr>
      </p:sp>
      <p:sp>
        <p:nvSpPr>
          <p:cNvPr id="7" name="Text 5"/>
          <p:cNvSpPr/>
          <p:nvPr/>
        </p:nvSpPr>
        <p:spPr>
          <a:xfrm>
            <a:off x="1007533" y="204126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2</a:t>
            </a:r>
            <a:endParaRPr lang="en-US" sz="1600" dirty="0"/>
          </a:p>
        </p:txBody>
      </p:sp>
      <p:sp>
        <p:nvSpPr>
          <p:cNvPr id="8" name="Text 6"/>
          <p:cNvSpPr/>
          <p:nvPr/>
        </p:nvSpPr>
        <p:spPr>
          <a:xfrm>
            <a:off x="1464733" y="2041265"/>
            <a:ext cx="263718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jev = TypeSafeClient(</a:t>
            </a:r>
            <a:endParaRPr lang="en-US" sz="1600" dirty="0"/>
          </a:p>
        </p:txBody>
      </p:sp>
      <p:sp>
        <p:nvSpPr>
          <p:cNvPr id="9" name="Text 7"/>
          <p:cNvSpPr/>
          <p:nvPr/>
        </p:nvSpPr>
        <p:spPr>
          <a:xfrm>
            <a:off x="1007533" y="233078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3</a:t>
            </a:r>
            <a:endParaRPr lang="en-US" sz="1600" dirty="0"/>
          </a:p>
        </p:txBody>
      </p:sp>
      <p:sp>
        <p:nvSpPr>
          <p:cNvPr id="10" name="Text 8"/>
          <p:cNvSpPr/>
          <p:nvPr/>
        </p:nvSpPr>
        <p:spPr>
          <a:xfrm>
            <a:off x="1953683" y="2330785"/>
            <a:ext cx="401852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api_key=API_KEY, </a:t>
            </a:r>
            <a:r>
              <a:rPr lang="en-US" sz="1600" dirty="0">
                <a:solidFill>
                  <a:srgbClr val="8F8F8F"/>
                </a:solidFill>
                <a:latin typeface="JetBrains Mono" pitchFamily="49" charset="0"/>
                <a:ea typeface="JetBrains Mono" pitchFamily="49" charset="-122"/>
                <a:cs typeface="JetBrains Mono" pitchFamily="49" charset="-120"/>
              </a:rPr>
              <a:t># sale del .env</a:t>
            </a:r>
            <a:endParaRPr lang="en-US" sz="1600" dirty="0"/>
          </a:p>
        </p:txBody>
      </p:sp>
      <p:sp>
        <p:nvSpPr>
          <p:cNvPr id="11" name="Text 9"/>
          <p:cNvSpPr/>
          <p:nvPr/>
        </p:nvSpPr>
        <p:spPr>
          <a:xfrm>
            <a:off x="1007533" y="262030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4</a:t>
            </a:r>
            <a:endParaRPr lang="en-US" sz="1600" dirty="0"/>
          </a:p>
        </p:txBody>
      </p:sp>
      <p:sp>
        <p:nvSpPr>
          <p:cNvPr id="12" name="Text 10"/>
          <p:cNvSpPr/>
          <p:nvPr/>
        </p:nvSpPr>
        <p:spPr>
          <a:xfrm>
            <a:off x="1953683" y="2620305"/>
            <a:ext cx="464648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base_url=</a:t>
            </a:r>
            <a:r>
              <a:rPr lang="en-US" sz="1600" dirty="0">
                <a:solidFill>
                  <a:srgbClr val="F2B880"/>
                </a:solidFill>
                <a:latin typeface="JetBrains Mono" pitchFamily="49" charset="0"/>
                <a:ea typeface="JetBrains Mono" pitchFamily="49" charset="-122"/>
                <a:cs typeface="JetBrains Mono" pitchFamily="49" charset="-120"/>
              </a:rPr>
              <a:t>"https://openrouter.ai/api"</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3" name="Text 11"/>
          <p:cNvSpPr/>
          <p:nvPr/>
        </p:nvSpPr>
        <p:spPr>
          <a:xfrm>
            <a:off x="1007533" y="290982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5</a:t>
            </a:r>
            <a:endParaRPr lang="en-US" sz="1600" dirty="0"/>
          </a:p>
        </p:txBody>
      </p:sp>
      <p:sp>
        <p:nvSpPr>
          <p:cNvPr id="14" name="Text 12"/>
          <p:cNvSpPr/>
          <p:nvPr/>
        </p:nvSpPr>
        <p:spPr>
          <a:xfrm>
            <a:off x="1464733" y="2909825"/>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5" name="Text 13"/>
          <p:cNvSpPr/>
          <p:nvPr/>
        </p:nvSpPr>
        <p:spPr>
          <a:xfrm>
            <a:off x="1007533" y="321204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6</a:t>
            </a:r>
            <a:endParaRPr lang="en-US" sz="1600" dirty="0"/>
          </a:p>
        </p:txBody>
      </p:sp>
      <p:sp>
        <p:nvSpPr>
          <p:cNvPr id="16" name="Text 14"/>
          <p:cNvSpPr/>
          <p:nvPr/>
        </p:nvSpPr>
        <p:spPr>
          <a:xfrm>
            <a:off x="1464733" y="3212046"/>
            <a:ext cx="3013876"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 = jev.system_one(</a:t>
            </a:r>
            <a:endParaRPr lang="en-US" sz="1600" dirty="0"/>
          </a:p>
        </p:txBody>
      </p:sp>
      <p:sp>
        <p:nvSpPr>
          <p:cNvPr id="17" name="Text 15"/>
          <p:cNvSpPr/>
          <p:nvPr/>
        </p:nvSpPr>
        <p:spPr>
          <a:xfrm>
            <a:off x="1007533" y="350156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7</a:t>
            </a:r>
            <a:endParaRPr lang="en-US" sz="1600" dirty="0"/>
          </a:p>
        </p:txBody>
      </p:sp>
      <p:sp>
        <p:nvSpPr>
          <p:cNvPr id="18" name="Text 16"/>
          <p:cNvSpPr/>
          <p:nvPr/>
        </p:nvSpPr>
        <p:spPr>
          <a:xfrm>
            <a:off x="1953683" y="3501566"/>
            <a:ext cx="213492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model=</a:t>
            </a:r>
            <a:r>
              <a:rPr lang="en-US" sz="1600" dirty="0">
                <a:solidFill>
                  <a:srgbClr val="F2B880"/>
                </a:solidFill>
                <a:latin typeface="JetBrains Mono" pitchFamily="49" charset="0"/>
                <a:ea typeface="JetBrains Mono" pitchFamily="49" charset="-122"/>
                <a:cs typeface="JetBrains Mono" pitchFamily="49" charset="-120"/>
              </a:rPr>
              <a:t>"jev-1.13"</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9" name="Shape 17"/>
          <p:cNvSpPr/>
          <p:nvPr/>
        </p:nvSpPr>
        <p:spPr>
          <a:xfrm>
            <a:off x="975783" y="3784736"/>
            <a:ext cx="6786034" cy="302220"/>
          </a:xfrm>
          <a:prstGeom prst="roundRect">
            <a:avLst>
              <a:gd name="adj" fmla="val 23112"/>
            </a:avLst>
          </a:prstGeom>
          <a:solidFill>
            <a:srgbClr val="0C2418"/>
          </a:solidFill>
          <a:ln w="12700">
            <a:solidFill>
              <a:srgbClr val="04BF63"/>
            </a:solidFill>
            <a:prstDash val="solid"/>
          </a:ln>
        </p:spPr>
      </p:sp>
      <p:sp>
        <p:nvSpPr>
          <p:cNvPr id="20" name="Text 18"/>
          <p:cNvSpPr/>
          <p:nvPr/>
        </p:nvSpPr>
        <p:spPr>
          <a:xfrm>
            <a:off x="1007533" y="380378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8</a:t>
            </a:r>
            <a:endParaRPr lang="en-US" sz="1600" dirty="0"/>
          </a:p>
        </p:txBody>
      </p:sp>
      <p:sp>
        <p:nvSpPr>
          <p:cNvPr id="21" name="Text 19"/>
          <p:cNvSpPr/>
          <p:nvPr/>
        </p:nvSpPr>
        <p:spPr>
          <a:xfrm>
            <a:off x="1953683" y="3803786"/>
            <a:ext cx="464641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state=telemetria, </a:t>
            </a:r>
            <a:r>
              <a:rPr lang="en-US" sz="1600" dirty="0">
                <a:solidFill>
                  <a:srgbClr val="8F8F8F"/>
                </a:solidFill>
                <a:latin typeface="JetBrains Mono" pitchFamily="49" charset="0"/>
                <a:ea typeface="JetBrains Mono" pitchFamily="49" charset="-122"/>
                <a:cs typeface="JetBrains Mono" pitchFamily="49" charset="-120"/>
              </a:rPr>
              <a:t># lo que sabe ahora</a:t>
            </a:r>
            <a:endParaRPr lang="en-US" sz="1600" dirty="0"/>
          </a:p>
        </p:txBody>
      </p:sp>
      <p:sp>
        <p:nvSpPr>
          <p:cNvPr id="22" name="Shape 20"/>
          <p:cNvSpPr/>
          <p:nvPr/>
        </p:nvSpPr>
        <p:spPr>
          <a:xfrm>
            <a:off x="975783" y="4099657"/>
            <a:ext cx="6786034" cy="302220"/>
          </a:xfrm>
          <a:prstGeom prst="roundRect">
            <a:avLst>
              <a:gd name="adj" fmla="val 23112"/>
            </a:avLst>
          </a:prstGeom>
          <a:noFill/>
          <a:ln w="12700">
            <a:solidFill>
              <a:srgbClr val="101010"/>
            </a:solidFill>
            <a:prstDash val="solid"/>
          </a:ln>
        </p:spPr>
      </p:sp>
      <p:sp>
        <p:nvSpPr>
          <p:cNvPr id="23" name="Text 21"/>
          <p:cNvSpPr/>
          <p:nvPr/>
        </p:nvSpPr>
        <p:spPr>
          <a:xfrm>
            <a:off x="1007533" y="411870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9</a:t>
            </a:r>
            <a:endParaRPr lang="en-US" sz="1600" dirty="0"/>
          </a:p>
        </p:txBody>
      </p:sp>
      <p:sp>
        <p:nvSpPr>
          <p:cNvPr id="24" name="Text 22"/>
          <p:cNvSpPr/>
          <p:nvPr/>
        </p:nvSpPr>
        <p:spPr>
          <a:xfrm>
            <a:off x="1953683" y="4118707"/>
            <a:ext cx="502317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questions=ACTION_QUESTION, </a:t>
            </a:r>
            <a:r>
              <a:rPr lang="en-US" sz="1600" dirty="0">
                <a:solidFill>
                  <a:srgbClr val="8F8F8F"/>
                </a:solidFill>
                <a:latin typeface="JetBrains Mono" pitchFamily="49" charset="0"/>
                <a:ea typeface="JetBrains Mono" pitchFamily="49" charset="-122"/>
                <a:cs typeface="JetBrains Mono" pitchFamily="49" charset="-120"/>
              </a:rPr>
              <a:t># qué decidir</a:t>
            </a:r>
            <a:endParaRPr lang="en-US" sz="1600" dirty="0"/>
          </a:p>
        </p:txBody>
      </p:sp>
      <p:sp>
        <p:nvSpPr>
          <p:cNvPr id="25" name="Text 23"/>
          <p:cNvSpPr/>
          <p:nvPr/>
        </p:nvSpPr>
        <p:spPr>
          <a:xfrm>
            <a:off x="1007533" y="442092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10</a:t>
            </a:r>
            <a:endParaRPr lang="en-US" sz="1600" dirty="0"/>
          </a:p>
        </p:txBody>
      </p:sp>
      <p:sp>
        <p:nvSpPr>
          <p:cNvPr id="26" name="Text 24"/>
          <p:cNvSpPr/>
          <p:nvPr/>
        </p:nvSpPr>
        <p:spPr>
          <a:xfrm>
            <a:off x="1464733" y="4420927"/>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27" name="Shape 25"/>
          <p:cNvSpPr/>
          <p:nvPr/>
        </p:nvSpPr>
        <p:spPr>
          <a:xfrm>
            <a:off x="975783" y="4704097"/>
            <a:ext cx="6786034" cy="302220"/>
          </a:xfrm>
          <a:prstGeom prst="roundRect">
            <a:avLst>
              <a:gd name="adj" fmla="val 23112"/>
            </a:avLst>
          </a:prstGeom>
          <a:noFill/>
          <a:ln w="12700">
            <a:solidFill>
              <a:srgbClr val="101010"/>
            </a:solidFill>
            <a:prstDash val="solid"/>
          </a:ln>
        </p:spPr>
      </p:sp>
      <p:sp>
        <p:nvSpPr>
          <p:cNvPr id="28" name="Text 26"/>
          <p:cNvSpPr/>
          <p:nvPr/>
        </p:nvSpPr>
        <p:spPr>
          <a:xfrm>
            <a:off x="1007533" y="472314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11</a:t>
            </a:r>
            <a:endParaRPr lang="en-US" sz="1600" dirty="0"/>
          </a:p>
        </p:txBody>
      </p:sp>
      <p:sp>
        <p:nvSpPr>
          <p:cNvPr id="29" name="Text 27"/>
          <p:cNvSpPr/>
          <p:nvPr/>
        </p:nvSpPr>
        <p:spPr>
          <a:xfrm>
            <a:off x="1464733" y="4723147"/>
            <a:ext cx="565106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result.answers[</a:t>
            </a:r>
            <a:r>
              <a:rPr lang="en-US" sz="1600" dirty="0">
                <a:solidFill>
                  <a:srgbClr val="F2B880"/>
                </a:solidFill>
                <a:latin typeface="JetBrains Mono" pitchFamily="49" charset="0"/>
                <a:ea typeface="JetBrains Mono" pitchFamily="49" charset="-122"/>
                <a:cs typeface="JetBrains Mono" pitchFamily="49" charset="-120"/>
              </a:rPr>
              <a:t>"action"</a:t>
            </a:r>
            <a:r>
              <a:rPr lang="en-US" sz="1600" dirty="0">
                <a:solidFill>
                  <a:srgbClr val="EDEDED"/>
                </a:solidFill>
                <a:latin typeface="JetBrains Mono" pitchFamily="49" charset="0"/>
                <a:ea typeface="JetBrains Mono" pitchFamily="49" charset="-122"/>
                <a:cs typeface="JetBrains Mono" pitchFamily="49" charset="-120"/>
              </a:rPr>
              <a:t>].choice </a:t>
            </a:r>
            <a:r>
              <a:rPr lang="en-US" sz="1600" dirty="0">
                <a:solidFill>
                  <a:srgbClr val="8F8F8F"/>
                </a:solidFill>
                <a:latin typeface="JetBrains Mono" pitchFamily="49" charset="0"/>
                <a:ea typeface="JetBrains Mono" pitchFamily="49" charset="-122"/>
                <a:cs typeface="JetBrains Mono" pitchFamily="49" charset="-120"/>
              </a:rPr>
              <a:t># "turn_left"</a:t>
            </a:r>
            <a:endParaRPr lang="en-US" sz="1600" dirty="0"/>
          </a:p>
        </p:txBody>
      </p:sp>
      <p:sp>
        <p:nvSpPr>
          <p:cNvPr id="30" name="Text 28"/>
          <p:cNvSpPr/>
          <p:nvPr/>
        </p:nvSpPr>
        <p:spPr>
          <a:xfrm>
            <a:off x="8229600" y="1857710"/>
            <a:ext cx="32440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4BF63"/>
                </a:solidFill>
                <a:latin typeface="Inter" pitchFamily="34" charset="0"/>
                <a:ea typeface="Inter" pitchFamily="34" charset="-122"/>
                <a:cs typeface="Inter" pitchFamily="34" charset="-120"/>
              </a:rPr>
              <a:t>2</a:t>
            </a:r>
            <a:endParaRPr lang="en-US" sz="6000" dirty="0"/>
          </a:p>
        </p:txBody>
      </p:sp>
      <p:sp>
        <p:nvSpPr>
          <p:cNvPr id="31" name="Text 29"/>
          <p:cNvSpPr/>
          <p:nvPr/>
        </p:nvSpPr>
        <p:spPr>
          <a:xfrm>
            <a:off x="8229600" y="2772110"/>
            <a:ext cx="32440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El estado</a:t>
            </a:r>
            <a:endParaRPr lang="en-US" sz="2200" dirty="0"/>
          </a:p>
        </p:txBody>
      </p:sp>
      <p:sp>
        <p:nvSpPr>
          <p:cNvPr id="32" name="Text 30"/>
          <p:cNvSpPr/>
          <p:nvPr/>
        </p:nvSpPr>
        <p:spPr>
          <a:xfrm>
            <a:off x="8229600" y="3245780"/>
            <a:ext cx="324408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state es lo que el rover sabe en este momento: la telemetría tal cual llega de GET /api/telemetry.</a:t>
            </a:r>
            <a:endParaRPr lang="en-US" sz="1600" dirty="0"/>
          </a:p>
        </p:txBody>
      </p:sp>
      <p:sp>
        <p:nvSpPr>
          <p:cNvPr id="33" name="Text 31"/>
          <p:cNvSpPr/>
          <p:nvPr/>
        </p:nvSpPr>
        <p:spPr>
          <a:xfrm>
            <a:off x="8229600" y="4251461"/>
            <a:ext cx="3149600" cy="629841"/>
          </a:xfrm>
          <a:prstGeom prst="roundRect">
            <a:avLst>
              <a:gd name="adj" fmla="val 16131"/>
            </a:avLst>
          </a:prstGeom>
          <a:solidFill>
            <a:srgbClr val="0C2418"/>
          </a:solidFill>
          <a:ln/>
        </p:spPr>
        <p:txBody>
          <a:bodyPr wrap="square" lIns="97242" tIns="71842" rIns="10374" bIns="46442" rtlCol="0" anchor="t">
            <a:normAutofit/>
          </a:bodyPr>
          <a:lstStyle/>
          <a:p>
            <a:pPr algn="l" indent="0" marL="0">
              <a:lnSpc>
                <a:spcPts val="1680"/>
              </a:lnSpc>
              <a:buNone/>
            </a:pPr>
            <a:r>
              <a:rPr lang="en-US" sz="1200" dirty="0">
                <a:solidFill>
                  <a:srgbClr val="B9F5D3"/>
                </a:solidFill>
                <a:latin typeface="Inter" pitchFamily="34" charset="0"/>
                <a:ea typeface="Inter" pitchFamily="34" charset="-122"/>
                <a:cs typeface="Inter" pitchFamily="34" charset="-120"/>
              </a:rPr>
              <a:t>Pregunta: ¿qué campos de la telemetría importan para decidir?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El SDK de TypeSafe</a:t>
            </a:r>
            <a:endParaRPr lang="en-US" sz="3600" dirty="0"/>
          </a:p>
        </p:txBody>
      </p:sp>
      <p:sp>
        <p:nvSpPr>
          <p:cNvPr id="3" name="Shape 1"/>
          <p:cNvSpPr/>
          <p:nvPr/>
        </p:nvSpPr>
        <p:spPr>
          <a:xfrm>
            <a:off x="815975" y="1572890"/>
            <a:ext cx="7105650" cy="3593240"/>
          </a:xfrm>
          <a:prstGeom prst="roundRect">
            <a:avLst>
              <a:gd name="adj" fmla="val 4153"/>
            </a:avLst>
          </a:prstGeom>
          <a:solidFill>
            <a:srgbClr val="101010"/>
          </a:solidFill>
          <a:ln w="6350">
            <a:solidFill>
              <a:srgbClr val="262626"/>
            </a:solidFill>
            <a:prstDash val="solid"/>
          </a:ln>
        </p:spPr>
      </p:sp>
      <p:sp>
        <p:nvSpPr>
          <p:cNvPr id="4" name="Text 2"/>
          <p:cNvSpPr/>
          <p:nvPr/>
        </p:nvSpPr>
        <p:spPr>
          <a:xfrm>
            <a:off x="1007533" y="1739044"/>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464733" y="1739044"/>
            <a:ext cx="489760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6EE7A8"/>
                </a:solidFill>
                <a:latin typeface="JetBrains Mono" pitchFamily="49" charset="0"/>
                <a:ea typeface="JetBrains Mono" pitchFamily="49" charset="-122"/>
                <a:cs typeface="JetBrains Mono" pitchFamily="49" charset="-120"/>
              </a:rPr>
              <a:t>from</a:t>
            </a:r>
            <a:r>
              <a:rPr lang="en-US" sz="1600" dirty="0">
                <a:solidFill>
                  <a:srgbClr val="EDEDED"/>
                </a:solidFill>
                <a:latin typeface="JetBrains Mono" pitchFamily="49" charset="0"/>
                <a:ea typeface="JetBrains Mono" pitchFamily="49" charset="-122"/>
                <a:cs typeface="JetBrains Mono" pitchFamily="49" charset="-120"/>
              </a:rPr>
              <a:t> typesafe_sdk </a:t>
            </a:r>
            <a:r>
              <a:rPr lang="en-US" sz="1600" dirty="0">
                <a:solidFill>
                  <a:srgbClr val="6EE7A8"/>
                </a:solidFill>
                <a:latin typeface="JetBrains Mono" pitchFamily="49" charset="0"/>
                <a:ea typeface="JetBrains Mono" pitchFamily="49" charset="-122"/>
                <a:cs typeface="JetBrains Mono" pitchFamily="49" charset="-120"/>
              </a:rPr>
              <a:t>import</a:t>
            </a:r>
            <a:r>
              <a:rPr lang="en-US" sz="1600" dirty="0">
                <a:solidFill>
                  <a:srgbClr val="EDEDED"/>
                </a:solidFill>
                <a:latin typeface="JetBrains Mono" pitchFamily="49" charset="0"/>
                <a:ea typeface="JetBrains Mono" pitchFamily="49" charset="-122"/>
                <a:cs typeface="JetBrains Mono" pitchFamily="49" charset="-120"/>
              </a:rPr>
              <a:t> TypeSafeClient</a:t>
            </a:r>
            <a:endParaRPr lang="en-US" sz="1600" dirty="0"/>
          </a:p>
        </p:txBody>
      </p:sp>
      <p:sp>
        <p:nvSpPr>
          <p:cNvPr id="6" name="Shape 4"/>
          <p:cNvSpPr/>
          <p:nvPr/>
        </p:nvSpPr>
        <p:spPr>
          <a:xfrm>
            <a:off x="975783" y="2022215"/>
            <a:ext cx="6786034" cy="1170781"/>
          </a:xfrm>
          <a:prstGeom prst="roundRect">
            <a:avLst>
              <a:gd name="adj" fmla="val 5966"/>
            </a:avLst>
          </a:prstGeom>
          <a:noFill/>
          <a:ln w="12700">
            <a:solidFill>
              <a:srgbClr val="101010"/>
            </a:solidFill>
            <a:prstDash val="solid"/>
          </a:ln>
        </p:spPr>
      </p:sp>
      <p:sp>
        <p:nvSpPr>
          <p:cNvPr id="7" name="Text 5"/>
          <p:cNvSpPr/>
          <p:nvPr/>
        </p:nvSpPr>
        <p:spPr>
          <a:xfrm>
            <a:off x="1007533" y="204126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2</a:t>
            </a:r>
            <a:endParaRPr lang="en-US" sz="1600" dirty="0"/>
          </a:p>
        </p:txBody>
      </p:sp>
      <p:sp>
        <p:nvSpPr>
          <p:cNvPr id="8" name="Text 6"/>
          <p:cNvSpPr/>
          <p:nvPr/>
        </p:nvSpPr>
        <p:spPr>
          <a:xfrm>
            <a:off x="1464733" y="2041265"/>
            <a:ext cx="263718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jev = TypeSafeClient(</a:t>
            </a:r>
            <a:endParaRPr lang="en-US" sz="1600" dirty="0"/>
          </a:p>
        </p:txBody>
      </p:sp>
      <p:sp>
        <p:nvSpPr>
          <p:cNvPr id="9" name="Text 7"/>
          <p:cNvSpPr/>
          <p:nvPr/>
        </p:nvSpPr>
        <p:spPr>
          <a:xfrm>
            <a:off x="1007533" y="233078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3</a:t>
            </a:r>
            <a:endParaRPr lang="en-US" sz="1600" dirty="0"/>
          </a:p>
        </p:txBody>
      </p:sp>
      <p:sp>
        <p:nvSpPr>
          <p:cNvPr id="10" name="Text 8"/>
          <p:cNvSpPr/>
          <p:nvPr/>
        </p:nvSpPr>
        <p:spPr>
          <a:xfrm>
            <a:off x="1953683" y="2330785"/>
            <a:ext cx="401852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api_key=API_KEY, </a:t>
            </a:r>
            <a:r>
              <a:rPr lang="en-US" sz="1600" dirty="0">
                <a:solidFill>
                  <a:srgbClr val="8F8F8F"/>
                </a:solidFill>
                <a:latin typeface="JetBrains Mono" pitchFamily="49" charset="0"/>
                <a:ea typeface="JetBrains Mono" pitchFamily="49" charset="-122"/>
                <a:cs typeface="JetBrains Mono" pitchFamily="49" charset="-120"/>
              </a:rPr>
              <a:t># sale del .env</a:t>
            </a:r>
            <a:endParaRPr lang="en-US" sz="1600" dirty="0"/>
          </a:p>
        </p:txBody>
      </p:sp>
      <p:sp>
        <p:nvSpPr>
          <p:cNvPr id="11" name="Text 9"/>
          <p:cNvSpPr/>
          <p:nvPr/>
        </p:nvSpPr>
        <p:spPr>
          <a:xfrm>
            <a:off x="1007533" y="262030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4</a:t>
            </a:r>
            <a:endParaRPr lang="en-US" sz="1600" dirty="0"/>
          </a:p>
        </p:txBody>
      </p:sp>
      <p:sp>
        <p:nvSpPr>
          <p:cNvPr id="12" name="Text 10"/>
          <p:cNvSpPr/>
          <p:nvPr/>
        </p:nvSpPr>
        <p:spPr>
          <a:xfrm>
            <a:off x="1953683" y="2620305"/>
            <a:ext cx="464648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base_url=</a:t>
            </a:r>
            <a:r>
              <a:rPr lang="en-US" sz="1600" dirty="0">
                <a:solidFill>
                  <a:srgbClr val="F2B880"/>
                </a:solidFill>
                <a:latin typeface="JetBrains Mono" pitchFamily="49" charset="0"/>
                <a:ea typeface="JetBrains Mono" pitchFamily="49" charset="-122"/>
                <a:cs typeface="JetBrains Mono" pitchFamily="49" charset="-120"/>
              </a:rPr>
              <a:t>"https://openrouter.ai/api"</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3" name="Text 11"/>
          <p:cNvSpPr/>
          <p:nvPr/>
        </p:nvSpPr>
        <p:spPr>
          <a:xfrm>
            <a:off x="1007533" y="290982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5</a:t>
            </a:r>
            <a:endParaRPr lang="en-US" sz="1600" dirty="0"/>
          </a:p>
        </p:txBody>
      </p:sp>
      <p:sp>
        <p:nvSpPr>
          <p:cNvPr id="14" name="Text 12"/>
          <p:cNvSpPr/>
          <p:nvPr/>
        </p:nvSpPr>
        <p:spPr>
          <a:xfrm>
            <a:off x="1464733" y="2909825"/>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5" name="Text 13"/>
          <p:cNvSpPr/>
          <p:nvPr/>
        </p:nvSpPr>
        <p:spPr>
          <a:xfrm>
            <a:off x="1007533" y="321204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6</a:t>
            </a:r>
            <a:endParaRPr lang="en-US" sz="1600" dirty="0"/>
          </a:p>
        </p:txBody>
      </p:sp>
      <p:sp>
        <p:nvSpPr>
          <p:cNvPr id="16" name="Text 14"/>
          <p:cNvSpPr/>
          <p:nvPr/>
        </p:nvSpPr>
        <p:spPr>
          <a:xfrm>
            <a:off x="1464733" y="3212046"/>
            <a:ext cx="3013876"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 = jev.system_one(</a:t>
            </a:r>
            <a:endParaRPr lang="en-US" sz="1600" dirty="0"/>
          </a:p>
        </p:txBody>
      </p:sp>
      <p:sp>
        <p:nvSpPr>
          <p:cNvPr id="17" name="Text 15"/>
          <p:cNvSpPr/>
          <p:nvPr/>
        </p:nvSpPr>
        <p:spPr>
          <a:xfrm>
            <a:off x="1007533" y="350156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7</a:t>
            </a:r>
            <a:endParaRPr lang="en-US" sz="1600" dirty="0"/>
          </a:p>
        </p:txBody>
      </p:sp>
      <p:sp>
        <p:nvSpPr>
          <p:cNvPr id="18" name="Text 16"/>
          <p:cNvSpPr/>
          <p:nvPr/>
        </p:nvSpPr>
        <p:spPr>
          <a:xfrm>
            <a:off x="1953683" y="3501566"/>
            <a:ext cx="213492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model=</a:t>
            </a:r>
            <a:r>
              <a:rPr lang="en-US" sz="1600" dirty="0">
                <a:solidFill>
                  <a:srgbClr val="F2B880"/>
                </a:solidFill>
                <a:latin typeface="JetBrains Mono" pitchFamily="49" charset="0"/>
                <a:ea typeface="JetBrains Mono" pitchFamily="49" charset="-122"/>
                <a:cs typeface="JetBrains Mono" pitchFamily="49" charset="-120"/>
              </a:rPr>
              <a:t>"jev-1.13"</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9" name="Shape 17"/>
          <p:cNvSpPr/>
          <p:nvPr/>
        </p:nvSpPr>
        <p:spPr>
          <a:xfrm>
            <a:off x="975783" y="3784736"/>
            <a:ext cx="6786034" cy="302220"/>
          </a:xfrm>
          <a:prstGeom prst="roundRect">
            <a:avLst>
              <a:gd name="adj" fmla="val 23112"/>
            </a:avLst>
          </a:prstGeom>
          <a:noFill/>
          <a:ln w="12700">
            <a:solidFill>
              <a:srgbClr val="101010"/>
            </a:solidFill>
            <a:prstDash val="solid"/>
          </a:ln>
        </p:spPr>
      </p:sp>
      <p:sp>
        <p:nvSpPr>
          <p:cNvPr id="20" name="Text 18"/>
          <p:cNvSpPr/>
          <p:nvPr/>
        </p:nvSpPr>
        <p:spPr>
          <a:xfrm>
            <a:off x="1007533" y="380378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8</a:t>
            </a:r>
            <a:endParaRPr lang="en-US" sz="1600" dirty="0"/>
          </a:p>
        </p:txBody>
      </p:sp>
      <p:sp>
        <p:nvSpPr>
          <p:cNvPr id="21" name="Text 19"/>
          <p:cNvSpPr/>
          <p:nvPr/>
        </p:nvSpPr>
        <p:spPr>
          <a:xfrm>
            <a:off x="1953683" y="3803786"/>
            <a:ext cx="464641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state=telemetria, </a:t>
            </a:r>
            <a:r>
              <a:rPr lang="en-US" sz="1600" dirty="0">
                <a:solidFill>
                  <a:srgbClr val="8F8F8F"/>
                </a:solidFill>
                <a:latin typeface="JetBrains Mono" pitchFamily="49" charset="0"/>
                <a:ea typeface="JetBrains Mono" pitchFamily="49" charset="-122"/>
                <a:cs typeface="JetBrains Mono" pitchFamily="49" charset="-120"/>
              </a:rPr>
              <a:t># lo que sabe ahora</a:t>
            </a:r>
            <a:endParaRPr lang="en-US" sz="1600" dirty="0"/>
          </a:p>
        </p:txBody>
      </p:sp>
      <p:sp>
        <p:nvSpPr>
          <p:cNvPr id="22" name="Shape 20"/>
          <p:cNvSpPr/>
          <p:nvPr/>
        </p:nvSpPr>
        <p:spPr>
          <a:xfrm>
            <a:off x="975783" y="4099657"/>
            <a:ext cx="6786034" cy="302220"/>
          </a:xfrm>
          <a:prstGeom prst="roundRect">
            <a:avLst>
              <a:gd name="adj" fmla="val 23112"/>
            </a:avLst>
          </a:prstGeom>
          <a:solidFill>
            <a:srgbClr val="0C2418"/>
          </a:solidFill>
          <a:ln w="12700">
            <a:solidFill>
              <a:srgbClr val="04BF63"/>
            </a:solidFill>
            <a:prstDash val="solid"/>
          </a:ln>
        </p:spPr>
      </p:sp>
      <p:sp>
        <p:nvSpPr>
          <p:cNvPr id="23" name="Text 21"/>
          <p:cNvSpPr/>
          <p:nvPr/>
        </p:nvSpPr>
        <p:spPr>
          <a:xfrm>
            <a:off x="1007533" y="411870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9</a:t>
            </a:r>
            <a:endParaRPr lang="en-US" sz="1600" dirty="0"/>
          </a:p>
        </p:txBody>
      </p:sp>
      <p:sp>
        <p:nvSpPr>
          <p:cNvPr id="24" name="Text 22"/>
          <p:cNvSpPr/>
          <p:nvPr/>
        </p:nvSpPr>
        <p:spPr>
          <a:xfrm>
            <a:off x="1953683" y="4118707"/>
            <a:ext cx="502317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questions=ACTION_QUESTION, </a:t>
            </a:r>
            <a:r>
              <a:rPr lang="en-US" sz="1600" dirty="0">
                <a:solidFill>
                  <a:srgbClr val="8F8F8F"/>
                </a:solidFill>
                <a:latin typeface="JetBrains Mono" pitchFamily="49" charset="0"/>
                <a:ea typeface="JetBrains Mono" pitchFamily="49" charset="-122"/>
                <a:cs typeface="JetBrains Mono" pitchFamily="49" charset="-120"/>
              </a:rPr>
              <a:t># qué decidir</a:t>
            </a:r>
            <a:endParaRPr lang="en-US" sz="1600" dirty="0"/>
          </a:p>
        </p:txBody>
      </p:sp>
      <p:sp>
        <p:nvSpPr>
          <p:cNvPr id="25" name="Text 23"/>
          <p:cNvSpPr/>
          <p:nvPr/>
        </p:nvSpPr>
        <p:spPr>
          <a:xfrm>
            <a:off x="1007533" y="442092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10</a:t>
            </a:r>
            <a:endParaRPr lang="en-US" sz="1600" dirty="0"/>
          </a:p>
        </p:txBody>
      </p:sp>
      <p:sp>
        <p:nvSpPr>
          <p:cNvPr id="26" name="Text 24"/>
          <p:cNvSpPr/>
          <p:nvPr/>
        </p:nvSpPr>
        <p:spPr>
          <a:xfrm>
            <a:off x="1464733" y="4420927"/>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27" name="Shape 25"/>
          <p:cNvSpPr/>
          <p:nvPr/>
        </p:nvSpPr>
        <p:spPr>
          <a:xfrm>
            <a:off x="975783" y="4704097"/>
            <a:ext cx="6786034" cy="302220"/>
          </a:xfrm>
          <a:prstGeom prst="roundRect">
            <a:avLst>
              <a:gd name="adj" fmla="val 23112"/>
            </a:avLst>
          </a:prstGeom>
          <a:noFill/>
          <a:ln w="12700">
            <a:solidFill>
              <a:srgbClr val="101010"/>
            </a:solidFill>
            <a:prstDash val="solid"/>
          </a:ln>
        </p:spPr>
      </p:sp>
      <p:sp>
        <p:nvSpPr>
          <p:cNvPr id="28" name="Text 26"/>
          <p:cNvSpPr/>
          <p:nvPr/>
        </p:nvSpPr>
        <p:spPr>
          <a:xfrm>
            <a:off x="1007533" y="472314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11</a:t>
            </a:r>
            <a:endParaRPr lang="en-US" sz="1600" dirty="0"/>
          </a:p>
        </p:txBody>
      </p:sp>
      <p:sp>
        <p:nvSpPr>
          <p:cNvPr id="29" name="Text 27"/>
          <p:cNvSpPr/>
          <p:nvPr/>
        </p:nvSpPr>
        <p:spPr>
          <a:xfrm>
            <a:off x="1464733" y="4723147"/>
            <a:ext cx="565106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result.answers[</a:t>
            </a:r>
            <a:r>
              <a:rPr lang="en-US" sz="1600" dirty="0">
                <a:solidFill>
                  <a:srgbClr val="F2B880"/>
                </a:solidFill>
                <a:latin typeface="JetBrains Mono" pitchFamily="49" charset="0"/>
                <a:ea typeface="JetBrains Mono" pitchFamily="49" charset="-122"/>
                <a:cs typeface="JetBrains Mono" pitchFamily="49" charset="-120"/>
              </a:rPr>
              <a:t>"action"</a:t>
            </a:r>
            <a:r>
              <a:rPr lang="en-US" sz="1600" dirty="0">
                <a:solidFill>
                  <a:srgbClr val="EDEDED"/>
                </a:solidFill>
                <a:latin typeface="JetBrains Mono" pitchFamily="49" charset="0"/>
                <a:ea typeface="JetBrains Mono" pitchFamily="49" charset="-122"/>
                <a:cs typeface="JetBrains Mono" pitchFamily="49" charset="-120"/>
              </a:rPr>
              <a:t>].choice </a:t>
            </a:r>
            <a:r>
              <a:rPr lang="en-US" sz="1600" dirty="0">
                <a:solidFill>
                  <a:srgbClr val="8F8F8F"/>
                </a:solidFill>
                <a:latin typeface="JetBrains Mono" pitchFamily="49" charset="0"/>
                <a:ea typeface="JetBrains Mono" pitchFamily="49" charset="-122"/>
                <a:cs typeface="JetBrains Mono" pitchFamily="49" charset="-120"/>
              </a:rPr>
              <a:t># "turn_left"</a:t>
            </a:r>
            <a:endParaRPr lang="en-US" sz="1600" dirty="0"/>
          </a:p>
        </p:txBody>
      </p:sp>
      <p:sp>
        <p:nvSpPr>
          <p:cNvPr id="30" name="Text 28"/>
          <p:cNvSpPr/>
          <p:nvPr/>
        </p:nvSpPr>
        <p:spPr>
          <a:xfrm>
            <a:off x="8229600" y="1715492"/>
            <a:ext cx="32440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4BF63"/>
                </a:solidFill>
                <a:latin typeface="Inter" pitchFamily="34" charset="0"/>
                <a:ea typeface="Inter" pitchFamily="34" charset="-122"/>
                <a:cs typeface="Inter" pitchFamily="34" charset="-120"/>
              </a:rPr>
              <a:t>3</a:t>
            </a:r>
            <a:endParaRPr lang="en-US" sz="6000" dirty="0"/>
          </a:p>
        </p:txBody>
      </p:sp>
      <p:sp>
        <p:nvSpPr>
          <p:cNvPr id="31" name="Text 29"/>
          <p:cNvSpPr/>
          <p:nvPr/>
        </p:nvSpPr>
        <p:spPr>
          <a:xfrm>
            <a:off x="8229600" y="2629892"/>
            <a:ext cx="32440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Las preguntas</a:t>
            </a:r>
            <a:endParaRPr lang="en-US" sz="2200" dirty="0"/>
          </a:p>
        </p:txBody>
      </p:sp>
      <p:sp>
        <p:nvSpPr>
          <p:cNvPr id="32" name="Text 30"/>
          <p:cNvSpPr/>
          <p:nvPr/>
        </p:nvSpPr>
        <p:spPr>
          <a:xfrm>
            <a:off x="8229600" y="3103563"/>
            <a:ext cx="3244088"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questions dice qué decidir y entre qué opciones. Jev solo puede elegir una de las que tú definas.</a:t>
            </a:r>
            <a:endParaRPr lang="en-US" sz="1600" dirty="0"/>
          </a:p>
        </p:txBody>
      </p:sp>
      <p:sp>
        <p:nvSpPr>
          <p:cNvPr id="33" name="Text 31"/>
          <p:cNvSpPr/>
          <p:nvPr/>
        </p:nvSpPr>
        <p:spPr>
          <a:xfrm>
            <a:off x="8229600" y="4393679"/>
            <a:ext cx="3149600" cy="629841"/>
          </a:xfrm>
          <a:prstGeom prst="roundRect">
            <a:avLst>
              <a:gd name="adj" fmla="val 16131"/>
            </a:avLst>
          </a:prstGeom>
          <a:solidFill>
            <a:srgbClr val="0C2418"/>
          </a:solidFill>
          <a:ln/>
        </p:spPr>
        <p:txBody>
          <a:bodyPr wrap="square" lIns="97242" tIns="71842" rIns="10374" bIns="46442" rtlCol="0" anchor="t">
            <a:normAutofit/>
          </a:bodyPr>
          <a:lstStyle/>
          <a:p>
            <a:pPr algn="l" indent="0" marL="0">
              <a:lnSpc>
                <a:spcPts val="1680"/>
              </a:lnSpc>
              <a:buNone/>
            </a:pPr>
            <a:r>
              <a:rPr lang="en-US" sz="1200" dirty="0">
                <a:solidFill>
                  <a:srgbClr val="B9F5D3"/>
                </a:solidFill>
                <a:latin typeface="Inter" pitchFamily="34" charset="0"/>
                <a:ea typeface="Inter" pitchFamily="34" charset="-122"/>
                <a:cs typeface="Inter" pitchFamily="34" charset="-120"/>
              </a:rPr>
              <a:t>Pregunta: ¿qué pasaría si dejaras forward fuera de la lista?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El SDK de TypeSafe</a:t>
            </a:r>
            <a:endParaRPr lang="en-US" sz="3600" dirty="0"/>
          </a:p>
        </p:txBody>
      </p:sp>
      <p:sp>
        <p:nvSpPr>
          <p:cNvPr id="3" name="Shape 1"/>
          <p:cNvSpPr/>
          <p:nvPr/>
        </p:nvSpPr>
        <p:spPr>
          <a:xfrm>
            <a:off x="815975" y="1572890"/>
            <a:ext cx="7105650" cy="3593240"/>
          </a:xfrm>
          <a:prstGeom prst="roundRect">
            <a:avLst>
              <a:gd name="adj" fmla="val 4153"/>
            </a:avLst>
          </a:prstGeom>
          <a:solidFill>
            <a:srgbClr val="101010"/>
          </a:solidFill>
          <a:ln w="6350">
            <a:solidFill>
              <a:srgbClr val="262626"/>
            </a:solidFill>
            <a:prstDash val="solid"/>
          </a:ln>
        </p:spPr>
      </p:sp>
      <p:sp>
        <p:nvSpPr>
          <p:cNvPr id="4" name="Text 2"/>
          <p:cNvSpPr/>
          <p:nvPr/>
        </p:nvSpPr>
        <p:spPr>
          <a:xfrm>
            <a:off x="1007533" y="1739044"/>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464733" y="1739044"/>
            <a:ext cx="489760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6EE7A8"/>
                </a:solidFill>
                <a:latin typeface="JetBrains Mono" pitchFamily="49" charset="0"/>
                <a:ea typeface="JetBrains Mono" pitchFamily="49" charset="-122"/>
                <a:cs typeface="JetBrains Mono" pitchFamily="49" charset="-120"/>
              </a:rPr>
              <a:t>from</a:t>
            </a:r>
            <a:r>
              <a:rPr lang="en-US" sz="1600" dirty="0">
                <a:solidFill>
                  <a:srgbClr val="EDEDED"/>
                </a:solidFill>
                <a:latin typeface="JetBrains Mono" pitchFamily="49" charset="0"/>
                <a:ea typeface="JetBrains Mono" pitchFamily="49" charset="-122"/>
                <a:cs typeface="JetBrains Mono" pitchFamily="49" charset="-120"/>
              </a:rPr>
              <a:t> typesafe_sdk </a:t>
            </a:r>
            <a:r>
              <a:rPr lang="en-US" sz="1600" dirty="0">
                <a:solidFill>
                  <a:srgbClr val="6EE7A8"/>
                </a:solidFill>
                <a:latin typeface="JetBrains Mono" pitchFamily="49" charset="0"/>
                <a:ea typeface="JetBrains Mono" pitchFamily="49" charset="-122"/>
                <a:cs typeface="JetBrains Mono" pitchFamily="49" charset="-120"/>
              </a:rPr>
              <a:t>import</a:t>
            </a:r>
            <a:r>
              <a:rPr lang="en-US" sz="1600" dirty="0">
                <a:solidFill>
                  <a:srgbClr val="EDEDED"/>
                </a:solidFill>
                <a:latin typeface="JetBrains Mono" pitchFamily="49" charset="0"/>
                <a:ea typeface="JetBrains Mono" pitchFamily="49" charset="-122"/>
                <a:cs typeface="JetBrains Mono" pitchFamily="49" charset="-120"/>
              </a:rPr>
              <a:t> TypeSafeClient</a:t>
            </a:r>
            <a:endParaRPr lang="en-US" sz="1600" dirty="0"/>
          </a:p>
        </p:txBody>
      </p:sp>
      <p:sp>
        <p:nvSpPr>
          <p:cNvPr id="6" name="Shape 4"/>
          <p:cNvSpPr/>
          <p:nvPr/>
        </p:nvSpPr>
        <p:spPr>
          <a:xfrm>
            <a:off x="975783" y="2022215"/>
            <a:ext cx="6786034" cy="1170781"/>
          </a:xfrm>
          <a:prstGeom prst="roundRect">
            <a:avLst>
              <a:gd name="adj" fmla="val 5966"/>
            </a:avLst>
          </a:prstGeom>
          <a:noFill/>
          <a:ln w="12700">
            <a:solidFill>
              <a:srgbClr val="101010"/>
            </a:solidFill>
            <a:prstDash val="solid"/>
          </a:ln>
        </p:spPr>
      </p:sp>
      <p:sp>
        <p:nvSpPr>
          <p:cNvPr id="7" name="Text 5"/>
          <p:cNvSpPr/>
          <p:nvPr/>
        </p:nvSpPr>
        <p:spPr>
          <a:xfrm>
            <a:off x="1007533" y="204126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2</a:t>
            </a:r>
            <a:endParaRPr lang="en-US" sz="1600" dirty="0"/>
          </a:p>
        </p:txBody>
      </p:sp>
      <p:sp>
        <p:nvSpPr>
          <p:cNvPr id="8" name="Text 6"/>
          <p:cNvSpPr/>
          <p:nvPr/>
        </p:nvSpPr>
        <p:spPr>
          <a:xfrm>
            <a:off x="1464733" y="2041265"/>
            <a:ext cx="263718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jev = TypeSafeClient(</a:t>
            </a:r>
            <a:endParaRPr lang="en-US" sz="1600" dirty="0"/>
          </a:p>
        </p:txBody>
      </p:sp>
      <p:sp>
        <p:nvSpPr>
          <p:cNvPr id="9" name="Text 7"/>
          <p:cNvSpPr/>
          <p:nvPr/>
        </p:nvSpPr>
        <p:spPr>
          <a:xfrm>
            <a:off x="1007533" y="233078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3</a:t>
            </a:r>
            <a:endParaRPr lang="en-US" sz="1600" dirty="0"/>
          </a:p>
        </p:txBody>
      </p:sp>
      <p:sp>
        <p:nvSpPr>
          <p:cNvPr id="10" name="Text 8"/>
          <p:cNvSpPr/>
          <p:nvPr/>
        </p:nvSpPr>
        <p:spPr>
          <a:xfrm>
            <a:off x="1953683" y="2330785"/>
            <a:ext cx="4018524"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api_key=API_KEY, </a:t>
            </a:r>
            <a:r>
              <a:rPr lang="en-US" sz="1600" dirty="0">
                <a:solidFill>
                  <a:srgbClr val="8F8F8F"/>
                </a:solidFill>
                <a:latin typeface="JetBrains Mono" pitchFamily="49" charset="0"/>
                <a:ea typeface="JetBrains Mono" pitchFamily="49" charset="-122"/>
                <a:cs typeface="JetBrains Mono" pitchFamily="49" charset="-120"/>
              </a:rPr>
              <a:t># sale del .env</a:t>
            </a:r>
            <a:endParaRPr lang="en-US" sz="1600" dirty="0"/>
          </a:p>
        </p:txBody>
      </p:sp>
      <p:sp>
        <p:nvSpPr>
          <p:cNvPr id="11" name="Text 9"/>
          <p:cNvSpPr/>
          <p:nvPr/>
        </p:nvSpPr>
        <p:spPr>
          <a:xfrm>
            <a:off x="1007533" y="262030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4</a:t>
            </a:r>
            <a:endParaRPr lang="en-US" sz="1600" dirty="0"/>
          </a:p>
        </p:txBody>
      </p:sp>
      <p:sp>
        <p:nvSpPr>
          <p:cNvPr id="12" name="Text 10"/>
          <p:cNvSpPr/>
          <p:nvPr/>
        </p:nvSpPr>
        <p:spPr>
          <a:xfrm>
            <a:off x="1953683" y="2620305"/>
            <a:ext cx="464648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base_url=</a:t>
            </a:r>
            <a:r>
              <a:rPr lang="en-US" sz="1600" dirty="0">
                <a:solidFill>
                  <a:srgbClr val="F2B880"/>
                </a:solidFill>
                <a:latin typeface="JetBrains Mono" pitchFamily="49" charset="0"/>
                <a:ea typeface="JetBrains Mono" pitchFamily="49" charset="-122"/>
                <a:cs typeface="JetBrains Mono" pitchFamily="49" charset="-120"/>
              </a:rPr>
              <a:t>"https://openrouter.ai/api"</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3" name="Text 11"/>
          <p:cNvSpPr/>
          <p:nvPr/>
        </p:nvSpPr>
        <p:spPr>
          <a:xfrm>
            <a:off x="1007533" y="2909825"/>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5</a:t>
            </a:r>
            <a:endParaRPr lang="en-US" sz="1600" dirty="0"/>
          </a:p>
        </p:txBody>
      </p:sp>
      <p:sp>
        <p:nvSpPr>
          <p:cNvPr id="14" name="Text 12"/>
          <p:cNvSpPr/>
          <p:nvPr/>
        </p:nvSpPr>
        <p:spPr>
          <a:xfrm>
            <a:off x="1464733" y="2909825"/>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5" name="Text 13"/>
          <p:cNvSpPr/>
          <p:nvPr/>
        </p:nvSpPr>
        <p:spPr>
          <a:xfrm>
            <a:off x="1007533" y="321204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6</a:t>
            </a:r>
            <a:endParaRPr lang="en-US" sz="1600" dirty="0"/>
          </a:p>
        </p:txBody>
      </p:sp>
      <p:sp>
        <p:nvSpPr>
          <p:cNvPr id="16" name="Text 14"/>
          <p:cNvSpPr/>
          <p:nvPr/>
        </p:nvSpPr>
        <p:spPr>
          <a:xfrm>
            <a:off x="1464733" y="3212046"/>
            <a:ext cx="3013876"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 = jev.system_one(</a:t>
            </a:r>
            <a:endParaRPr lang="en-US" sz="1600" dirty="0"/>
          </a:p>
        </p:txBody>
      </p:sp>
      <p:sp>
        <p:nvSpPr>
          <p:cNvPr id="17" name="Text 15"/>
          <p:cNvSpPr/>
          <p:nvPr/>
        </p:nvSpPr>
        <p:spPr>
          <a:xfrm>
            <a:off x="1007533" y="350156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7</a:t>
            </a:r>
            <a:endParaRPr lang="en-US" sz="1600" dirty="0"/>
          </a:p>
        </p:txBody>
      </p:sp>
      <p:sp>
        <p:nvSpPr>
          <p:cNvPr id="18" name="Text 16"/>
          <p:cNvSpPr/>
          <p:nvPr/>
        </p:nvSpPr>
        <p:spPr>
          <a:xfrm>
            <a:off x="1953683" y="3501566"/>
            <a:ext cx="2134928"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model=</a:t>
            </a:r>
            <a:r>
              <a:rPr lang="en-US" sz="1600" dirty="0">
                <a:solidFill>
                  <a:srgbClr val="F2B880"/>
                </a:solidFill>
                <a:latin typeface="JetBrains Mono" pitchFamily="49" charset="0"/>
                <a:ea typeface="JetBrains Mono" pitchFamily="49" charset="-122"/>
                <a:cs typeface="JetBrains Mono" pitchFamily="49" charset="-120"/>
              </a:rPr>
              <a:t>"jev-1.13"</a:t>
            </a: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19" name="Shape 17"/>
          <p:cNvSpPr/>
          <p:nvPr/>
        </p:nvSpPr>
        <p:spPr>
          <a:xfrm>
            <a:off x="975783" y="3784736"/>
            <a:ext cx="6786034" cy="302220"/>
          </a:xfrm>
          <a:prstGeom prst="roundRect">
            <a:avLst>
              <a:gd name="adj" fmla="val 23112"/>
            </a:avLst>
          </a:prstGeom>
          <a:noFill/>
          <a:ln w="12700">
            <a:solidFill>
              <a:srgbClr val="101010"/>
            </a:solidFill>
            <a:prstDash val="solid"/>
          </a:ln>
        </p:spPr>
      </p:sp>
      <p:sp>
        <p:nvSpPr>
          <p:cNvPr id="20" name="Text 18"/>
          <p:cNvSpPr/>
          <p:nvPr/>
        </p:nvSpPr>
        <p:spPr>
          <a:xfrm>
            <a:off x="1007533" y="3803786"/>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8</a:t>
            </a:r>
            <a:endParaRPr lang="en-US" sz="1600" dirty="0"/>
          </a:p>
        </p:txBody>
      </p:sp>
      <p:sp>
        <p:nvSpPr>
          <p:cNvPr id="21" name="Text 19"/>
          <p:cNvSpPr/>
          <p:nvPr/>
        </p:nvSpPr>
        <p:spPr>
          <a:xfrm>
            <a:off x="1953683" y="3803786"/>
            <a:ext cx="464641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state=telemetria, </a:t>
            </a:r>
            <a:r>
              <a:rPr lang="en-US" sz="1600" dirty="0">
                <a:solidFill>
                  <a:srgbClr val="8F8F8F"/>
                </a:solidFill>
                <a:latin typeface="JetBrains Mono" pitchFamily="49" charset="0"/>
                <a:ea typeface="JetBrains Mono" pitchFamily="49" charset="-122"/>
                <a:cs typeface="JetBrains Mono" pitchFamily="49" charset="-120"/>
              </a:rPr>
              <a:t># lo que sabe ahora</a:t>
            </a:r>
            <a:endParaRPr lang="en-US" sz="1600" dirty="0"/>
          </a:p>
        </p:txBody>
      </p:sp>
      <p:sp>
        <p:nvSpPr>
          <p:cNvPr id="22" name="Shape 20"/>
          <p:cNvSpPr/>
          <p:nvPr/>
        </p:nvSpPr>
        <p:spPr>
          <a:xfrm>
            <a:off x="975783" y="4099657"/>
            <a:ext cx="6786034" cy="302220"/>
          </a:xfrm>
          <a:prstGeom prst="roundRect">
            <a:avLst>
              <a:gd name="adj" fmla="val 23112"/>
            </a:avLst>
          </a:prstGeom>
          <a:noFill/>
          <a:ln w="12700">
            <a:solidFill>
              <a:srgbClr val="101010"/>
            </a:solidFill>
            <a:prstDash val="solid"/>
          </a:ln>
        </p:spPr>
      </p:sp>
      <p:sp>
        <p:nvSpPr>
          <p:cNvPr id="23" name="Text 21"/>
          <p:cNvSpPr/>
          <p:nvPr/>
        </p:nvSpPr>
        <p:spPr>
          <a:xfrm>
            <a:off x="1007533" y="411870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9</a:t>
            </a:r>
            <a:endParaRPr lang="en-US" sz="1600" dirty="0"/>
          </a:p>
        </p:txBody>
      </p:sp>
      <p:sp>
        <p:nvSpPr>
          <p:cNvPr id="24" name="Text 22"/>
          <p:cNvSpPr/>
          <p:nvPr/>
        </p:nvSpPr>
        <p:spPr>
          <a:xfrm>
            <a:off x="1953683" y="4118707"/>
            <a:ext cx="5023172"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questions=ACTION_QUESTION, </a:t>
            </a:r>
            <a:r>
              <a:rPr lang="en-US" sz="1600" dirty="0">
                <a:solidFill>
                  <a:srgbClr val="8F8F8F"/>
                </a:solidFill>
                <a:latin typeface="JetBrains Mono" pitchFamily="49" charset="0"/>
                <a:ea typeface="JetBrains Mono" pitchFamily="49" charset="-122"/>
                <a:cs typeface="JetBrains Mono" pitchFamily="49" charset="-120"/>
              </a:rPr>
              <a:t># qué decidir</a:t>
            </a:r>
            <a:endParaRPr lang="en-US" sz="1600" dirty="0"/>
          </a:p>
        </p:txBody>
      </p:sp>
      <p:sp>
        <p:nvSpPr>
          <p:cNvPr id="25" name="Text 23"/>
          <p:cNvSpPr/>
          <p:nvPr/>
        </p:nvSpPr>
        <p:spPr>
          <a:xfrm>
            <a:off x="1007533" y="442092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10</a:t>
            </a:r>
            <a:endParaRPr lang="en-US" sz="1600" dirty="0"/>
          </a:p>
        </p:txBody>
      </p:sp>
      <p:sp>
        <p:nvSpPr>
          <p:cNvPr id="26" name="Text 24"/>
          <p:cNvSpPr/>
          <p:nvPr/>
        </p:nvSpPr>
        <p:spPr>
          <a:xfrm>
            <a:off x="1464733" y="4420927"/>
            <a:ext cx="172773"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a:t>
            </a:r>
            <a:endParaRPr lang="en-US" sz="1600" dirty="0"/>
          </a:p>
        </p:txBody>
      </p:sp>
      <p:sp>
        <p:nvSpPr>
          <p:cNvPr id="27" name="Shape 25"/>
          <p:cNvSpPr/>
          <p:nvPr/>
        </p:nvSpPr>
        <p:spPr>
          <a:xfrm>
            <a:off x="975783" y="4704097"/>
            <a:ext cx="6786034" cy="302220"/>
          </a:xfrm>
          <a:prstGeom prst="roundRect">
            <a:avLst>
              <a:gd name="adj" fmla="val 23112"/>
            </a:avLst>
          </a:prstGeom>
          <a:solidFill>
            <a:srgbClr val="0C2418"/>
          </a:solidFill>
          <a:ln w="12700">
            <a:solidFill>
              <a:srgbClr val="04BF63"/>
            </a:solidFill>
            <a:prstDash val="solid"/>
          </a:ln>
        </p:spPr>
      </p:sp>
      <p:sp>
        <p:nvSpPr>
          <p:cNvPr id="28" name="Text 26"/>
          <p:cNvSpPr/>
          <p:nvPr/>
        </p:nvSpPr>
        <p:spPr>
          <a:xfrm>
            <a:off x="1007533" y="4723147"/>
            <a:ext cx="330200" cy="28952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858585"/>
                </a:solidFill>
                <a:latin typeface="JetBrains Mono" pitchFamily="49" charset="0"/>
                <a:ea typeface="JetBrains Mono" pitchFamily="49" charset="-122"/>
                <a:cs typeface="JetBrains Mono" pitchFamily="49" charset="-120"/>
              </a:rPr>
              <a:t>11</a:t>
            </a:r>
            <a:endParaRPr lang="en-US" sz="1600" dirty="0"/>
          </a:p>
        </p:txBody>
      </p:sp>
      <p:sp>
        <p:nvSpPr>
          <p:cNvPr id="29" name="Text 27"/>
          <p:cNvSpPr/>
          <p:nvPr/>
        </p:nvSpPr>
        <p:spPr>
          <a:xfrm>
            <a:off x="1464733" y="4723147"/>
            <a:ext cx="5651060"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EDEDED"/>
                </a:solidFill>
                <a:latin typeface="JetBrains Mono" pitchFamily="49" charset="0"/>
                <a:ea typeface="JetBrains Mono" pitchFamily="49" charset="-122"/>
                <a:cs typeface="JetBrains Mono" pitchFamily="49" charset="-120"/>
              </a:rPr>
              <a:t>result.answers[</a:t>
            </a:r>
            <a:r>
              <a:rPr lang="en-US" sz="1600" dirty="0">
                <a:solidFill>
                  <a:srgbClr val="F2B880"/>
                </a:solidFill>
                <a:latin typeface="JetBrains Mono" pitchFamily="49" charset="0"/>
                <a:ea typeface="JetBrains Mono" pitchFamily="49" charset="-122"/>
                <a:cs typeface="JetBrains Mono" pitchFamily="49" charset="-120"/>
              </a:rPr>
              <a:t>"action"</a:t>
            </a:r>
            <a:r>
              <a:rPr lang="en-US" sz="1600" dirty="0">
                <a:solidFill>
                  <a:srgbClr val="EDEDED"/>
                </a:solidFill>
                <a:latin typeface="JetBrains Mono" pitchFamily="49" charset="0"/>
                <a:ea typeface="JetBrains Mono" pitchFamily="49" charset="-122"/>
                <a:cs typeface="JetBrains Mono" pitchFamily="49" charset="-120"/>
              </a:rPr>
              <a:t>].choice </a:t>
            </a:r>
            <a:r>
              <a:rPr lang="en-US" sz="1600" dirty="0">
                <a:solidFill>
                  <a:srgbClr val="8F8F8F"/>
                </a:solidFill>
                <a:latin typeface="JetBrains Mono" pitchFamily="49" charset="0"/>
                <a:ea typeface="JetBrains Mono" pitchFamily="49" charset="-122"/>
                <a:cs typeface="JetBrains Mono" pitchFamily="49" charset="-120"/>
              </a:rPr>
              <a:t># "turn_left"</a:t>
            </a:r>
            <a:endParaRPr lang="en-US" sz="1600" dirty="0"/>
          </a:p>
        </p:txBody>
      </p:sp>
      <p:sp>
        <p:nvSpPr>
          <p:cNvPr id="30" name="Text 28"/>
          <p:cNvSpPr/>
          <p:nvPr/>
        </p:nvSpPr>
        <p:spPr>
          <a:xfrm>
            <a:off x="8229600" y="1715492"/>
            <a:ext cx="324408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4BF63"/>
                </a:solidFill>
                <a:latin typeface="Inter" pitchFamily="34" charset="0"/>
                <a:ea typeface="Inter" pitchFamily="34" charset="-122"/>
                <a:cs typeface="Inter" pitchFamily="34" charset="-120"/>
              </a:rPr>
              <a:t>4</a:t>
            </a:r>
            <a:endParaRPr lang="en-US" sz="6000" dirty="0"/>
          </a:p>
        </p:txBody>
      </p:sp>
      <p:sp>
        <p:nvSpPr>
          <p:cNvPr id="31" name="Text 29"/>
          <p:cNvSpPr/>
          <p:nvPr/>
        </p:nvSpPr>
        <p:spPr>
          <a:xfrm>
            <a:off x="8229600" y="2629892"/>
            <a:ext cx="324408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La respuesta</a:t>
            </a:r>
            <a:endParaRPr lang="en-US" sz="2200" dirty="0"/>
          </a:p>
        </p:txBody>
      </p:sp>
      <p:sp>
        <p:nvSpPr>
          <p:cNvPr id="32" name="Text 30"/>
          <p:cNvSpPr/>
          <p:nvPr/>
        </p:nvSpPr>
        <p:spPr>
          <a:xfrm>
            <a:off x="8229600" y="3103563"/>
            <a:ext cx="3244088"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Llega ordenada: la opción elegida, su confianza y la probabilidad de cada opción. No hay texto que interpretar.</a:t>
            </a:r>
            <a:endParaRPr lang="en-US" sz="1600" dirty="0"/>
          </a:p>
        </p:txBody>
      </p:sp>
      <p:sp>
        <p:nvSpPr>
          <p:cNvPr id="33" name="Text 31"/>
          <p:cNvSpPr/>
          <p:nvPr/>
        </p:nvSpPr>
        <p:spPr>
          <a:xfrm>
            <a:off x="8229600" y="4393679"/>
            <a:ext cx="3149600" cy="629841"/>
          </a:xfrm>
          <a:prstGeom prst="roundRect">
            <a:avLst>
              <a:gd name="adj" fmla="val 16131"/>
            </a:avLst>
          </a:prstGeom>
          <a:solidFill>
            <a:srgbClr val="0C2418"/>
          </a:solidFill>
          <a:ln/>
        </p:spPr>
        <p:txBody>
          <a:bodyPr wrap="square" lIns="97242" tIns="71842" rIns="10374" bIns="46442" rtlCol="0" anchor="t">
            <a:normAutofit/>
          </a:bodyPr>
          <a:lstStyle/>
          <a:p>
            <a:pPr algn="l" indent="0" marL="0">
              <a:lnSpc>
                <a:spcPts val="1680"/>
              </a:lnSpc>
              <a:buNone/>
            </a:pPr>
            <a:r>
              <a:rPr lang="en-US" sz="1200" dirty="0">
                <a:solidFill>
                  <a:srgbClr val="B9F5D3"/>
                </a:solidFill>
                <a:latin typeface="Inter" pitchFamily="34" charset="0"/>
                <a:ea typeface="Inter" pitchFamily="34" charset="-122"/>
                <a:cs typeface="Inter" pitchFamily="34" charset="-120"/>
              </a:rPr>
              <a:t>Pregunta: ¿qué haces si la confianza es baja?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Las preguntas</a:t>
            </a:r>
            <a:endParaRPr lang="en-US" sz="3600" dirty="0"/>
          </a:p>
        </p:txBody>
      </p:sp>
      <p:sp>
        <p:nvSpPr>
          <p:cNvPr id="3" name="Shape 1"/>
          <p:cNvSpPr/>
          <p:nvPr/>
        </p:nvSpPr>
        <p:spPr>
          <a:xfrm>
            <a:off x="815975" y="1572890"/>
            <a:ext cx="3295650" cy="855464"/>
          </a:xfrm>
          <a:prstGeom prst="roundRect">
            <a:avLst>
              <a:gd name="adj" fmla="val 14475"/>
            </a:avLst>
          </a:prstGeom>
          <a:solidFill>
            <a:srgbClr val="141414"/>
          </a:solidFill>
          <a:ln w="6350">
            <a:solidFill>
              <a:srgbClr val="262626"/>
            </a:solidFill>
            <a:prstDash val="solid"/>
          </a:ln>
        </p:spPr>
      </p:sp>
      <p:sp>
        <p:nvSpPr>
          <p:cNvPr id="4" name="Text 2"/>
          <p:cNvSpPr/>
          <p:nvPr/>
        </p:nvSpPr>
        <p:spPr>
          <a:xfrm>
            <a:off x="994833" y="1726344"/>
            <a:ext cx="3026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4BF63"/>
                </a:solidFill>
                <a:latin typeface="JetBrains Mono" pitchFamily="49" charset="0"/>
                <a:ea typeface="JetBrains Mono" pitchFamily="49" charset="-122"/>
                <a:cs typeface="JetBrains Mono" pitchFamily="49" charset="-120"/>
              </a:rPr>
              <a:t>noul</a:t>
            </a:r>
            <a:endParaRPr lang="en-US" sz="1200" dirty="0"/>
          </a:p>
        </p:txBody>
      </p:sp>
      <p:sp>
        <p:nvSpPr>
          <p:cNvPr id="5" name="Text 3"/>
          <p:cNvSpPr/>
          <p:nvPr/>
        </p:nvSpPr>
        <p:spPr>
          <a:xfrm>
            <a:off x="994833" y="1990465"/>
            <a:ext cx="302607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Sí o no, con probabilidad.</a:t>
            </a:r>
            <a:endParaRPr lang="en-US" sz="1600" dirty="0"/>
          </a:p>
        </p:txBody>
      </p:sp>
      <p:sp>
        <p:nvSpPr>
          <p:cNvPr id="6" name="Shape 4"/>
          <p:cNvSpPr/>
          <p:nvPr/>
        </p:nvSpPr>
        <p:spPr>
          <a:xfrm>
            <a:off x="819150" y="2564879"/>
            <a:ext cx="3289300" cy="1130168"/>
          </a:xfrm>
          <a:prstGeom prst="roundRect">
            <a:avLst>
              <a:gd name="adj" fmla="val 10675"/>
            </a:avLst>
          </a:prstGeom>
          <a:solidFill>
            <a:srgbClr val="111111"/>
          </a:solidFill>
          <a:ln w="12700">
            <a:solidFill>
              <a:srgbClr val="04BF63"/>
            </a:solidFill>
            <a:prstDash val="solid"/>
          </a:ln>
        </p:spPr>
      </p:sp>
      <p:sp>
        <p:nvSpPr>
          <p:cNvPr id="7" name="Text 5"/>
          <p:cNvSpPr/>
          <p:nvPr/>
        </p:nvSpPr>
        <p:spPr>
          <a:xfrm>
            <a:off x="1003300" y="2723629"/>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4BF63"/>
                </a:solidFill>
                <a:latin typeface="JetBrains Mono" pitchFamily="49" charset="0"/>
                <a:ea typeface="JetBrains Mono" pitchFamily="49" charset="-122"/>
                <a:cs typeface="JetBrains Mono" pitchFamily="49" charset="-120"/>
              </a:rPr>
              <a:t>choice</a:t>
            </a:r>
            <a:endParaRPr lang="en-US" sz="1200" dirty="0"/>
          </a:p>
        </p:txBody>
      </p:sp>
      <p:sp>
        <p:nvSpPr>
          <p:cNvPr id="8" name="Text 6"/>
          <p:cNvSpPr/>
          <p:nvPr/>
        </p:nvSpPr>
        <p:spPr>
          <a:xfrm>
            <a:off x="1003300" y="2987749"/>
            <a:ext cx="3098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Elegir una opción de una lista.</a:t>
            </a:r>
            <a:endParaRPr lang="en-US" sz="1600" dirty="0"/>
          </a:p>
        </p:txBody>
      </p:sp>
      <p:sp>
        <p:nvSpPr>
          <p:cNvPr id="9" name="Text 7"/>
          <p:cNvSpPr/>
          <p:nvPr/>
        </p:nvSpPr>
        <p:spPr>
          <a:xfrm>
            <a:off x="1003300" y="332297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La que usamos para pilotar.</a:t>
            </a:r>
            <a:endParaRPr lang="en-US" sz="1200" dirty="0"/>
          </a:p>
        </p:txBody>
      </p:sp>
      <p:sp>
        <p:nvSpPr>
          <p:cNvPr id="10" name="Shape 8"/>
          <p:cNvSpPr/>
          <p:nvPr/>
        </p:nvSpPr>
        <p:spPr>
          <a:xfrm>
            <a:off x="815975" y="3831568"/>
            <a:ext cx="3295650" cy="1139891"/>
          </a:xfrm>
          <a:prstGeom prst="roundRect">
            <a:avLst>
              <a:gd name="adj" fmla="val 10863"/>
            </a:avLst>
          </a:prstGeom>
          <a:solidFill>
            <a:srgbClr val="141414"/>
          </a:solidFill>
          <a:ln w="6350">
            <a:solidFill>
              <a:srgbClr val="262626"/>
            </a:solidFill>
            <a:prstDash val="solid"/>
          </a:ln>
        </p:spPr>
      </p:sp>
      <p:sp>
        <p:nvSpPr>
          <p:cNvPr id="11" name="Text 9"/>
          <p:cNvSpPr/>
          <p:nvPr/>
        </p:nvSpPr>
        <p:spPr>
          <a:xfrm>
            <a:off x="994833" y="3985022"/>
            <a:ext cx="3026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4BF63"/>
                </a:solidFill>
                <a:latin typeface="JetBrains Mono" pitchFamily="49" charset="0"/>
                <a:ea typeface="JetBrains Mono" pitchFamily="49" charset="-122"/>
                <a:cs typeface="JetBrains Mono" pitchFamily="49" charset="-120"/>
              </a:rPr>
              <a:t>score</a:t>
            </a:r>
            <a:endParaRPr lang="en-US" sz="1200" dirty="0"/>
          </a:p>
        </p:txBody>
      </p:sp>
      <p:sp>
        <p:nvSpPr>
          <p:cNvPr id="12" name="Text 10"/>
          <p:cNvSpPr/>
          <p:nvPr/>
        </p:nvSpPr>
        <p:spPr>
          <a:xfrm>
            <a:off x="994833" y="4249142"/>
            <a:ext cx="302607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Un puntaje en una escala ordenada.</a:t>
            </a:r>
            <a:endParaRPr lang="en-US" sz="1600" dirty="0"/>
          </a:p>
        </p:txBody>
      </p:sp>
      <p:sp>
        <p:nvSpPr>
          <p:cNvPr id="13" name="Shape 11"/>
          <p:cNvSpPr/>
          <p:nvPr/>
        </p:nvSpPr>
        <p:spPr>
          <a:xfrm>
            <a:off x="4422775" y="1572890"/>
            <a:ext cx="6953250" cy="2903339"/>
          </a:xfrm>
          <a:prstGeom prst="roundRect">
            <a:avLst>
              <a:gd name="adj" fmla="val 5140"/>
            </a:avLst>
          </a:prstGeom>
          <a:solidFill>
            <a:srgbClr val="101010"/>
          </a:solidFill>
          <a:ln w="6350">
            <a:solidFill>
              <a:srgbClr val="262626"/>
            </a:solidFill>
            <a:prstDash val="solid"/>
          </a:ln>
        </p:spPr>
      </p:sp>
      <p:sp>
        <p:nvSpPr>
          <p:cNvPr id="14" name="Text 12"/>
          <p:cNvSpPr/>
          <p:nvPr/>
        </p:nvSpPr>
        <p:spPr>
          <a:xfrm>
            <a:off x="4627033" y="1777144"/>
            <a:ext cx="6741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F8F"/>
                </a:solidFill>
                <a:latin typeface="JetBrains Mono" pitchFamily="49" charset="0"/>
                <a:ea typeface="JetBrains Mono" pitchFamily="49" charset="-122"/>
                <a:cs typeface="JetBrains Mono" pitchFamily="49" charset="-120"/>
              </a:rPr>
              <a:t>ACTION_QUESTION · "action" · choice</a:t>
            </a:r>
            <a:endParaRPr lang="en-US" sz="1200" dirty="0"/>
          </a:p>
        </p:txBody>
      </p:sp>
      <p:sp>
        <p:nvSpPr>
          <p:cNvPr id="15" name="Shape 13"/>
          <p:cNvSpPr/>
          <p:nvPr/>
        </p:nvSpPr>
        <p:spPr>
          <a:xfrm>
            <a:off x="4627033" y="2069840"/>
            <a:ext cx="6544734" cy="0"/>
          </a:xfrm>
          <a:prstGeom prst="line">
            <a:avLst/>
          </a:prstGeom>
          <a:noFill/>
          <a:ln w="6350">
            <a:solidFill>
              <a:srgbClr val="262626"/>
            </a:solidFill>
            <a:prstDash val="solid"/>
          </a:ln>
        </p:spPr>
      </p:sp>
      <p:sp>
        <p:nvSpPr>
          <p:cNvPr id="16" name="Text 14"/>
          <p:cNvSpPr/>
          <p:nvPr/>
        </p:nvSpPr>
        <p:spPr>
          <a:xfrm>
            <a:off x="4627033" y="2147094"/>
            <a:ext cx="1447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4BF63"/>
                </a:solidFill>
                <a:latin typeface="JetBrains Mono" pitchFamily="49" charset="0"/>
                <a:ea typeface="JetBrains Mono" pitchFamily="49" charset="-122"/>
                <a:cs typeface="JetBrains Mono" pitchFamily="49" charset="-120"/>
              </a:rPr>
              <a:t>forward</a:t>
            </a:r>
            <a:endParaRPr lang="en-US" sz="1600" dirty="0"/>
          </a:p>
        </p:txBody>
      </p:sp>
      <p:sp>
        <p:nvSpPr>
          <p:cNvPr id="17" name="Text 15"/>
          <p:cNvSpPr/>
          <p:nvPr/>
        </p:nvSpPr>
        <p:spPr>
          <a:xfrm>
            <a:off x="6176433" y="2147094"/>
            <a:ext cx="390374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Avanzar, solo si no hay obstáculo.</a:t>
            </a:r>
            <a:endParaRPr lang="en-US" sz="1600" dirty="0"/>
          </a:p>
        </p:txBody>
      </p:sp>
      <p:sp>
        <p:nvSpPr>
          <p:cNvPr id="18" name="Shape 16"/>
          <p:cNvSpPr/>
          <p:nvPr/>
        </p:nvSpPr>
        <p:spPr>
          <a:xfrm>
            <a:off x="4627033" y="2510904"/>
            <a:ext cx="6544734" cy="0"/>
          </a:xfrm>
          <a:prstGeom prst="line">
            <a:avLst/>
          </a:prstGeom>
          <a:noFill/>
          <a:ln w="6350">
            <a:solidFill>
              <a:srgbClr val="262626"/>
            </a:solidFill>
            <a:prstDash val="solid"/>
          </a:ln>
        </p:spPr>
      </p:sp>
      <p:sp>
        <p:nvSpPr>
          <p:cNvPr id="19" name="Text 17"/>
          <p:cNvSpPr/>
          <p:nvPr/>
        </p:nvSpPr>
        <p:spPr>
          <a:xfrm>
            <a:off x="4627033" y="2588158"/>
            <a:ext cx="1447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4BF63"/>
                </a:solidFill>
                <a:latin typeface="JetBrains Mono" pitchFamily="49" charset="0"/>
                <a:ea typeface="JetBrains Mono" pitchFamily="49" charset="-122"/>
                <a:cs typeface="JetBrains Mono" pitchFamily="49" charset="-120"/>
              </a:rPr>
              <a:t>backward</a:t>
            </a:r>
            <a:endParaRPr lang="en-US" sz="1600" dirty="0"/>
          </a:p>
        </p:txBody>
      </p:sp>
      <p:sp>
        <p:nvSpPr>
          <p:cNvPr id="20" name="Text 18"/>
          <p:cNvSpPr/>
          <p:nvPr/>
        </p:nvSpPr>
        <p:spPr>
          <a:xfrm>
            <a:off x="6176433" y="2588158"/>
            <a:ext cx="386572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Retroceder si está pegado a algo.</a:t>
            </a:r>
            <a:endParaRPr lang="en-US" sz="1600" dirty="0"/>
          </a:p>
        </p:txBody>
      </p:sp>
      <p:sp>
        <p:nvSpPr>
          <p:cNvPr id="21" name="Shape 19"/>
          <p:cNvSpPr/>
          <p:nvPr/>
        </p:nvSpPr>
        <p:spPr>
          <a:xfrm>
            <a:off x="4627033" y="2951956"/>
            <a:ext cx="6544734" cy="0"/>
          </a:xfrm>
          <a:prstGeom prst="line">
            <a:avLst/>
          </a:prstGeom>
          <a:noFill/>
          <a:ln w="6350">
            <a:solidFill>
              <a:srgbClr val="262626"/>
            </a:solidFill>
            <a:prstDash val="solid"/>
          </a:ln>
        </p:spPr>
      </p:sp>
      <p:sp>
        <p:nvSpPr>
          <p:cNvPr id="22" name="Text 20"/>
          <p:cNvSpPr/>
          <p:nvPr/>
        </p:nvSpPr>
        <p:spPr>
          <a:xfrm>
            <a:off x="4627033" y="3029223"/>
            <a:ext cx="1447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4BF63"/>
                </a:solidFill>
                <a:latin typeface="JetBrains Mono" pitchFamily="49" charset="0"/>
                <a:ea typeface="JetBrains Mono" pitchFamily="49" charset="-122"/>
                <a:cs typeface="JetBrains Mono" pitchFamily="49" charset="-120"/>
              </a:rPr>
              <a:t>turn_left</a:t>
            </a:r>
            <a:endParaRPr lang="en-US" sz="1600" dirty="0"/>
          </a:p>
        </p:txBody>
      </p:sp>
      <p:sp>
        <p:nvSpPr>
          <p:cNvPr id="23" name="Text 21"/>
          <p:cNvSpPr/>
          <p:nvPr/>
        </p:nvSpPr>
        <p:spPr>
          <a:xfrm>
            <a:off x="6176433" y="3029223"/>
            <a:ext cx="385643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Girar a la izquierda para esquivar.</a:t>
            </a:r>
            <a:endParaRPr lang="en-US" sz="1600" dirty="0"/>
          </a:p>
        </p:txBody>
      </p:sp>
      <p:sp>
        <p:nvSpPr>
          <p:cNvPr id="24" name="Shape 22"/>
          <p:cNvSpPr/>
          <p:nvPr/>
        </p:nvSpPr>
        <p:spPr>
          <a:xfrm>
            <a:off x="4627033" y="3393021"/>
            <a:ext cx="6544734" cy="0"/>
          </a:xfrm>
          <a:prstGeom prst="line">
            <a:avLst/>
          </a:prstGeom>
          <a:noFill/>
          <a:ln w="6350">
            <a:solidFill>
              <a:srgbClr val="262626"/>
            </a:solidFill>
            <a:prstDash val="solid"/>
          </a:ln>
        </p:spPr>
      </p:sp>
      <p:sp>
        <p:nvSpPr>
          <p:cNvPr id="25" name="Text 23"/>
          <p:cNvSpPr/>
          <p:nvPr/>
        </p:nvSpPr>
        <p:spPr>
          <a:xfrm>
            <a:off x="4627033" y="3470275"/>
            <a:ext cx="1447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4BF63"/>
                </a:solidFill>
                <a:latin typeface="JetBrains Mono" pitchFamily="49" charset="0"/>
                <a:ea typeface="JetBrains Mono" pitchFamily="49" charset="-122"/>
                <a:cs typeface="JetBrains Mono" pitchFamily="49" charset="-120"/>
              </a:rPr>
              <a:t>turn_right</a:t>
            </a:r>
            <a:endParaRPr lang="en-US" sz="1600" dirty="0"/>
          </a:p>
        </p:txBody>
      </p:sp>
      <p:sp>
        <p:nvSpPr>
          <p:cNvPr id="26" name="Text 24"/>
          <p:cNvSpPr/>
          <p:nvPr/>
        </p:nvSpPr>
        <p:spPr>
          <a:xfrm>
            <a:off x="6176433" y="3470275"/>
            <a:ext cx="373943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Girar a la derecha para esquivar.</a:t>
            </a:r>
            <a:endParaRPr lang="en-US" sz="1600" dirty="0"/>
          </a:p>
        </p:txBody>
      </p:sp>
      <p:sp>
        <p:nvSpPr>
          <p:cNvPr id="27" name="Shape 25"/>
          <p:cNvSpPr/>
          <p:nvPr/>
        </p:nvSpPr>
        <p:spPr>
          <a:xfrm>
            <a:off x="4627033" y="3834085"/>
            <a:ext cx="6544734" cy="0"/>
          </a:xfrm>
          <a:prstGeom prst="line">
            <a:avLst/>
          </a:prstGeom>
          <a:noFill/>
          <a:ln w="6350">
            <a:solidFill>
              <a:srgbClr val="262626"/>
            </a:solidFill>
            <a:prstDash val="solid"/>
          </a:ln>
        </p:spPr>
      </p:sp>
      <p:sp>
        <p:nvSpPr>
          <p:cNvPr id="28" name="Text 26"/>
          <p:cNvSpPr/>
          <p:nvPr/>
        </p:nvSpPr>
        <p:spPr>
          <a:xfrm>
            <a:off x="4627033" y="3911340"/>
            <a:ext cx="1447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4BF63"/>
                </a:solidFill>
                <a:latin typeface="JetBrains Mono" pitchFamily="49" charset="0"/>
                <a:ea typeface="JetBrains Mono" pitchFamily="49" charset="-122"/>
                <a:cs typeface="JetBrains Mono" pitchFamily="49" charset="-120"/>
              </a:rPr>
              <a:t>stop</a:t>
            </a:r>
            <a:endParaRPr lang="en-US" sz="1600" dirty="0"/>
          </a:p>
        </p:txBody>
      </p:sp>
      <p:sp>
        <p:nvSpPr>
          <p:cNvPr id="29" name="Text 27"/>
          <p:cNvSpPr/>
          <p:nvPr/>
        </p:nvSpPr>
        <p:spPr>
          <a:xfrm>
            <a:off x="6176433" y="3911340"/>
            <a:ext cx="422814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Frenar si está volcado o es inseguro.</a:t>
            </a:r>
            <a:endParaRPr lang="en-US" sz="1600" dirty="0"/>
          </a:p>
        </p:txBody>
      </p:sp>
      <p:sp>
        <p:nvSpPr>
          <p:cNvPr id="30" name="Text 28"/>
          <p:cNvSpPr/>
          <p:nvPr/>
        </p:nvSpPr>
        <p:spPr>
          <a:xfrm>
            <a:off x="812800" y="5228630"/>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Jev solo puede elegir una de estas cinco. Cada una mueve un paso fijo: </a:t>
            </a:r>
            <a:r>
              <a:rPr lang="en-US" sz="1600" dirty="0">
                <a:solidFill>
                  <a:srgbClr val="F9FAFB"/>
                </a:solidFill>
                <a:latin typeface="Inter" pitchFamily="34" charset="0"/>
                <a:ea typeface="Inter" pitchFamily="34" charset="-122"/>
                <a:cs typeface="Inter" pitchFamily="34" charset="-120"/>
              </a:rPr>
              <a:t>1 m al avanzar o retroceder, 30° al girar.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Lo que respondió Jev</a:t>
            </a:r>
            <a:endParaRPr lang="en-US" sz="3600" dirty="0"/>
          </a:p>
        </p:txBody>
      </p:sp>
      <p:sp>
        <p:nvSpPr>
          <p:cNvPr id="3" name="Text 1"/>
          <p:cNvSpPr/>
          <p:nvPr/>
        </p:nvSpPr>
        <p:spPr>
          <a:xfrm>
            <a:off x="812800" y="1569715"/>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Roca a 2.1 m adelante, terreno plano. </a:t>
            </a:r>
            <a:r>
              <a:rPr lang="en-US" sz="1600" dirty="0">
                <a:solidFill>
                  <a:srgbClr val="F9FAFB"/>
                </a:solidFill>
                <a:latin typeface="Inter" pitchFamily="34" charset="0"/>
                <a:ea typeface="Inter" pitchFamily="34" charset="-122"/>
                <a:cs typeface="Inter" pitchFamily="34" charset="-120"/>
              </a:rPr>
              <a:t>Lo esperado: girar, nunca avanzar.</a:t>
            </a:r>
            <a:endParaRPr lang="en-US" sz="1600" dirty="0"/>
          </a:p>
        </p:txBody>
      </p:sp>
      <p:sp>
        <p:nvSpPr>
          <p:cNvPr id="4" name="Text 2"/>
          <p:cNvSpPr/>
          <p:nvPr/>
        </p:nvSpPr>
        <p:spPr>
          <a:xfrm>
            <a:off x="812800" y="2108138"/>
            <a:ext cx="1574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JetBrains Mono" pitchFamily="49" charset="0"/>
                <a:ea typeface="JetBrains Mono" pitchFamily="49" charset="-122"/>
                <a:cs typeface="JetBrains Mono" pitchFamily="49" charset="-120"/>
              </a:rPr>
              <a:t>turn_left</a:t>
            </a:r>
            <a:endParaRPr lang="en-US" sz="1600" dirty="0"/>
          </a:p>
        </p:txBody>
      </p:sp>
      <p:sp>
        <p:nvSpPr>
          <p:cNvPr id="5" name="Shape 3"/>
          <p:cNvSpPr/>
          <p:nvPr/>
        </p:nvSpPr>
        <p:spPr>
          <a:xfrm>
            <a:off x="2489200" y="2110656"/>
            <a:ext cx="3505200" cy="279400"/>
          </a:xfrm>
          <a:custGeom>
            <a:avLst/>
            <a:gdLst/>
            <a:ahLst/>
            <a:cxnLst/>
            <a:rect l="l" t="t" r="r" b="b"/>
            <a:pathLst>
              <a:path w="3505200" h="279400">
                <a:moveTo>
                  <a:pt x="0" y="0"/>
                </a:moveTo>
                <a:lnTo>
                  <a:pt x="3479800" y="0"/>
                </a:lnTo>
                <a:arcTo hR="25400" wR="25400" stAng="16200000" swAng="5400000"/>
                <a:lnTo>
                  <a:pt x="3505200" y="254000"/>
                </a:lnTo>
                <a:arcTo hR="25400" wR="25400" stAng="0" swAng="5400000"/>
                <a:lnTo>
                  <a:pt x="0" y="279400"/>
                </a:lnTo>
                <a:lnTo>
                  <a:pt x="0" y="0"/>
                </a:lnTo>
                <a:close/>
              </a:path>
            </a:pathLst>
          </a:custGeom>
          <a:solidFill>
            <a:srgbClr val="04BF63"/>
          </a:solidFill>
          <a:ln/>
        </p:spPr>
      </p:sp>
      <p:sp>
        <p:nvSpPr>
          <p:cNvPr id="6" name="Text 4"/>
          <p:cNvSpPr/>
          <p:nvPr/>
        </p:nvSpPr>
        <p:spPr>
          <a:xfrm>
            <a:off x="6146800" y="2108138"/>
            <a:ext cx="1611551"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0.46 · elegida</a:t>
            </a:r>
            <a:endParaRPr lang="en-US" sz="1600" dirty="0"/>
          </a:p>
        </p:txBody>
      </p:sp>
      <p:sp>
        <p:nvSpPr>
          <p:cNvPr id="7" name="Text 5"/>
          <p:cNvSpPr/>
          <p:nvPr/>
        </p:nvSpPr>
        <p:spPr>
          <a:xfrm>
            <a:off x="812800" y="2494161"/>
            <a:ext cx="1574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JetBrains Mono" pitchFamily="49" charset="0"/>
                <a:ea typeface="JetBrains Mono" pitchFamily="49" charset="-122"/>
                <a:cs typeface="JetBrains Mono" pitchFamily="49" charset="-120"/>
              </a:rPr>
              <a:t>turn_right</a:t>
            </a:r>
            <a:endParaRPr lang="en-US" sz="1600" dirty="0"/>
          </a:p>
        </p:txBody>
      </p:sp>
      <p:sp>
        <p:nvSpPr>
          <p:cNvPr id="8" name="Shape 6"/>
          <p:cNvSpPr/>
          <p:nvPr/>
        </p:nvSpPr>
        <p:spPr>
          <a:xfrm>
            <a:off x="2489200" y="2496679"/>
            <a:ext cx="3352800" cy="279400"/>
          </a:xfrm>
          <a:custGeom>
            <a:avLst/>
            <a:gdLst/>
            <a:ahLst/>
            <a:cxnLst/>
            <a:rect l="l" t="t" r="r" b="b"/>
            <a:pathLst>
              <a:path w="3352800" h="279400">
                <a:moveTo>
                  <a:pt x="0" y="0"/>
                </a:moveTo>
                <a:lnTo>
                  <a:pt x="3327400" y="0"/>
                </a:lnTo>
                <a:arcTo hR="25400" wR="25400" stAng="16200000" swAng="5400000"/>
                <a:lnTo>
                  <a:pt x="3352800" y="254000"/>
                </a:lnTo>
                <a:arcTo hR="25400" wR="25400" stAng="0" swAng="5400000"/>
                <a:lnTo>
                  <a:pt x="0" y="279400"/>
                </a:lnTo>
                <a:lnTo>
                  <a:pt x="0" y="0"/>
                </a:lnTo>
                <a:close/>
              </a:path>
            </a:pathLst>
          </a:custGeom>
          <a:solidFill>
            <a:srgbClr val="4A4A4A"/>
          </a:solidFill>
          <a:ln/>
        </p:spPr>
      </p:sp>
      <p:sp>
        <p:nvSpPr>
          <p:cNvPr id="9" name="Text 7"/>
          <p:cNvSpPr/>
          <p:nvPr/>
        </p:nvSpPr>
        <p:spPr>
          <a:xfrm>
            <a:off x="5994400" y="2494161"/>
            <a:ext cx="53292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0.44</a:t>
            </a:r>
            <a:endParaRPr lang="en-US" sz="1600" dirty="0"/>
          </a:p>
        </p:txBody>
      </p:sp>
      <p:sp>
        <p:nvSpPr>
          <p:cNvPr id="10" name="Text 8"/>
          <p:cNvSpPr/>
          <p:nvPr/>
        </p:nvSpPr>
        <p:spPr>
          <a:xfrm>
            <a:off x="812800" y="2880196"/>
            <a:ext cx="1574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JetBrains Mono" pitchFamily="49" charset="0"/>
                <a:ea typeface="JetBrains Mono" pitchFamily="49" charset="-122"/>
                <a:cs typeface="JetBrains Mono" pitchFamily="49" charset="-120"/>
              </a:rPr>
              <a:t>backward</a:t>
            </a:r>
            <a:endParaRPr lang="en-US" sz="1600" dirty="0"/>
          </a:p>
        </p:txBody>
      </p:sp>
      <p:sp>
        <p:nvSpPr>
          <p:cNvPr id="11" name="Shape 9"/>
          <p:cNvSpPr/>
          <p:nvPr/>
        </p:nvSpPr>
        <p:spPr>
          <a:xfrm>
            <a:off x="2489200" y="2882702"/>
            <a:ext cx="457200" cy="279400"/>
          </a:xfrm>
          <a:custGeom>
            <a:avLst/>
            <a:gdLst/>
            <a:ahLst/>
            <a:cxnLst/>
            <a:rect l="l" t="t" r="r" b="b"/>
            <a:pathLst>
              <a:path w="457200" h="279400">
                <a:moveTo>
                  <a:pt x="0" y="0"/>
                </a:moveTo>
                <a:lnTo>
                  <a:pt x="431800" y="0"/>
                </a:lnTo>
                <a:arcTo hR="25400" wR="25400" stAng="16200000" swAng="5400000"/>
                <a:lnTo>
                  <a:pt x="457200" y="254000"/>
                </a:lnTo>
                <a:arcTo hR="25400" wR="25400" stAng="0" swAng="5400000"/>
                <a:lnTo>
                  <a:pt x="0" y="279400"/>
                </a:lnTo>
                <a:lnTo>
                  <a:pt x="0" y="0"/>
                </a:lnTo>
                <a:close/>
              </a:path>
            </a:pathLst>
          </a:custGeom>
          <a:solidFill>
            <a:srgbClr val="4A4A4A"/>
          </a:solidFill>
          <a:ln/>
        </p:spPr>
      </p:sp>
      <p:sp>
        <p:nvSpPr>
          <p:cNvPr id="12" name="Text 10"/>
          <p:cNvSpPr/>
          <p:nvPr/>
        </p:nvSpPr>
        <p:spPr>
          <a:xfrm>
            <a:off x="3098800" y="2880196"/>
            <a:ext cx="51673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0.06</a:t>
            </a:r>
            <a:endParaRPr lang="en-US" sz="1600" dirty="0"/>
          </a:p>
        </p:txBody>
      </p:sp>
      <p:sp>
        <p:nvSpPr>
          <p:cNvPr id="13" name="Text 11"/>
          <p:cNvSpPr/>
          <p:nvPr/>
        </p:nvSpPr>
        <p:spPr>
          <a:xfrm>
            <a:off x="812800" y="3266219"/>
            <a:ext cx="1574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JetBrains Mono" pitchFamily="49" charset="0"/>
                <a:ea typeface="JetBrains Mono" pitchFamily="49" charset="-122"/>
                <a:cs typeface="JetBrains Mono" pitchFamily="49" charset="-120"/>
              </a:rPr>
              <a:t>stop</a:t>
            </a:r>
            <a:endParaRPr lang="en-US" sz="1600" dirty="0"/>
          </a:p>
        </p:txBody>
      </p:sp>
      <p:sp>
        <p:nvSpPr>
          <p:cNvPr id="14" name="Shape 12"/>
          <p:cNvSpPr/>
          <p:nvPr/>
        </p:nvSpPr>
        <p:spPr>
          <a:xfrm>
            <a:off x="2489200" y="3268737"/>
            <a:ext cx="304800" cy="279400"/>
          </a:xfrm>
          <a:custGeom>
            <a:avLst/>
            <a:gdLst/>
            <a:ahLst/>
            <a:cxnLst/>
            <a:rect l="l" t="t" r="r" b="b"/>
            <a:pathLst>
              <a:path w="304800" h="279400">
                <a:moveTo>
                  <a:pt x="0" y="0"/>
                </a:moveTo>
                <a:lnTo>
                  <a:pt x="279400" y="0"/>
                </a:lnTo>
                <a:arcTo hR="25400" wR="25400" stAng="16200000" swAng="5400000"/>
                <a:lnTo>
                  <a:pt x="304800" y="254000"/>
                </a:lnTo>
                <a:arcTo hR="25400" wR="25400" stAng="0" swAng="5400000"/>
                <a:lnTo>
                  <a:pt x="0" y="279400"/>
                </a:lnTo>
                <a:lnTo>
                  <a:pt x="0" y="0"/>
                </a:lnTo>
                <a:close/>
              </a:path>
            </a:pathLst>
          </a:custGeom>
          <a:solidFill>
            <a:srgbClr val="4A4A4A"/>
          </a:solidFill>
          <a:ln/>
        </p:spPr>
      </p:sp>
      <p:sp>
        <p:nvSpPr>
          <p:cNvPr id="15" name="Text 13"/>
          <p:cNvSpPr/>
          <p:nvPr/>
        </p:nvSpPr>
        <p:spPr>
          <a:xfrm>
            <a:off x="2946400" y="3266219"/>
            <a:ext cx="52308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0.04</a:t>
            </a:r>
            <a:endParaRPr lang="en-US" sz="1600" dirty="0"/>
          </a:p>
        </p:txBody>
      </p:sp>
      <p:sp>
        <p:nvSpPr>
          <p:cNvPr id="16" name="Text 14"/>
          <p:cNvSpPr/>
          <p:nvPr/>
        </p:nvSpPr>
        <p:spPr>
          <a:xfrm>
            <a:off x="812800" y="3652242"/>
            <a:ext cx="1574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JetBrains Mono" pitchFamily="49" charset="0"/>
                <a:ea typeface="JetBrains Mono" pitchFamily="49" charset="-122"/>
                <a:cs typeface="JetBrains Mono" pitchFamily="49" charset="-120"/>
              </a:rPr>
              <a:t>forward</a:t>
            </a:r>
            <a:endParaRPr lang="en-US" sz="1600" dirty="0"/>
          </a:p>
        </p:txBody>
      </p:sp>
      <p:sp>
        <p:nvSpPr>
          <p:cNvPr id="17" name="Text 15"/>
          <p:cNvSpPr/>
          <p:nvPr/>
        </p:nvSpPr>
        <p:spPr>
          <a:xfrm>
            <a:off x="2489200" y="3652242"/>
            <a:ext cx="442571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0.00 · descartada con la roca adelante</a:t>
            </a:r>
            <a:endParaRPr lang="en-US" sz="1600" dirty="0"/>
          </a:p>
        </p:txBody>
      </p:sp>
      <p:sp>
        <p:nvSpPr>
          <p:cNvPr id="18" name="Text 16"/>
          <p:cNvSpPr/>
          <p:nvPr/>
        </p:nvSpPr>
        <p:spPr>
          <a:xfrm>
            <a:off x="812800" y="40382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F8F"/>
                </a:solidFill>
                <a:latin typeface="Inter" pitchFamily="34" charset="0"/>
                <a:ea typeface="Inter" pitchFamily="34" charset="-122"/>
                <a:cs typeface="Inter" pitchFamily="34" charset="-120"/>
              </a:rPr>
              <a:t>Probabilidad de cada opción. Confianza de la elección: 0.31.</a:t>
            </a:r>
            <a:endParaRPr lang="en-US" sz="1200" dirty="0"/>
          </a:p>
        </p:txBody>
      </p:sp>
      <p:sp>
        <p:nvSpPr>
          <p:cNvPr id="19" name="Text 17"/>
          <p:cNvSpPr/>
          <p:nvPr/>
        </p:nvSpPr>
        <p:spPr>
          <a:xfrm>
            <a:off x="812800" y="4505598"/>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Izquierda y derecha casi empatan: con solo el estado local, las dos sirven. </a:t>
            </a:r>
            <a:r>
              <a:rPr lang="en-US" sz="1600" dirty="0">
                <a:solidFill>
                  <a:srgbClr val="F9FAFB"/>
                </a:solidFill>
                <a:latin typeface="Inter" pitchFamily="34" charset="0"/>
                <a:ea typeface="Inter" pitchFamily="34" charset="-122"/>
                <a:cs typeface="Inter" pitchFamily="34" charset="-120"/>
              </a:rPr>
              <a:t>Desempatar es trabajo de la capa global.</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50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Cuidado con la API key</a:t>
            </a:r>
            <a:endParaRPr lang="en-US" sz="3600" dirty="0"/>
          </a:p>
        </p:txBody>
      </p:sp>
      <p:sp>
        <p:nvSpPr>
          <p:cNvPr id="3" name="Shape 1"/>
          <p:cNvSpPr/>
          <p:nvPr/>
        </p:nvSpPr>
        <p:spPr>
          <a:xfrm>
            <a:off x="815975" y="1572890"/>
            <a:ext cx="4819650" cy="926571"/>
          </a:xfrm>
          <a:prstGeom prst="roundRect">
            <a:avLst>
              <a:gd name="adj" fmla="val 13364"/>
            </a:avLst>
          </a:prstGeom>
          <a:solidFill>
            <a:srgbClr val="141414"/>
          </a:solidFill>
          <a:ln w="6350">
            <a:solidFill>
              <a:srgbClr val="262626"/>
            </a:solidFill>
            <a:prstDash val="solid"/>
          </a:ln>
        </p:spPr>
      </p:sp>
      <p:pic>
        <p:nvPicPr>
          <p:cNvPr id="4" name="Image 0" descr="Lock">    </p:cNvPr>
          <p:cNvPicPr>
            <a:picLocks noChangeAspect="1"/>
          </p:cNvPicPr>
          <p:nvPr/>
        </p:nvPicPr>
        <p:blipFill>
          <a:blip r:embed="rId1"/>
          <a:srcRect l="0" r="0" t="-500" b="-500"/>
          <a:stretch/>
        </p:blipFill>
        <p:spPr>
          <a:xfrm>
            <a:off x="1020233" y="1896467"/>
            <a:ext cx="251486" cy="279400"/>
          </a:xfrm>
          <a:prstGeom prst="rect">
            <a:avLst/>
          </a:prstGeom>
        </p:spPr>
      </p:pic>
      <p:sp>
        <p:nvSpPr>
          <p:cNvPr id="5" name="Text 2"/>
          <p:cNvSpPr/>
          <p:nvPr/>
        </p:nvSpPr>
        <p:spPr>
          <a:xfrm>
            <a:off x="1424120" y="1751744"/>
            <a:ext cx="4127464"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Nunca escrita en el código: el repo es público.</a:t>
            </a:r>
            <a:endParaRPr lang="en-US" sz="1600" dirty="0"/>
          </a:p>
        </p:txBody>
      </p:sp>
      <p:sp>
        <p:nvSpPr>
          <p:cNvPr id="6" name="Shape 3"/>
          <p:cNvSpPr/>
          <p:nvPr/>
        </p:nvSpPr>
        <p:spPr>
          <a:xfrm>
            <a:off x="815975" y="2658207"/>
            <a:ext cx="4819650" cy="926571"/>
          </a:xfrm>
          <a:prstGeom prst="roundRect">
            <a:avLst>
              <a:gd name="adj" fmla="val 13364"/>
            </a:avLst>
          </a:prstGeom>
          <a:solidFill>
            <a:srgbClr val="141414"/>
          </a:solidFill>
          <a:ln w="6350">
            <a:solidFill>
              <a:srgbClr val="262626"/>
            </a:solidFill>
            <a:prstDash val="solid"/>
          </a:ln>
        </p:spPr>
      </p:sp>
      <p:pic>
        <p:nvPicPr>
          <p:cNvPr id="7" name="Image 1" descr="Key">    </p:cNvPr>
          <p:cNvPicPr>
            <a:picLocks noChangeAspect="1"/>
          </p:cNvPicPr>
          <p:nvPr/>
        </p:nvPicPr>
        <p:blipFill>
          <a:blip r:embed="rId2"/>
          <a:srcRect l="0" r="0" t="-231" b="-231"/>
          <a:stretch/>
        </p:blipFill>
        <p:spPr>
          <a:xfrm>
            <a:off x="1020233" y="2981796"/>
            <a:ext cx="271793" cy="279400"/>
          </a:xfrm>
          <a:prstGeom prst="rect">
            <a:avLst/>
          </a:prstGeom>
        </p:spPr>
      </p:pic>
      <p:sp>
        <p:nvSpPr>
          <p:cNvPr id="8" name="Text 4"/>
          <p:cNvSpPr/>
          <p:nvPr/>
        </p:nvSpPr>
        <p:spPr>
          <a:xfrm>
            <a:off x="1444427" y="2837061"/>
            <a:ext cx="4106549"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Vive en un archivo .env, al lado del código.</a:t>
            </a:r>
            <a:endParaRPr lang="en-US" sz="1600" dirty="0"/>
          </a:p>
        </p:txBody>
      </p:sp>
      <p:sp>
        <p:nvSpPr>
          <p:cNvPr id="9" name="Shape 5"/>
          <p:cNvSpPr/>
          <p:nvPr/>
        </p:nvSpPr>
        <p:spPr>
          <a:xfrm>
            <a:off x="815975" y="3743523"/>
            <a:ext cx="4819650" cy="926571"/>
          </a:xfrm>
          <a:prstGeom prst="roundRect">
            <a:avLst>
              <a:gd name="adj" fmla="val 13364"/>
            </a:avLst>
          </a:prstGeom>
          <a:solidFill>
            <a:srgbClr val="1A1510"/>
          </a:solidFill>
          <a:ln w="6350">
            <a:solidFill>
              <a:srgbClr val="F2B880"/>
            </a:solidFill>
            <a:prstDash val="solid"/>
          </a:ln>
        </p:spPr>
      </p:sp>
      <p:pic>
        <p:nvPicPr>
          <p:cNvPr id="10" name="Image 2" descr="Warning">    </p:cNvPr>
          <p:cNvPicPr>
            <a:picLocks noChangeAspect="1"/>
          </p:cNvPicPr>
          <p:nvPr/>
        </p:nvPicPr>
        <p:blipFill>
          <a:blip r:embed="rId3"/>
          <a:srcRect l="0" r="0" t="-253" b="-253"/>
          <a:stretch/>
        </p:blipFill>
        <p:spPr>
          <a:xfrm>
            <a:off x="1020233" y="4067113"/>
            <a:ext cx="195858" cy="279400"/>
          </a:xfrm>
          <a:prstGeom prst="rect">
            <a:avLst/>
          </a:prstGeom>
        </p:spPr>
      </p:pic>
      <p:sp>
        <p:nvSpPr>
          <p:cNvPr id="11" name="Text 6"/>
          <p:cNvSpPr/>
          <p:nvPr/>
        </p:nvSpPr>
        <p:spPr>
          <a:xfrm>
            <a:off x="1368491" y="3922390"/>
            <a:ext cx="418476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El .env va en .gitignore. Si se filtra, se revoca ese mismo día.</a:t>
            </a:r>
            <a:endParaRPr lang="en-US" sz="1600" dirty="0"/>
          </a:p>
        </p:txBody>
      </p:sp>
      <p:sp>
        <p:nvSpPr>
          <p:cNvPr id="12" name="Shape 7"/>
          <p:cNvSpPr/>
          <p:nvPr/>
        </p:nvSpPr>
        <p:spPr>
          <a:xfrm>
            <a:off x="5946775" y="1572890"/>
            <a:ext cx="5429250" cy="2100064"/>
          </a:xfrm>
          <a:prstGeom prst="roundRect">
            <a:avLst>
              <a:gd name="adj" fmla="val 7106"/>
            </a:avLst>
          </a:prstGeom>
          <a:solidFill>
            <a:srgbClr val="101010"/>
          </a:solidFill>
          <a:ln w="6350">
            <a:solidFill>
              <a:srgbClr val="262626"/>
            </a:solidFill>
            <a:prstDash val="solid"/>
          </a:ln>
        </p:spPr>
      </p:sp>
      <p:sp>
        <p:nvSpPr>
          <p:cNvPr id="13" name="Shape 8"/>
          <p:cNvSpPr/>
          <p:nvPr/>
        </p:nvSpPr>
        <p:spPr>
          <a:xfrm>
            <a:off x="5947833" y="1573944"/>
            <a:ext cx="5427133" cy="441920"/>
          </a:xfrm>
          <a:custGeom>
            <a:avLst/>
            <a:gdLst/>
            <a:ahLst/>
            <a:cxnLst/>
            <a:rect l="l" t="t" r="r" b="b"/>
            <a:pathLst>
              <a:path w="5427133" h="441920">
                <a:moveTo>
                  <a:pt x="0" y="148167"/>
                </a:moveTo>
                <a:arcTo hR="148167" wR="148167" stAng="10800000" swAng="5400000"/>
                <a:lnTo>
                  <a:pt x="5278967" y="0"/>
                </a:lnTo>
                <a:arcTo hR="148167" wR="148167" stAng="16200000" swAng="5400000"/>
                <a:lnTo>
                  <a:pt x="5427133" y="441920"/>
                </a:lnTo>
                <a:lnTo>
                  <a:pt x="0" y="441920"/>
                </a:lnTo>
                <a:close/>
              </a:path>
            </a:pathLst>
          </a:custGeom>
          <a:solidFill>
            <a:srgbClr val="1A1A1A"/>
          </a:solidFill>
          <a:ln/>
        </p:spPr>
      </p:sp>
      <p:pic>
        <p:nvPicPr>
          <p:cNvPr id="14" name="Image 3" descr="ellipse">    </p:cNvPr>
          <p:cNvPicPr>
            <a:picLocks noChangeAspect="1"/>
          </p:cNvPicPr>
          <p:nvPr/>
        </p:nvPicPr>
        <p:blipFill>
          <a:blip r:embed="rId4"/>
          <a:srcRect l="0" r="0" t="0" b="0"/>
          <a:stretch/>
        </p:blipFill>
        <p:spPr>
          <a:xfrm>
            <a:off x="6100233" y="1744067"/>
            <a:ext cx="101600" cy="101600"/>
          </a:xfrm>
          <a:prstGeom prst="rect">
            <a:avLst/>
          </a:prstGeom>
        </p:spPr>
      </p:pic>
      <p:pic>
        <p:nvPicPr>
          <p:cNvPr id="15" name="Image 4" descr="ellipse">    </p:cNvPr>
          <p:cNvPicPr>
            <a:picLocks noChangeAspect="1"/>
          </p:cNvPicPr>
          <p:nvPr/>
        </p:nvPicPr>
        <p:blipFill>
          <a:blip r:embed="rId5"/>
          <a:srcRect l="0" r="0" t="0" b="0"/>
          <a:stretch/>
        </p:blipFill>
        <p:spPr>
          <a:xfrm>
            <a:off x="6265333" y="1744067"/>
            <a:ext cx="101600" cy="101600"/>
          </a:xfrm>
          <a:prstGeom prst="rect">
            <a:avLst/>
          </a:prstGeom>
        </p:spPr>
      </p:pic>
      <p:pic>
        <p:nvPicPr>
          <p:cNvPr id="16" name="Image 5" descr="ellipse">    </p:cNvPr>
          <p:cNvPicPr>
            <a:picLocks noChangeAspect="1"/>
          </p:cNvPicPr>
          <p:nvPr/>
        </p:nvPicPr>
        <p:blipFill>
          <a:blip r:embed="rId6"/>
          <a:srcRect l="0" r="0" t="0" b="0"/>
          <a:stretch/>
        </p:blipFill>
        <p:spPr>
          <a:xfrm>
            <a:off x="6430433" y="1744067"/>
            <a:ext cx="101600" cy="101600"/>
          </a:xfrm>
          <a:prstGeom prst="rect">
            <a:avLst/>
          </a:prstGeom>
        </p:spPr>
      </p:pic>
      <p:sp>
        <p:nvSpPr>
          <p:cNvPr id="17" name="Text 9"/>
          <p:cNvSpPr/>
          <p:nvPr/>
        </p:nvSpPr>
        <p:spPr>
          <a:xfrm>
            <a:off x="6671734" y="1688244"/>
            <a:ext cx="367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.env</a:t>
            </a:r>
            <a:endParaRPr lang="en-US" sz="1200" dirty="0"/>
          </a:p>
        </p:txBody>
      </p:sp>
      <p:sp>
        <p:nvSpPr>
          <p:cNvPr id="18" name="Text 10"/>
          <p:cNvSpPr/>
          <p:nvPr/>
        </p:nvSpPr>
        <p:spPr>
          <a:xfrm>
            <a:off x="6151033" y="2219065"/>
            <a:ext cx="5171355"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F9FAFB"/>
                </a:solidFill>
                <a:latin typeface="JetBrains Mono" pitchFamily="49" charset="0"/>
                <a:ea typeface="JetBrains Mono" pitchFamily="49" charset="-122"/>
                <a:cs typeface="JetBrains Mono" pitchFamily="49" charset="-120"/>
              </a:rPr>
              <a:t>OPENROUTER_API_KEY=</a:t>
            </a:r>
            <a:r>
              <a:rPr lang="en-US" sz="1600" dirty="0">
                <a:solidFill>
                  <a:srgbClr val="F2B880"/>
                </a:solidFill>
                <a:latin typeface="JetBrains Mono" pitchFamily="49" charset="0"/>
                <a:ea typeface="JetBrains Mono" pitchFamily="49" charset="-122"/>
                <a:cs typeface="JetBrains Mono" pitchFamily="49" charset="-120"/>
              </a:rPr>
              <a:t>sk-or-…</a:t>
            </a:r>
            <a:endParaRPr lang="en-US" sz="1600" dirty="0"/>
          </a:p>
        </p:txBody>
      </p:sp>
      <p:sp>
        <p:nvSpPr>
          <p:cNvPr id="19" name="Text 11"/>
          <p:cNvSpPr/>
          <p:nvPr/>
        </p:nvSpPr>
        <p:spPr>
          <a:xfrm>
            <a:off x="6151033" y="2544167"/>
            <a:ext cx="5171355"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8F8F8F"/>
                </a:solidFill>
                <a:latin typeface="JetBrains Mono" pitchFamily="49" charset="0"/>
                <a:ea typeface="JetBrains Mono" pitchFamily="49" charset="-122"/>
                <a:cs typeface="JetBrains Mono" pitchFamily="49" charset="-120"/>
              </a:rPr>
              <a:t># En Python</a:t>
            </a:r>
            <a:endParaRPr lang="en-US" sz="1600" dirty="0"/>
          </a:p>
        </p:txBody>
      </p:sp>
      <p:sp>
        <p:nvSpPr>
          <p:cNvPr id="20" name="Text 12"/>
          <p:cNvSpPr/>
          <p:nvPr/>
        </p:nvSpPr>
        <p:spPr>
          <a:xfrm>
            <a:off x="6151033" y="2869282"/>
            <a:ext cx="5171355"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F9FAFB"/>
                </a:solidFill>
                <a:latin typeface="JetBrains Mono" pitchFamily="49" charset="0"/>
                <a:ea typeface="JetBrains Mono" pitchFamily="49" charset="-122"/>
                <a:cs typeface="JetBrains Mono" pitchFamily="49" charset="-120"/>
              </a:rPr>
              <a:t>load_dotenv()</a:t>
            </a:r>
            <a:endParaRPr lang="en-US" sz="1600" dirty="0"/>
          </a:p>
        </p:txBody>
      </p:sp>
      <p:sp>
        <p:nvSpPr>
          <p:cNvPr id="21" name="Text 13"/>
          <p:cNvSpPr/>
          <p:nvPr/>
        </p:nvSpPr>
        <p:spPr>
          <a:xfrm>
            <a:off x="6151033" y="3194385"/>
            <a:ext cx="5171355" cy="299707"/>
          </a:xfrm>
          <a:prstGeom prst="rect">
            <a:avLst/>
          </a:prstGeom>
          <a:noFill/>
          <a:ln/>
        </p:spPr>
        <p:txBody>
          <a:bodyPr wrap="none" lIns="0" tIns="0" rIns="0" bIns="0" rtlCol="0" anchor="t">
            <a:normAutofit/>
          </a:bodyPr>
          <a:lstStyle/>
          <a:p>
            <a:pPr algn="l" indent="0" marL="0">
              <a:lnSpc>
                <a:spcPts val="2160"/>
              </a:lnSpc>
              <a:buNone/>
            </a:pPr>
            <a:r>
              <a:rPr lang="en-US" sz="1600" dirty="0">
                <a:solidFill>
                  <a:srgbClr val="F9FAFB"/>
                </a:solidFill>
                <a:latin typeface="JetBrains Mono" pitchFamily="49" charset="0"/>
                <a:ea typeface="JetBrains Mono" pitchFamily="49" charset="-122"/>
                <a:cs typeface="JetBrains Mono" pitchFamily="49" charset="-120"/>
              </a:rPr>
              <a:t>os.environ[</a:t>
            </a:r>
            <a:r>
              <a:rPr lang="en-US" sz="1600" dirty="0">
                <a:solidFill>
                  <a:srgbClr val="F2B880"/>
                </a:solidFill>
                <a:latin typeface="JetBrains Mono" pitchFamily="49" charset="0"/>
                <a:ea typeface="JetBrains Mono" pitchFamily="49" charset="-122"/>
                <a:cs typeface="JetBrains Mono" pitchFamily="49" charset="-120"/>
              </a:rPr>
              <a:t>"OPENROUTER_API_KEY"</a:t>
            </a:r>
            <a:r>
              <a:rPr lang="en-US" sz="1600" dirty="0">
                <a:solidFill>
                  <a:srgbClr val="F9FAFB"/>
                </a:solidFill>
                <a:latin typeface="JetBrains Mono" pitchFamily="49" charset="0"/>
                <a:ea typeface="JetBrains Mono" pitchFamily="49" charset="-122"/>
                <a:cs typeface="JetBrains Mono" pitchFamily="49" charset="-120"/>
              </a:rPr>
              <a: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D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Proyecto final para la clase 5</a:t>
            </a:r>
            <a:endParaRPr lang="en-US" sz="3600" dirty="0"/>
          </a:p>
        </p:txBody>
      </p:sp>
      <p:sp>
        <p:nvSpPr>
          <p:cNvPr id="3" name="Text 1"/>
          <p:cNvSpPr/>
          <p:nvPr/>
        </p:nvSpPr>
        <p:spPr>
          <a:xfrm>
            <a:off x="812800" y="1569715"/>
            <a:ext cx="559866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El reto</a:t>
            </a:r>
            <a:endParaRPr lang="en-US" sz="2200" dirty="0"/>
          </a:p>
        </p:txBody>
      </p:sp>
      <p:sp>
        <p:nvSpPr>
          <p:cNvPr id="4" name="Text 2"/>
          <p:cNvSpPr/>
          <p:nvPr/>
        </p:nvSpPr>
        <p:spPr>
          <a:xfrm>
            <a:off x="812800" y="2017985"/>
            <a:ext cx="559866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El rover arranca en A y llega solo a B. Nadie lo maneja: Jev decide cada movimiento a partir de la telemetría.</a:t>
            </a:r>
            <a:endParaRPr lang="en-US" sz="1600" dirty="0"/>
          </a:p>
        </p:txBody>
      </p:sp>
      <p:sp>
        <p:nvSpPr>
          <p:cNvPr id="5" name="Text 3"/>
          <p:cNvSpPr/>
          <p:nvPr/>
        </p:nvSpPr>
        <p:spPr>
          <a:xfrm>
            <a:off x="812800" y="2713831"/>
            <a:ext cx="559866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Funciona si:</a:t>
            </a:r>
            <a:endParaRPr lang="en-US" sz="1600" dirty="0"/>
          </a:p>
        </p:txBody>
      </p:sp>
      <p:pic>
        <p:nvPicPr>
          <p:cNvPr id="6" name="Image 0" descr="CheckCircle">    </p:cNvPr>
          <p:cNvPicPr>
            <a:picLocks noChangeAspect="1"/>
          </p:cNvPicPr>
          <p:nvPr/>
        </p:nvPicPr>
        <p:blipFill>
          <a:blip r:embed="rId1"/>
          <a:srcRect l="0" r="0" t="0" b="0"/>
          <a:stretch/>
        </p:blipFill>
        <p:spPr>
          <a:xfrm>
            <a:off x="812800" y="3125267"/>
            <a:ext cx="228600" cy="228600"/>
          </a:xfrm>
          <a:prstGeom prst="rect">
            <a:avLst/>
          </a:prstGeom>
        </p:spPr>
      </p:pic>
      <p:sp>
        <p:nvSpPr>
          <p:cNvPr id="7" name="Text 4"/>
          <p:cNvSpPr/>
          <p:nvPr/>
        </p:nvSpPr>
        <p:spPr>
          <a:xfrm>
            <a:off x="1143000" y="3125267"/>
            <a:ext cx="112942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Llega a B.</a:t>
            </a:r>
            <a:endParaRPr lang="en-US" sz="1600" dirty="0"/>
          </a:p>
        </p:txBody>
      </p:sp>
      <p:pic>
        <p:nvPicPr>
          <p:cNvPr id="8" name="Image 1" descr="CheckCircle">    </p:cNvPr>
          <p:cNvPicPr>
            <a:picLocks noChangeAspect="1"/>
          </p:cNvPicPr>
          <p:nvPr/>
        </p:nvPicPr>
        <p:blipFill>
          <a:blip r:embed="rId2"/>
          <a:srcRect l="0" r="0" t="0" b="0"/>
          <a:stretch/>
        </p:blipFill>
        <p:spPr>
          <a:xfrm>
            <a:off x="812800" y="3511290"/>
            <a:ext cx="228600" cy="228600"/>
          </a:xfrm>
          <a:prstGeom prst="rect">
            <a:avLst/>
          </a:prstGeom>
        </p:spPr>
      </p:pic>
      <p:sp>
        <p:nvSpPr>
          <p:cNvPr id="9" name="Text 5"/>
          <p:cNvSpPr/>
          <p:nvPr/>
        </p:nvSpPr>
        <p:spPr>
          <a:xfrm>
            <a:off x="1143000" y="3511290"/>
            <a:ext cx="165044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Nunca vuelca.</a:t>
            </a:r>
            <a:endParaRPr lang="en-US" sz="1600" dirty="0"/>
          </a:p>
        </p:txBody>
      </p:sp>
      <p:pic>
        <p:nvPicPr>
          <p:cNvPr id="10" name="Image 2" descr="CheckCircle">    </p:cNvPr>
          <p:cNvPicPr>
            <a:picLocks noChangeAspect="1"/>
          </p:cNvPicPr>
          <p:nvPr/>
        </p:nvPicPr>
        <p:blipFill>
          <a:blip r:embed="rId3"/>
          <a:srcRect l="0" r="0" t="0" b="0"/>
          <a:stretch/>
        </p:blipFill>
        <p:spPr>
          <a:xfrm>
            <a:off x="812800" y="3897313"/>
            <a:ext cx="228600" cy="228600"/>
          </a:xfrm>
          <a:prstGeom prst="rect">
            <a:avLst/>
          </a:prstGeom>
        </p:spPr>
      </p:pic>
      <p:sp>
        <p:nvSpPr>
          <p:cNvPr id="11" name="Text 6"/>
          <p:cNvSpPr/>
          <p:nvPr/>
        </p:nvSpPr>
        <p:spPr>
          <a:xfrm>
            <a:off x="1143000" y="3897313"/>
            <a:ext cx="2707719"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Toma la ruta más corta.</a:t>
            </a:r>
            <a:endParaRPr lang="en-US" sz="1600" dirty="0"/>
          </a:p>
        </p:txBody>
      </p:sp>
      <p:pic>
        <p:nvPicPr>
          <p:cNvPr id="12" name="Image 3" descr="CheckCircle">    </p:cNvPr>
          <p:cNvPicPr>
            <a:picLocks noChangeAspect="1"/>
          </p:cNvPicPr>
          <p:nvPr/>
        </p:nvPicPr>
        <p:blipFill>
          <a:blip r:embed="rId4"/>
          <a:srcRect l="0" r="0" t="0" b="0"/>
          <a:stretch/>
        </p:blipFill>
        <p:spPr>
          <a:xfrm>
            <a:off x="812800" y="4283348"/>
            <a:ext cx="228600" cy="228600"/>
          </a:xfrm>
          <a:prstGeom prst="rect">
            <a:avLst/>
          </a:prstGeom>
        </p:spPr>
      </p:pic>
      <p:sp>
        <p:nvSpPr>
          <p:cNvPr id="13" name="Text 7"/>
          <p:cNvSpPr/>
          <p:nvPr/>
        </p:nvSpPr>
        <p:spPr>
          <a:xfrm>
            <a:off x="1143000" y="4283348"/>
            <a:ext cx="2054939"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Si Jev falla, frena.</a:t>
            </a:r>
            <a:endParaRPr lang="en-US" sz="1600" dirty="0"/>
          </a:p>
        </p:txBody>
      </p:sp>
      <p:sp>
        <p:nvSpPr>
          <p:cNvPr id="14" name="Shape 8"/>
          <p:cNvSpPr/>
          <p:nvPr/>
        </p:nvSpPr>
        <p:spPr>
          <a:xfrm>
            <a:off x="6559550" y="1576065"/>
            <a:ext cx="4813300" cy="4011414"/>
          </a:xfrm>
          <a:prstGeom prst="roundRect">
            <a:avLst>
              <a:gd name="adj" fmla="val 3641"/>
            </a:avLst>
          </a:prstGeom>
          <a:solidFill>
            <a:srgbClr val="111111"/>
          </a:solidFill>
          <a:ln w="12700">
            <a:solidFill>
              <a:srgbClr val="04BF63"/>
            </a:solidFill>
            <a:prstDash val="solid"/>
          </a:ln>
        </p:spPr>
      </p:sp>
      <p:sp>
        <p:nvSpPr>
          <p:cNvPr id="15" name="Text 9"/>
          <p:cNvSpPr/>
          <p:nvPr/>
        </p:nvSpPr>
        <p:spPr>
          <a:xfrm>
            <a:off x="6819900" y="1836415"/>
            <a:ext cx="442137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9FAFB"/>
                </a:solidFill>
                <a:latin typeface="Inter" pitchFamily="34" charset="0"/>
                <a:ea typeface="Inter" pitchFamily="34" charset="-122"/>
                <a:cs typeface="Inter" pitchFamily="34" charset="-120"/>
              </a:rPr>
              <a:t>Entregables</a:t>
            </a:r>
            <a:endParaRPr lang="en-US" sz="2200" dirty="0"/>
          </a:p>
        </p:txBody>
      </p:sp>
      <p:sp>
        <p:nvSpPr>
          <p:cNvPr id="16" name="Shape 10"/>
          <p:cNvSpPr/>
          <p:nvPr/>
        </p:nvSpPr>
        <p:spPr>
          <a:xfrm>
            <a:off x="6826250" y="2316435"/>
            <a:ext cx="266700" cy="266700"/>
          </a:xfrm>
          <a:prstGeom prst="roundRect">
            <a:avLst>
              <a:gd name="adj" fmla="val 50000"/>
            </a:avLst>
          </a:prstGeom>
          <a:noFill/>
          <a:ln w="12700">
            <a:solidFill>
              <a:srgbClr val="333333"/>
            </a:solidFill>
            <a:prstDash val="solid"/>
          </a:ln>
        </p:spPr>
      </p:sp>
      <p:sp>
        <p:nvSpPr>
          <p:cNvPr id="17" name="Text 11"/>
          <p:cNvSpPr/>
          <p:nvPr/>
        </p:nvSpPr>
        <p:spPr>
          <a:xfrm>
            <a:off x="6807200" y="2322785"/>
            <a:ext cx="304800" cy="279400"/>
          </a:xfrm>
          <a:prstGeom prst="rect">
            <a:avLst/>
          </a:prstGeom>
          <a:noFill/>
          <a:ln/>
        </p:spPr>
        <p:txBody>
          <a:bodyPr wrap="square" lIns="0" tIns="0" rIns="0" bIns="0" rtlCol="0" anchor="t">
            <a:normAutofit/>
          </a:bodyPr>
          <a:lstStyle/>
          <a:p>
            <a:pPr algn="ctr" indent="0" marL="0">
              <a:lnSpc>
                <a:spcPts val="2040"/>
              </a:lnSpc>
              <a:buNone/>
            </a:pPr>
            <a:r>
              <a:rPr lang="en-US" sz="1200" b="1" dirty="0">
                <a:solidFill>
                  <a:srgbClr val="04BF63"/>
                </a:solidFill>
                <a:latin typeface="Inter" pitchFamily="34" charset="0"/>
                <a:ea typeface="Inter" pitchFamily="34" charset="-122"/>
                <a:cs typeface="Inter" pitchFamily="34" charset="-120"/>
              </a:rPr>
              <a:t>1</a:t>
            </a:r>
            <a:endParaRPr lang="en-US" sz="1200" dirty="0"/>
          </a:p>
        </p:txBody>
      </p:sp>
      <p:sp>
        <p:nvSpPr>
          <p:cNvPr id="18" name="Text 12"/>
          <p:cNvSpPr/>
          <p:nvPr/>
        </p:nvSpPr>
        <p:spPr>
          <a:xfrm>
            <a:off x="7226300" y="2310085"/>
            <a:ext cx="400278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rover_ai.py en la rama nico_work, con commits chicos.</a:t>
            </a:r>
            <a:endParaRPr lang="en-US" sz="1600" dirty="0"/>
          </a:p>
        </p:txBody>
      </p:sp>
      <p:sp>
        <p:nvSpPr>
          <p:cNvPr id="19" name="Shape 13"/>
          <p:cNvSpPr/>
          <p:nvPr/>
        </p:nvSpPr>
        <p:spPr>
          <a:xfrm>
            <a:off x="6826250" y="3037681"/>
            <a:ext cx="266700" cy="266700"/>
          </a:xfrm>
          <a:prstGeom prst="roundRect">
            <a:avLst>
              <a:gd name="adj" fmla="val 50000"/>
            </a:avLst>
          </a:prstGeom>
          <a:noFill/>
          <a:ln w="12700">
            <a:solidFill>
              <a:srgbClr val="333333"/>
            </a:solidFill>
            <a:prstDash val="solid"/>
          </a:ln>
        </p:spPr>
      </p:sp>
      <p:sp>
        <p:nvSpPr>
          <p:cNvPr id="20" name="Text 14"/>
          <p:cNvSpPr/>
          <p:nvPr/>
        </p:nvSpPr>
        <p:spPr>
          <a:xfrm>
            <a:off x="6807200" y="3044031"/>
            <a:ext cx="304800" cy="279400"/>
          </a:xfrm>
          <a:prstGeom prst="rect">
            <a:avLst/>
          </a:prstGeom>
          <a:noFill/>
          <a:ln/>
        </p:spPr>
        <p:txBody>
          <a:bodyPr wrap="square" lIns="0" tIns="0" rIns="0" bIns="0" rtlCol="0" anchor="t">
            <a:normAutofit/>
          </a:bodyPr>
          <a:lstStyle/>
          <a:p>
            <a:pPr algn="ctr" indent="0" marL="0">
              <a:lnSpc>
                <a:spcPts val="2040"/>
              </a:lnSpc>
              <a:buNone/>
            </a:pPr>
            <a:r>
              <a:rPr lang="en-US" sz="1200" b="1" dirty="0">
                <a:solidFill>
                  <a:srgbClr val="04BF63"/>
                </a:solidFill>
                <a:latin typeface="Inter" pitchFamily="34" charset="0"/>
                <a:ea typeface="Inter" pitchFamily="34" charset="-122"/>
                <a:cs typeface="Inter" pitchFamily="34" charset="-120"/>
              </a:rPr>
              <a:t>2</a:t>
            </a:r>
            <a:endParaRPr lang="en-US" sz="1200" dirty="0"/>
          </a:p>
        </p:txBody>
      </p:sp>
      <p:sp>
        <p:nvSpPr>
          <p:cNvPr id="21" name="Text 15"/>
          <p:cNvSpPr/>
          <p:nvPr/>
        </p:nvSpPr>
        <p:spPr>
          <a:xfrm>
            <a:off x="7226300" y="3031331"/>
            <a:ext cx="400278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Demo en vivo: lo corres y el rover va de A a B solo.</a:t>
            </a:r>
            <a:endParaRPr lang="en-US" sz="1600" dirty="0"/>
          </a:p>
        </p:txBody>
      </p:sp>
      <p:sp>
        <p:nvSpPr>
          <p:cNvPr id="22" name="Shape 16"/>
          <p:cNvSpPr/>
          <p:nvPr/>
        </p:nvSpPr>
        <p:spPr>
          <a:xfrm>
            <a:off x="6826250" y="3758940"/>
            <a:ext cx="266700" cy="266700"/>
          </a:xfrm>
          <a:prstGeom prst="roundRect">
            <a:avLst>
              <a:gd name="adj" fmla="val 50000"/>
            </a:avLst>
          </a:prstGeom>
          <a:noFill/>
          <a:ln w="12700">
            <a:solidFill>
              <a:srgbClr val="333333"/>
            </a:solidFill>
            <a:prstDash val="solid"/>
          </a:ln>
        </p:spPr>
      </p:sp>
      <p:sp>
        <p:nvSpPr>
          <p:cNvPr id="23" name="Text 17"/>
          <p:cNvSpPr/>
          <p:nvPr/>
        </p:nvSpPr>
        <p:spPr>
          <a:xfrm>
            <a:off x="6807200" y="3765290"/>
            <a:ext cx="304800" cy="279400"/>
          </a:xfrm>
          <a:prstGeom prst="rect">
            <a:avLst/>
          </a:prstGeom>
          <a:noFill/>
          <a:ln/>
        </p:spPr>
        <p:txBody>
          <a:bodyPr wrap="square" lIns="0" tIns="0" rIns="0" bIns="0" rtlCol="0" anchor="t">
            <a:normAutofit/>
          </a:bodyPr>
          <a:lstStyle/>
          <a:p>
            <a:pPr algn="ctr" indent="0" marL="0">
              <a:lnSpc>
                <a:spcPts val="2040"/>
              </a:lnSpc>
              <a:buNone/>
            </a:pPr>
            <a:r>
              <a:rPr lang="en-US" sz="1200" b="1" dirty="0">
                <a:solidFill>
                  <a:srgbClr val="04BF63"/>
                </a:solidFill>
                <a:latin typeface="Inter" pitchFamily="34" charset="0"/>
                <a:ea typeface="Inter" pitchFamily="34" charset="-122"/>
                <a:cs typeface="Inter" pitchFamily="34" charset="-120"/>
              </a:rPr>
              <a:t>3</a:t>
            </a:r>
            <a:endParaRPr lang="en-US" sz="1200" dirty="0"/>
          </a:p>
        </p:txBody>
      </p:sp>
      <p:sp>
        <p:nvSpPr>
          <p:cNvPr id="24" name="Text 18"/>
          <p:cNvSpPr/>
          <p:nvPr/>
        </p:nvSpPr>
        <p:spPr>
          <a:xfrm>
            <a:off x="7226300" y="3752590"/>
            <a:ext cx="400278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Explicas con tus palabras qué le mandas a Jev y qué haces con su respuesta.</a:t>
            </a:r>
            <a:endParaRPr lang="en-US" sz="1600" dirty="0"/>
          </a:p>
        </p:txBody>
      </p:sp>
      <p:sp>
        <p:nvSpPr>
          <p:cNvPr id="25" name="Shape 19"/>
          <p:cNvSpPr/>
          <p:nvPr/>
        </p:nvSpPr>
        <p:spPr>
          <a:xfrm>
            <a:off x="6826250" y="4764621"/>
            <a:ext cx="266700" cy="266700"/>
          </a:xfrm>
          <a:prstGeom prst="roundRect">
            <a:avLst>
              <a:gd name="adj" fmla="val 50000"/>
            </a:avLst>
          </a:prstGeom>
          <a:noFill/>
          <a:ln w="12700">
            <a:solidFill>
              <a:srgbClr val="333333"/>
            </a:solidFill>
            <a:prstDash val="solid"/>
          </a:ln>
        </p:spPr>
      </p:sp>
      <p:sp>
        <p:nvSpPr>
          <p:cNvPr id="26" name="Text 20"/>
          <p:cNvSpPr/>
          <p:nvPr/>
        </p:nvSpPr>
        <p:spPr>
          <a:xfrm>
            <a:off x="6807200" y="4770971"/>
            <a:ext cx="304800" cy="279400"/>
          </a:xfrm>
          <a:prstGeom prst="rect">
            <a:avLst/>
          </a:prstGeom>
          <a:noFill/>
          <a:ln/>
        </p:spPr>
        <p:txBody>
          <a:bodyPr wrap="square" lIns="0" tIns="0" rIns="0" bIns="0" rtlCol="0" anchor="t">
            <a:normAutofit/>
          </a:bodyPr>
          <a:lstStyle/>
          <a:p>
            <a:pPr algn="ctr" indent="0" marL="0">
              <a:lnSpc>
                <a:spcPts val="2040"/>
              </a:lnSpc>
              <a:buNone/>
            </a:pPr>
            <a:r>
              <a:rPr lang="en-US" sz="1200" b="1" dirty="0">
                <a:solidFill>
                  <a:srgbClr val="04BF63"/>
                </a:solidFill>
                <a:latin typeface="Inter" pitchFamily="34" charset="0"/>
                <a:ea typeface="Inter" pitchFamily="34" charset="-122"/>
                <a:cs typeface="Inter" pitchFamily="34" charset="-120"/>
              </a:rPr>
              <a:t>4</a:t>
            </a:r>
            <a:endParaRPr lang="en-US" sz="1200" dirty="0"/>
          </a:p>
        </p:txBody>
      </p:sp>
      <p:sp>
        <p:nvSpPr>
          <p:cNvPr id="27" name="Text 21"/>
          <p:cNvSpPr/>
          <p:nvPr/>
        </p:nvSpPr>
        <p:spPr>
          <a:xfrm>
            <a:off x="7226300" y="4758271"/>
            <a:ext cx="400278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AFB"/>
                </a:solidFill>
                <a:latin typeface="Inter" pitchFamily="34" charset="0"/>
                <a:ea typeface="Inter" pitchFamily="34" charset="-122"/>
                <a:cs typeface="Inter" pitchFamily="34" charset="-120"/>
              </a:rPr>
              <a:t>Tu .handoff/ al día con lo que hiciste en cada sesión.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Hoy, en clase: pasos 1 a 4</a:t>
            </a:r>
            <a:endParaRPr lang="en-US" sz="3600" dirty="0"/>
          </a:p>
        </p:txBody>
      </p:sp>
      <p:sp>
        <p:nvSpPr>
          <p:cNvPr id="3" name="Shape 1"/>
          <p:cNvSpPr/>
          <p:nvPr/>
        </p:nvSpPr>
        <p:spPr>
          <a:xfrm>
            <a:off x="812800" y="1860294"/>
            <a:ext cx="10566400" cy="0"/>
          </a:xfrm>
          <a:prstGeom prst="line">
            <a:avLst/>
          </a:prstGeom>
          <a:noFill/>
          <a:ln w="6350">
            <a:solidFill>
              <a:srgbClr val="262626"/>
            </a:solidFill>
            <a:prstDash val="solid"/>
          </a:ln>
        </p:spPr>
      </p:sp>
      <p:sp>
        <p:nvSpPr>
          <p:cNvPr id="4" name="Text 2"/>
          <p:cNvSpPr/>
          <p:nvPr/>
        </p:nvSpPr>
        <p:spPr>
          <a:xfrm>
            <a:off x="1295400" y="1569715"/>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Paso</a:t>
            </a:r>
            <a:endParaRPr lang="en-US" sz="1200" dirty="0"/>
          </a:p>
        </p:txBody>
      </p:sp>
      <p:sp>
        <p:nvSpPr>
          <p:cNvPr id="5" name="Text 3"/>
          <p:cNvSpPr/>
          <p:nvPr/>
        </p:nvSpPr>
        <p:spPr>
          <a:xfrm>
            <a:off x="3479800" y="1569715"/>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Qué hacer</a:t>
            </a:r>
            <a:endParaRPr lang="en-US" sz="1200" dirty="0"/>
          </a:p>
        </p:txBody>
      </p:sp>
      <p:sp>
        <p:nvSpPr>
          <p:cNvPr id="6" name="Text 4"/>
          <p:cNvSpPr/>
          <p:nvPr/>
        </p:nvSpPr>
        <p:spPr>
          <a:xfrm>
            <a:off x="8077200" y="1569715"/>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Listo cuando…</a:t>
            </a:r>
            <a:endParaRPr lang="en-US" sz="1200" dirty="0"/>
          </a:p>
        </p:txBody>
      </p:sp>
      <p:sp>
        <p:nvSpPr>
          <p:cNvPr id="7" name="Shape 5"/>
          <p:cNvSpPr/>
          <p:nvPr/>
        </p:nvSpPr>
        <p:spPr>
          <a:xfrm>
            <a:off x="812800" y="2687377"/>
            <a:ext cx="10566400" cy="0"/>
          </a:xfrm>
          <a:prstGeom prst="line">
            <a:avLst/>
          </a:prstGeom>
          <a:noFill/>
          <a:ln w="6350">
            <a:solidFill>
              <a:srgbClr val="262626"/>
            </a:solidFill>
            <a:prstDash val="solid"/>
          </a:ln>
        </p:spPr>
      </p:sp>
      <p:sp>
        <p:nvSpPr>
          <p:cNvPr id="8" name="Text 6"/>
          <p:cNvSpPr/>
          <p:nvPr/>
        </p:nvSpPr>
        <p:spPr>
          <a:xfrm>
            <a:off x="819150" y="1996815"/>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1</a:t>
            </a:r>
            <a:endParaRPr lang="en-US" sz="1200" dirty="0"/>
          </a:p>
        </p:txBody>
      </p:sp>
      <p:sp>
        <p:nvSpPr>
          <p:cNvPr id="9" name="Text 7"/>
          <p:cNvSpPr/>
          <p:nvPr/>
        </p:nvSpPr>
        <p:spPr>
          <a:xfrm>
            <a:off x="1295400" y="1990465"/>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Preparar la rama</a:t>
            </a:r>
            <a:endParaRPr lang="en-US" sz="1600" dirty="0"/>
          </a:p>
        </p:txBody>
      </p:sp>
      <p:sp>
        <p:nvSpPr>
          <p:cNvPr id="10" name="Text 8"/>
          <p:cNvSpPr/>
          <p:nvPr/>
        </p:nvSpPr>
        <p:spPr>
          <a:xfrm>
            <a:off x="3479800" y="1990465"/>
            <a:ext cx="45783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git checkout nico_work y luego git pull origin develop.</a:t>
            </a:r>
            <a:endParaRPr lang="en-US" sz="1600" dirty="0"/>
          </a:p>
        </p:txBody>
      </p:sp>
      <p:sp>
        <p:nvSpPr>
          <p:cNvPr id="11" name="Text 9"/>
          <p:cNvSpPr/>
          <p:nvPr/>
        </p:nvSpPr>
        <p:spPr>
          <a:xfrm>
            <a:off x="8077200" y="1990465"/>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python server.py corre y ves el terreno nuevo.</a:t>
            </a:r>
            <a:endParaRPr lang="en-US" sz="1600" dirty="0"/>
          </a:p>
        </p:txBody>
      </p:sp>
      <p:sp>
        <p:nvSpPr>
          <p:cNvPr id="12" name="Shape 10"/>
          <p:cNvSpPr/>
          <p:nvPr/>
        </p:nvSpPr>
        <p:spPr>
          <a:xfrm>
            <a:off x="812800" y="3798892"/>
            <a:ext cx="10566400" cy="0"/>
          </a:xfrm>
          <a:prstGeom prst="line">
            <a:avLst/>
          </a:prstGeom>
          <a:noFill/>
          <a:ln w="6350">
            <a:solidFill>
              <a:srgbClr val="262626"/>
            </a:solidFill>
            <a:prstDash val="solid"/>
          </a:ln>
        </p:spPr>
      </p:sp>
      <p:sp>
        <p:nvSpPr>
          <p:cNvPr id="13" name="Text 11"/>
          <p:cNvSpPr/>
          <p:nvPr/>
        </p:nvSpPr>
        <p:spPr>
          <a:xfrm>
            <a:off x="819150" y="2823902"/>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2</a:t>
            </a:r>
            <a:endParaRPr lang="en-US" sz="1200" dirty="0"/>
          </a:p>
        </p:txBody>
      </p:sp>
      <p:sp>
        <p:nvSpPr>
          <p:cNvPr id="14" name="Text 12"/>
          <p:cNvSpPr/>
          <p:nvPr/>
        </p:nvSpPr>
        <p:spPr>
          <a:xfrm>
            <a:off x="1295400" y="2817552"/>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Guardar la key</a:t>
            </a:r>
            <a:endParaRPr lang="en-US" sz="1600" dirty="0"/>
          </a:p>
        </p:txBody>
      </p:sp>
      <p:sp>
        <p:nvSpPr>
          <p:cNvPr id="15" name="Text 13"/>
          <p:cNvSpPr/>
          <p:nvPr/>
        </p:nvSpPr>
        <p:spPr>
          <a:xfrm>
            <a:off x="3479800" y="2817552"/>
            <a:ext cx="4578350"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Crear un archivo .env con OPENROUTER_API_KEY y agregarlo al .gitignore.</a:t>
            </a:r>
            <a:endParaRPr lang="en-US" sz="1600" dirty="0"/>
          </a:p>
        </p:txBody>
      </p:sp>
      <p:sp>
        <p:nvSpPr>
          <p:cNvPr id="16" name="Text 14"/>
          <p:cNvSpPr/>
          <p:nvPr/>
        </p:nvSpPr>
        <p:spPr>
          <a:xfrm>
            <a:off x="8077200" y="2817552"/>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Python la lee y git status no muestra el .env.</a:t>
            </a:r>
            <a:endParaRPr lang="en-US" sz="1600" dirty="0"/>
          </a:p>
        </p:txBody>
      </p:sp>
      <p:sp>
        <p:nvSpPr>
          <p:cNvPr id="17" name="Shape 15"/>
          <p:cNvSpPr/>
          <p:nvPr/>
        </p:nvSpPr>
        <p:spPr>
          <a:xfrm>
            <a:off x="812800" y="4625975"/>
            <a:ext cx="10566400" cy="0"/>
          </a:xfrm>
          <a:prstGeom prst="line">
            <a:avLst/>
          </a:prstGeom>
          <a:noFill/>
          <a:ln w="6350">
            <a:solidFill>
              <a:srgbClr val="262626"/>
            </a:solidFill>
            <a:prstDash val="solid"/>
          </a:ln>
        </p:spPr>
      </p:sp>
      <p:sp>
        <p:nvSpPr>
          <p:cNvPr id="18" name="Text 16"/>
          <p:cNvSpPr/>
          <p:nvPr/>
        </p:nvSpPr>
        <p:spPr>
          <a:xfrm>
            <a:off x="819150" y="3935413"/>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3</a:t>
            </a:r>
            <a:endParaRPr lang="en-US" sz="1200" dirty="0"/>
          </a:p>
        </p:txBody>
      </p:sp>
      <p:sp>
        <p:nvSpPr>
          <p:cNvPr id="19" name="Text 17"/>
          <p:cNvSpPr/>
          <p:nvPr/>
        </p:nvSpPr>
        <p:spPr>
          <a:xfrm>
            <a:off x="1295400" y="3929063"/>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Pedir el plan</a:t>
            </a:r>
            <a:endParaRPr lang="en-US" sz="1600" dirty="0"/>
          </a:p>
        </p:txBody>
      </p:sp>
      <p:sp>
        <p:nvSpPr>
          <p:cNvPr id="20" name="Text 18"/>
          <p:cNvSpPr/>
          <p:nvPr/>
        </p:nvSpPr>
        <p:spPr>
          <a:xfrm>
            <a:off x="3479800" y="3929063"/>
            <a:ext cx="45783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En Plan Mode, pedirle a Claude Code el plan de rover_ai.py.</a:t>
            </a:r>
            <a:endParaRPr lang="en-US" sz="1600" dirty="0"/>
          </a:p>
        </p:txBody>
      </p:sp>
      <p:sp>
        <p:nvSpPr>
          <p:cNvPr id="21" name="Text 19"/>
          <p:cNvSpPr/>
          <p:nvPr/>
        </p:nvSpPr>
        <p:spPr>
          <a:xfrm>
            <a:off x="8077200" y="3929063"/>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Puedes explicar cada paso del plan antes de aprobarlo.</a:t>
            </a:r>
            <a:endParaRPr lang="en-US" sz="1600" dirty="0"/>
          </a:p>
        </p:txBody>
      </p:sp>
      <p:sp>
        <p:nvSpPr>
          <p:cNvPr id="22" name="Shape 20"/>
          <p:cNvSpPr/>
          <p:nvPr/>
        </p:nvSpPr>
        <p:spPr>
          <a:xfrm>
            <a:off x="812800" y="5453063"/>
            <a:ext cx="10566400" cy="0"/>
          </a:xfrm>
          <a:prstGeom prst="line">
            <a:avLst/>
          </a:prstGeom>
          <a:noFill/>
          <a:ln w="6350">
            <a:solidFill>
              <a:srgbClr val="262626"/>
            </a:solidFill>
            <a:prstDash val="solid"/>
          </a:ln>
        </p:spPr>
      </p:sp>
      <p:sp>
        <p:nvSpPr>
          <p:cNvPr id="23" name="Text 21"/>
          <p:cNvSpPr/>
          <p:nvPr/>
        </p:nvSpPr>
        <p:spPr>
          <a:xfrm>
            <a:off x="819150" y="476250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4</a:t>
            </a:r>
            <a:endParaRPr lang="en-US" sz="1200" dirty="0"/>
          </a:p>
        </p:txBody>
      </p:sp>
      <p:sp>
        <p:nvSpPr>
          <p:cNvPr id="24" name="Text 22"/>
          <p:cNvSpPr/>
          <p:nvPr/>
        </p:nvSpPr>
        <p:spPr>
          <a:xfrm>
            <a:off x="1295400" y="4756150"/>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Un solo tick</a:t>
            </a:r>
            <a:endParaRPr lang="en-US" sz="1600" dirty="0"/>
          </a:p>
        </p:txBody>
      </p:sp>
      <p:sp>
        <p:nvSpPr>
          <p:cNvPr id="25" name="Text 23"/>
          <p:cNvSpPr/>
          <p:nvPr/>
        </p:nvSpPr>
        <p:spPr>
          <a:xfrm>
            <a:off x="3479800" y="4756150"/>
            <a:ext cx="45783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Leer la telemetría, preguntarle a Jev e imprimir la decisión. Sin mover el rover.</a:t>
            </a:r>
            <a:endParaRPr lang="en-US" sz="1600" dirty="0"/>
          </a:p>
        </p:txBody>
      </p:sp>
      <p:sp>
        <p:nvSpPr>
          <p:cNvPr id="26" name="Text 24"/>
          <p:cNvSpPr/>
          <p:nvPr/>
        </p:nvSpPr>
        <p:spPr>
          <a:xfrm>
            <a:off x="8077200" y="4756150"/>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Imprime la acción elegida y su confianza.</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D0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9FAFB"/>
                </a:solidFill>
                <a:latin typeface="Inter" pitchFamily="34" charset="0"/>
                <a:ea typeface="Inter" pitchFamily="34" charset="-122"/>
                <a:cs typeface="Inter" pitchFamily="34" charset="-120"/>
              </a:rPr>
              <a:t>Antes de la clase 5: pasos 5 a 7</a:t>
            </a:r>
            <a:endParaRPr lang="en-US" sz="3600" dirty="0"/>
          </a:p>
        </p:txBody>
      </p:sp>
      <p:sp>
        <p:nvSpPr>
          <p:cNvPr id="3" name="Shape 1"/>
          <p:cNvSpPr/>
          <p:nvPr/>
        </p:nvSpPr>
        <p:spPr>
          <a:xfrm>
            <a:off x="812800" y="1860294"/>
            <a:ext cx="10566400" cy="0"/>
          </a:xfrm>
          <a:prstGeom prst="line">
            <a:avLst/>
          </a:prstGeom>
          <a:noFill/>
          <a:ln w="6350">
            <a:solidFill>
              <a:srgbClr val="262626"/>
            </a:solidFill>
            <a:prstDash val="solid"/>
          </a:ln>
        </p:spPr>
      </p:sp>
      <p:sp>
        <p:nvSpPr>
          <p:cNvPr id="4" name="Text 2"/>
          <p:cNvSpPr/>
          <p:nvPr/>
        </p:nvSpPr>
        <p:spPr>
          <a:xfrm>
            <a:off x="1295400" y="1569715"/>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Paso</a:t>
            </a:r>
            <a:endParaRPr lang="en-US" sz="1200" dirty="0"/>
          </a:p>
        </p:txBody>
      </p:sp>
      <p:sp>
        <p:nvSpPr>
          <p:cNvPr id="5" name="Text 3"/>
          <p:cNvSpPr/>
          <p:nvPr/>
        </p:nvSpPr>
        <p:spPr>
          <a:xfrm>
            <a:off x="3479800" y="1569715"/>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Qué hacer</a:t>
            </a:r>
            <a:endParaRPr lang="en-US" sz="1200" dirty="0"/>
          </a:p>
        </p:txBody>
      </p:sp>
      <p:sp>
        <p:nvSpPr>
          <p:cNvPr id="6" name="Text 4"/>
          <p:cNvSpPr/>
          <p:nvPr/>
        </p:nvSpPr>
        <p:spPr>
          <a:xfrm>
            <a:off x="8077200" y="1569715"/>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Listo cuando…</a:t>
            </a:r>
            <a:endParaRPr lang="en-US" sz="1200" dirty="0"/>
          </a:p>
        </p:txBody>
      </p:sp>
      <p:sp>
        <p:nvSpPr>
          <p:cNvPr id="7" name="Shape 5"/>
          <p:cNvSpPr/>
          <p:nvPr/>
        </p:nvSpPr>
        <p:spPr>
          <a:xfrm>
            <a:off x="812800" y="2687377"/>
            <a:ext cx="10566400" cy="0"/>
          </a:xfrm>
          <a:prstGeom prst="line">
            <a:avLst/>
          </a:prstGeom>
          <a:noFill/>
          <a:ln w="6350">
            <a:solidFill>
              <a:srgbClr val="262626"/>
            </a:solidFill>
            <a:prstDash val="solid"/>
          </a:ln>
        </p:spPr>
      </p:sp>
      <p:sp>
        <p:nvSpPr>
          <p:cNvPr id="8" name="Text 6"/>
          <p:cNvSpPr/>
          <p:nvPr/>
        </p:nvSpPr>
        <p:spPr>
          <a:xfrm>
            <a:off x="819150" y="1996815"/>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5</a:t>
            </a:r>
            <a:endParaRPr lang="en-US" sz="1200" dirty="0"/>
          </a:p>
        </p:txBody>
      </p:sp>
      <p:sp>
        <p:nvSpPr>
          <p:cNvPr id="9" name="Text 7"/>
          <p:cNvSpPr/>
          <p:nvPr/>
        </p:nvSpPr>
        <p:spPr>
          <a:xfrm>
            <a:off x="1295400" y="1990465"/>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El loop</a:t>
            </a:r>
            <a:endParaRPr lang="en-US" sz="1600" dirty="0"/>
          </a:p>
        </p:txBody>
      </p:sp>
      <p:sp>
        <p:nvSpPr>
          <p:cNvPr id="10" name="Text 8"/>
          <p:cNvSpPr/>
          <p:nvPr/>
        </p:nvSpPr>
        <p:spPr>
          <a:xfrm>
            <a:off x="3479800" y="1990465"/>
            <a:ext cx="45783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Mandar cada decisión a /api/control y repetir cada ~300 ms.</a:t>
            </a:r>
            <a:endParaRPr lang="en-US" sz="1600" dirty="0"/>
          </a:p>
        </p:txBody>
      </p:sp>
      <p:sp>
        <p:nvSpPr>
          <p:cNvPr id="11" name="Text 9"/>
          <p:cNvSpPr/>
          <p:nvPr/>
        </p:nvSpPr>
        <p:spPr>
          <a:xfrm>
            <a:off x="8077200" y="1990465"/>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El rover avanza y esquiva rocas solo, sin volcar.</a:t>
            </a:r>
            <a:endParaRPr lang="en-US" sz="1600" dirty="0"/>
          </a:p>
        </p:txBody>
      </p:sp>
      <p:sp>
        <p:nvSpPr>
          <p:cNvPr id="12" name="Shape 10"/>
          <p:cNvSpPr/>
          <p:nvPr/>
        </p:nvSpPr>
        <p:spPr>
          <a:xfrm>
            <a:off x="812800" y="3514465"/>
            <a:ext cx="10566400" cy="0"/>
          </a:xfrm>
          <a:prstGeom prst="line">
            <a:avLst/>
          </a:prstGeom>
          <a:noFill/>
          <a:ln w="6350">
            <a:solidFill>
              <a:srgbClr val="262626"/>
            </a:solidFill>
            <a:prstDash val="solid"/>
          </a:ln>
        </p:spPr>
      </p:sp>
      <p:sp>
        <p:nvSpPr>
          <p:cNvPr id="13" name="Text 11"/>
          <p:cNvSpPr/>
          <p:nvPr/>
        </p:nvSpPr>
        <p:spPr>
          <a:xfrm>
            <a:off x="819150" y="2823902"/>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6</a:t>
            </a:r>
            <a:endParaRPr lang="en-US" sz="1200" dirty="0"/>
          </a:p>
        </p:txBody>
      </p:sp>
      <p:sp>
        <p:nvSpPr>
          <p:cNvPr id="14" name="Text 12"/>
          <p:cNvSpPr/>
          <p:nvPr/>
        </p:nvSpPr>
        <p:spPr>
          <a:xfrm>
            <a:off x="1295400" y="2817552"/>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La ruta global</a:t>
            </a:r>
            <a:endParaRPr lang="en-US" sz="1600" dirty="0"/>
          </a:p>
        </p:txBody>
      </p:sp>
      <p:sp>
        <p:nvSpPr>
          <p:cNvPr id="15" name="Text 13"/>
          <p:cNvSpPr/>
          <p:nvPr/>
        </p:nvSpPr>
        <p:spPr>
          <a:xfrm>
            <a:off x="3479800" y="2817552"/>
            <a:ext cx="45783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Al arrancar, leer /api/world y armar la ruta más corta como lista de waypoints.</a:t>
            </a:r>
            <a:endParaRPr lang="en-US" sz="1600" dirty="0"/>
          </a:p>
        </p:txBody>
      </p:sp>
      <p:sp>
        <p:nvSpPr>
          <p:cNvPr id="16" name="Text 14"/>
          <p:cNvSpPr/>
          <p:nvPr/>
        </p:nvSpPr>
        <p:spPr>
          <a:xfrm>
            <a:off x="8077200" y="2817552"/>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Frente a una roca, elige el lado que lo lleva antes a B.</a:t>
            </a:r>
            <a:endParaRPr lang="en-US" sz="1600" dirty="0"/>
          </a:p>
        </p:txBody>
      </p:sp>
      <p:sp>
        <p:nvSpPr>
          <p:cNvPr id="17" name="Shape 15"/>
          <p:cNvSpPr/>
          <p:nvPr/>
        </p:nvSpPr>
        <p:spPr>
          <a:xfrm>
            <a:off x="812800" y="4341552"/>
            <a:ext cx="10566400" cy="0"/>
          </a:xfrm>
          <a:prstGeom prst="line">
            <a:avLst/>
          </a:prstGeom>
          <a:noFill/>
          <a:ln w="6350">
            <a:solidFill>
              <a:srgbClr val="262626"/>
            </a:solidFill>
            <a:prstDash val="solid"/>
          </a:ln>
        </p:spPr>
      </p:sp>
      <p:sp>
        <p:nvSpPr>
          <p:cNvPr id="18" name="Text 16"/>
          <p:cNvSpPr/>
          <p:nvPr/>
        </p:nvSpPr>
        <p:spPr>
          <a:xfrm>
            <a:off x="819150" y="365099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noFill/>
          <a:ln w="12700">
            <a:solidFill>
              <a:srgbClr val="333333"/>
            </a:solidFill>
            <a:prstDash val="solid"/>
          </a:ln>
        </p:spPr>
        <p:txBody>
          <a:bodyPr wrap="square" lIns="0" tIns="6350" rIns="0" bIns="0" rtlCol="0" anchor="t">
            <a:normAutofit/>
          </a:bodyPr>
          <a:lstStyle/>
          <a:p>
            <a:pPr algn="ctr" indent="0" marL="0">
              <a:lnSpc>
                <a:spcPts val="2400"/>
              </a:lnSpc>
              <a:buNone/>
            </a:pPr>
            <a:r>
              <a:rPr lang="en-US" sz="1200" b="1" dirty="0">
                <a:solidFill>
                  <a:srgbClr val="04BF63"/>
                </a:solidFill>
                <a:latin typeface="Inter" pitchFamily="34" charset="0"/>
                <a:ea typeface="Inter" pitchFamily="34" charset="-122"/>
                <a:cs typeface="Inter" pitchFamily="34" charset="-120"/>
              </a:rPr>
              <a:t>7</a:t>
            </a:r>
            <a:endParaRPr lang="en-US" sz="1200" dirty="0"/>
          </a:p>
        </p:txBody>
      </p:sp>
      <p:sp>
        <p:nvSpPr>
          <p:cNvPr id="19" name="Text 17"/>
          <p:cNvSpPr/>
          <p:nvPr/>
        </p:nvSpPr>
        <p:spPr>
          <a:xfrm>
            <a:off x="1295400" y="3644640"/>
            <a:ext cx="20929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FAFB"/>
                </a:solidFill>
                <a:latin typeface="Inter" pitchFamily="34" charset="0"/>
                <a:ea typeface="Inter" pitchFamily="34" charset="-122"/>
                <a:cs typeface="Inter" pitchFamily="34" charset="-120"/>
              </a:rPr>
              <a:t>Preparar la demo</a:t>
            </a:r>
            <a:endParaRPr lang="en-US" sz="1600" dirty="0"/>
          </a:p>
        </p:txBody>
      </p:sp>
      <p:sp>
        <p:nvSpPr>
          <p:cNvPr id="20" name="Text 18"/>
          <p:cNvSpPr/>
          <p:nvPr/>
        </p:nvSpPr>
        <p:spPr>
          <a:xfrm>
            <a:off x="3479800" y="3644640"/>
            <a:ext cx="457835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Probar tres viajes con puntos A y B distintos.</a:t>
            </a:r>
            <a:endParaRPr lang="en-US" sz="1600" dirty="0"/>
          </a:p>
        </p:txBody>
      </p:sp>
      <p:sp>
        <p:nvSpPr>
          <p:cNvPr id="21" name="Text 19"/>
          <p:cNvSpPr/>
          <p:nvPr/>
        </p:nvSpPr>
        <p:spPr>
          <a:xfrm>
            <a:off x="8077200" y="3644640"/>
            <a:ext cx="340106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F5D3"/>
                </a:solidFill>
                <a:latin typeface="Inter" pitchFamily="34" charset="0"/>
                <a:ea typeface="Inter" pitchFamily="34" charset="-122"/>
                <a:cs typeface="Inter" pitchFamily="34" charset="-120"/>
              </a:rPr>
              <a:t>Los tres llegan sin que toques nada.</a:t>
            </a:r>
            <a:endParaRPr lang="en-US" sz="1600" dirty="0"/>
          </a:p>
        </p:txBody>
      </p:sp>
      <p:sp>
        <p:nvSpPr>
          <p:cNvPr id="22" name="Text 20"/>
          <p:cNvSpPr/>
          <p:nvPr/>
        </p:nvSpPr>
        <p:spPr>
          <a:xfrm>
            <a:off x="812800" y="4598727"/>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3A3"/>
                </a:solidFill>
                <a:latin typeface="Inter" pitchFamily="34" charset="0"/>
                <a:ea typeface="Inter" pitchFamily="34" charset="-122"/>
                <a:cs typeface="Inter" pitchFamily="34" charset="-120"/>
              </a:rPr>
              <a:t>¿Te trabaste? Haz commit de lo que tengas y anótalo en .handoff/. </a:t>
            </a:r>
            <a:r>
              <a:rPr lang="en-US" sz="1600" dirty="0">
                <a:solidFill>
                  <a:srgbClr val="F9FAFB"/>
                </a:solidFill>
                <a:latin typeface="Inter" pitchFamily="34" charset="0"/>
                <a:ea typeface="Inter" pitchFamily="34" charset="-122"/>
                <a:cs typeface="Inter" pitchFamily="34" charset="-120"/>
              </a:rPr>
              <a:t>Lo resolvemos en la clase 5.</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type="title"/>
          </p:nvPr>
        </p:nvSpPr>
        <p:spPr>
          <a:xfrm>
            <a:off x="1517650" y="3009900"/>
            <a:ext cx="9156700" cy="863600"/>
          </a:xfrm>
          <a:prstGeom prst="rect">
            <a:avLst/>
          </a:prstGeom>
          <a:noFill/>
          <a:ln/>
        </p:spPr>
        <p:txBody>
          <a:bodyPr wrap="square" lIns="0" tIns="0" rIns="0" bIns="0" rtlCol="0" anchor="t">
            <a:normAutofit/>
          </a:bodyPr>
          <a:lstStyle/>
          <a:p>
            <a:pPr algn="ctr" indent="0" marL="0">
              <a:lnSpc>
                <a:spcPts val="6600"/>
              </a:lnSpc>
              <a:buNone/>
            </a:pPr>
            <a:r>
              <a:rPr lang="en-US" sz="6000" b="1" i="0" spc="-150" kern="0" dirty="0">
                <a:solidFill>
                  <a:srgbClr val="FFFFFF"/>
                </a:solidFill>
                <a:latin typeface="Inter" pitchFamily="34" charset="0"/>
                <a:ea typeface="Inter" pitchFamily="34" charset="-122"/>
                <a:cs typeface="Inter" pitchFamily="34" charset="-120"/>
              </a:rPr>
              <a:t>¿Preguntas?</a:t>
            </a:r>
            <a:endParaRPr lang="en-US" sz="6000" dirty="0"/>
          </a:p>
        </p:txBody>
      </p:sp>
    </p:spTree>
  </p:cSld>
  <p:clrMapOvr>
    <a:masterClrMapping/>
  </p:clrMapOvr>
</p:sld>
</file>

<file path=ppt/theme/theme1.xml><?xml version="1.0" encoding="utf-8"?>
<a:theme xmlns:a="http://schemas.openxmlformats.org/drawingml/2006/main" name="Clase 4 — Claude Code y el cerebro del rover">
  <a:themeElements>
    <a:clrScheme name="Clase 4 — Claude Code y el cerebro del rover">
      <a:dk1>
        <a:srgbClr val="050505"/>
      </a:dk1>
      <a:lt1>
        <a:srgbClr val="F9FAFB"/>
      </a:lt1>
      <a:dk2>
        <a:srgbClr val="1D1E1E"/>
      </a:dk2>
      <a:lt2>
        <a:srgbClr val="BCBDBE"/>
      </a:lt2>
      <a:accent1>
        <a:srgbClr val="04BF63"/>
      </a:accent1>
      <a:accent2>
        <a:srgbClr val="B9F5D3"/>
      </a:accent2>
      <a:accent3>
        <a:srgbClr val="F2B880"/>
      </a:accent3>
      <a:accent4>
        <a:srgbClr val="05663A"/>
      </a:accent4>
      <a:accent5>
        <a:srgbClr val="05894A"/>
      </a:accent5>
      <a:accent6>
        <a:srgbClr val="05502E"/>
      </a:accent6>
      <a:hlink>
        <a:srgbClr val="0563C1"/>
      </a:hlink>
      <a:folHlink>
        <a:srgbClr val="954F72"/>
      </a:folHlink>
    </a:clrScheme>
    <a:fontScheme name="Clase 4 — Claude Code y el cerebro del rover">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4 — Claude Code y el cerebro del rover</dc:title>
  <dc:subject/>
  <dc:creator/>
  <cp:lastModifiedBy/>
  <cp:revision>1</cp:revision>
  <dcterms:created xsi:type="dcterms:W3CDTF">2026-10-03T03:15:54Z</dcterms:created>
  <dcterms:modified xsi:type="dcterms:W3CDTF">2026-10-03T03:15:54Z</dcterms:modified>
</cp:coreProperties>
</file>